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2"/>
  </p:sldMasterIdLst>
  <p:notesMasterIdLst>
    <p:notesMasterId r:id="rId39"/>
  </p:notesMasterIdLst>
  <p:sldIdLst>
    <p:sldId id="257" r:id="rId3"/>
    <p:sldId id="258" r:id="rId4"/>
    <p:sldId id="260" r:id="rId5"/>
    <p:sldId id="259" r:id="rId6"/>
    <p:sldId id="262" r:id="rId7"/>
    <p:sldId id="263" r:id="rId8"/>
    <p:sldId id="264" r:id="rId9"/>
    <p:sldId id="265" r:id="rId10"/>
    <p:sldId id="266" r:id="rId11"/>
    <p:sldId id="286" r:id="rId12"/>
    <p:sldId id="287" r:id="rId13"/>
    <p:sldId id="270" r:id="rId14"/>
    <p:sldId id="269" r:id="rId15"/>
    <p:sldId id="271" r:id="rId16"/>
    <p:sldId id="272" r:id="rId17"/>
    <p:sldId id="273" r:id="rId18"/>
    <p:sldId id="274" r:id="rId19"/>
    <p:sldId id="275" r:id="rId20"/>
    <p:sldId id="276" r:id="rId21"/>
    <p:sldId id="277" r:id="rId22"/>
    <p:sldId id="268" r:id="rId23"/>
    <p:sldId id="278" r:id="rId24"/>
    <p:sldId id="288" r:id="rId25"/>
    <p:sldId id="289" r:id="rId26"/>
    <p:sldId id="279" r:id="rId27"/>
    <p:sldId id="280" r:id="rId28"/>
    <p:sldId id="281" r:id="rId29"/>
    <p:sldId id="282" r:id="rId30"/>
    <p:sldId id="283" r:id="rId31"/>
    <p:sldId id="291" r:id="rId32"/>
    <p:sldId id="290" r:id="rId33"/>
    <p:sldId id="294" r:id="rId34"/>
    <p:sldId id="284" r:id="rId35"/>
    <p:sldId id="285" r:id="rId36"/>
    <p:sldId id="292" r:id="rId37"/>
    <p:sldId id="293" r:id="rId38"/>
  </p:sldIdLst>
  <p:sldSz cx="10080625" cy="567055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BA90CE-4319-0F1D-87CB-C1214ACA736B}" v="2817" dt="2025-09-21T18:22:16.1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PlaceHolder 1"/>
          <p:cNvSpPr>
            <a:spLocks noGrp="1" noRot="1" noChangeAspect="1"/>
          </p:cNvSpPr>
          <p:nvPr>
            <p:ph type="sldImg"/>
          </p:nvPr>
        </p:nvSpPr>
        <p:spPr>
          <a:xfrm>
            <a:off x="720000" y="900000"/>
            <a:ext cx="6120000" cy="3441600"/>
          </a:xfrm>
          <a:prstGeom prst="rect">
            <a:avLst/>
          </a:prstGeom>
          <a:noFill/>
          <a:ln w="0">
            <a:noFill/>
          </a:ln>
        </p:spPr>
        <p:txBody>
          <a:bodyPr lIns="0" tIns="0" rIns="0" bIns="0" anchor="ctr">
            <a:noAutofit/>
          </a:bodyPr>
          <a:lstStyle/>
          <a:p>
            <a:pPr algn="ctr"/>
            <a:r>
              <a:rPr lang="en-CA" sz="3200" b="0" u="none" strike="noStrike">
                <a:solidFill>
                  <a:srgbClr val="FF8000"/>
                </a:solidFill>
                <a:effectLst/>
                <a:highlight>
                  <a:srgbClr val="FFFFFF"/>
                </a:highlight>
                <a:uFillTx/>
                <a:latin typeface="Arial"/>
              </a:rPr>
              <a:t>Click to move the slide</a:t>
            </a:r>
          </a:p>
        </p:txBody>
      </p:sp>
      <p:sp>
        <p:nvSpPr>
          <p:cNvPr id="23" name="PlaceHolder 2"/>
          <p:cNvSpPr>
            <a:spLocks noGrp="1"/>
          </p:cNvSpPr>
          <p:nvPr>
            <p:ph type="body"/>
          </p:nvPr>
        </p:nvSpPr>
        <p:spPr>
          <a:xfrm>
            <a:off x="720000" y="4680000"/>
            <a:ext cx="6120000" cy="5040000"/>
          </a:xfrm>
          <a:prstGeom prst="rect">
            <a:avLst/>
          </a:prstGeom>
          <a:noFill/>
          <a:ln w="0">
            <a:noFill/>
          </a:ln>
        </p:spPr>
        <p:txBody>
          <a:bodyPr lIns="0" tIns="0" rIns="0" bIns="0" anchor="t">
            <a:noAutofit/>
          </a:bodyPr>
          <a:lstStyle/>
          <a:p>
            <a:pPr marL="216000" indent="-216000">
              <a:buNone/>
            </a:pPr>
            <a:r>
              <a:rPr lang="en-CA" sz="2000" b="0" u="none" strike="noStrike">
                <a:solidFill>
                  <a:srgbClr val="000000"/>
                </a:solidFill>
                <a:effectLst/>
                <a:highlight>
                  <a:srgbClr val="FFFFFF"/>
                </a:highlight>
                <a:uFillTx/>
                <a:latin typeface="Arial"/>
              </a:rPr>
              <a:t>Click to edit the notes format</a:t>
            </a:r>
          </a:p>
        </p:txBody>
      </p:sp>
      <p:sp>
        <p:nvSpPr>
          <p:cNvPr id="24" name="PlaceHolder 3"/>
          <p:cNvSpPr>
            <a:spLocks noGrp="1"/>
          </p:cNvSpPr>
          <p:nvPr>
            <p:ph type="hdr"/>
          </p:nvPr>
        </p:nvSpPr>
        <p:spPr>
          <a:xfrm>
            <a:off x="0" y="0"/>
            <a:ext cx="3280680" cy="534240"/>
          </a:xfrm>
          <a:prstGeom prst="rect">
            <a:avLst/>
          </a:prstGeom>
          <a:noFill/>
          <a:ln w="0">
            <a:noFill/>
          </a:ln>
        </p:spPr>
        <p:txBody>
          <a:bodyPr lIns="0" tIns="0" rIns="0" bIns="0" anchor="t">
            <a:spAutoFit/>
          </a:bodyPr>
          <a:lstStyle/>
          <a:p>
            <a:pPr indent="0">
              <a:buNone/>
            </a:pPr>
            <a:r>
              <a:rPr lang="en-CA" sz="1400" b="0" u="none" strike="noStrike">
                <a:solidFill>
                  <a:srgbClr val="000000"/>
                </a:solidFill>
                <a:effectLst/>
                <a:uFillTx/>
                <a:latin typeface="Arial"/>
              </a:rPr>
              <a:t>&lt;header&gt;</a:t>
            </a:r>
          </a:p>
        </p:txBody>
      </p:sp>
      <p:sp>
        <p:nvSpPr>
          <p:cNvPr id="25" name="PlaceHolder 4"/>
          <p:cNvSpPr>
            <a:spLocks noGrp="1"/>
          </p:cNvSpPr>
          <p:nvPr>
            <p:ph type="dt" idx="4"/>
          </p:nvPr>
        </p:nvSpPr>
        <p:spPr>
          <a:xfrm>
            <a:off x="4278960" y="0"/>
            <a:ext cx="3280680" cy="534240"/>
          </a:xfrm>
          <a:prstGeom prst="rect">
            <a:avLst/>
          </a:prstGeom>
          <a:noFill/>
          <a:ln w="0">
            <a:noFill/>
          </a:ln>
        </p:spPr>
        <p:txBody>
          <a:bodyPr lIns="0" tIns="0" rIns="0" bIns="0" anchor="t">
            <a:spAutoFit/>
          </a:bodyPr>
          <a:lstStyle>
            <a:lvl1pPr indent="0" algn="r">
              <a:buNone/>
              <a:defRPr lang="en-CA" sz="1400" b="0" u="none" strike="noStrike">
                <a:solidFill>
                  <a:srgbClr val="000000"/>
                </a:solidFill>
                <a:effectLst/>
                <a:uFillTx/>
                <a:latin typeface="Arial"/>
              </a:defRPr>
            </a:lvl1pPr>
          </a:lstStyle>
          <a:p>
            <a:pPr indent="0" algn="r">
              <a:buNone/>
            </a:pPr>
            <a:r>
              <a:rPr lang="en-CA" sz="1400" b="0" u="none" strike="noStrike">
                <a:solidFill>
                  <a:srgbClr val="000000"/>
                </a:solidFill>
                <a:effectLst/>
                <a:uFillTx/>
                <a:latin typeface="Arial"/>
              </a:rPr>
              <a:t>&lt;date/time&gt;</a:t>
            </a:r>
          </a:p>
        </p:txBody>
      </p:sp>
      <p:sp>
        <p:nvSpPr>
          <p:cNvPr id="26" name="PlaceHolder 5"/>
          <p:cNvSpPr>
            <a:spLocks noGrp="1"/>
          </p:cNvSpPr>
          <p:nvPr>
            <p:ph type="ftr" idx="5"/>
          </p:nvPr>
        </p:nvSpPr>
        <p:spPr>
          <a:xfrm>
            <a:off x="0" y="10157400"/>
            <a:ext cx="3280680" cy="534240"/>
          </a:xfrm>
          <a:prstGeom prst="rect">
            <a:avLst/>
          </a:prstGeom>
          <a:noFill/>
          <a:ln w="0">
            <a:noFill/>
          </a:ln>
        </p:spPr>
        <p:txBody>
          <a:bodyPr lIns="0" tIns="0" rIns="0" bIns="0" anchor="b">
            <a:noAutofit/>
          </a:bodyPr>
          <a:lstStyle>
            <a:lvl1pPr indent="0">
              <a:buNone/>
              <a:defRPr lang="en-CA" sz="1400" b="0" u="none" strike="noStrike">
                <a:solidFill>
                  <a:srgbClr val="000000"/>
                </a:solidFill>
                <a:effectLst/>
                <a:uFillTx/>
                <a:latin typeface="Arial"/>
              </a:defRPr>
            </a:lvl1pPr>
          </a:lstStyle>
          <a:p>
            <a:pPr indent="0">
              <a:buNone/>
            </a:pPr>
            <a:r>
              <a:rPr lang="en-CA" sz="1400" b="0" u="none" strike="noStrike">
                <a:solidFill>
                  <a:srgbClr val="000000"/>
                </a:solidFill>
                <a:effectLst/>
                <a:uFillTx/>
                <a:latin typeface="Arial"/>
              </a:rPr>
              <a:t>&lt;footer&gt;</a:t>
            </a:r>
          </a:p>
        </p:txBody>
      </p:sp>
      <p:sp>
        <p:nvSpPr>
          <p:cNvPr id="27" name="PlaceHolder 6"/>
          <p:cNvSpPr>
            <a:spLocks noGrp="1"/>
          </p:cNvSpPr>
          <p:nvPr>
            <p:ph type="sldNum" idx="6"/>
          </p:nvPr>
        </p:nvSpPr>
        <p:spPr>
          <a:xfrm>
            <a:off x="4278960" y="10157400"/>
            <a:ext cx="3280680" cy="534240"/>
          </a:xfrm>
          <a:prstGeom prst="rect">
            <a:avLst/>
          </a:prstGeom>
          <a:noFill/>
          <a:ln w="0">
            <a:noFill/>
          </a:ln>
        </p:spPr>
        <p:txBody>
          <a:bodyPr lIns="0" tIns="0" rIns="0" bIns="0" anchor="b">
            <a:noAutofit/>
          </a:bodyPr>
          <a:lstStyle>
            <a:lvl1pPr indent="0" algn="r">
              <a:buNone/>
              <a:defRPr lang="en-CA" sz="1400" b="0" u="none" strike="noStrike">
                <a:solidFill>
                  <a:srgbClr val="000000"/>
                </a:solidFill>
                <a:effectLst/>
                <a:uFillTx/>
                <a:latin typeface="Arial"/>
              </a:defRPr>
            </a:lvl1pPr>
          </a:lstStyle>
          <a:p>
            <a:pPr indent="0" algn="r">
              <a:buNone/>
            </a:pPr>
            <a:fld id="{B607D583-2E05-45A9-8E61-BE40324BA6BD}" type="slidenum">
              <a:rPr lang="en-CA" sz="1400" b="0" u="none" strike="noStrike">
                <a:solidFill>
                  <a:srgbClr val="000000"/>
                </a:solidFill>
                <a:effectLst/>
                <a:uFillTx/>
                <a:latin typeface="Arial"/>
              </a:rPr>
              <a:t>‹#›</a:t>
            </a:fld>
            <a:endParaRPr lang="en-CA" sz="14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applitools.com/platform/eyes/" TargetMode="External"/><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hyperlink" Target="https://percy.io" TargetMode="Externa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Arial"/>
              </a:rPr>
              <a:t>So we have a page with a table here. </a:t>
            </a:r>
            <a:r>
              <a:rPr lang="en-US"/>
              <a:t>I created my own version of the page because it skips all the tracking, ads, and a lot of fluff from the original site and also it makes it feel more similar to a project in development, versus trying to test a fully productized web page available on the web, with all the potential pitfalls that this could bring as I try to run demos and tests on that page...</a:t>
            </a:r>
          </a:p>
          <a:p>
            <a:endParaRPr lang="en-US" dirty="0">
              <a:cs typeface="Arial"/>
            </a:endParaRPr>
          </a:p>
          <a:p>
            <a:r>
              <a:rPr lang="en-US"/>
              <a:t>We are going to focus on examples using Tables and how the backend and frontend interact to get data, sort data, etc.</a:t>
            </a:r>
          </a:p>
          <a:p>
            <a:r>
              <a:rPr lang="en-US" dirty="0">
                <a:cs typeface="Arial"/>
              </a:rPr>
              <a:t>Tables are often used in applications, maybe not so much on customer facing web sites, besides those focused on numbers, such as this example of the Globe and Mail Mutual Funds leader.</a:t>
            </a:r>
          </a:p>
          <a:p>
            <a:r>
              <a:rPr lang="en-US" dirty="0">
                <a:cs typeface="Arial"/>
              </a:rPr>
              <a:t>But you'll often see them on the admin sides of things, like for a list of users, logs or in reports with all kind of metrics being measured</a:t>
            </a:r>
          </a:p>
          <a:p>
            <a:endParaRPr lang="en-US" dirty="0">
              <a:cs typeface="Arial"/>
            </a:endParaRPr>
          </a:p>
          <a:p>
            <a:r>
              <a:rPr lang="en-US" dirty="0">
                <a:cs typeface="Arial"/>
              </a:rPr>
              <a:t>How would we test that? It's been my experience that most people in QA (as seen from all the pages on the internet explaining how to do testing) will explain how to test this... Entirely at the End to End level. No consideration of how the page works is done before coming up with the end to end testing approach.</a:t>
            </a:r>
          </a:p>
          <a:p>
            <a:r>
              <a:rPr lang="en-US" dirty="0">
                <a:cs typeface="Arial"/>
              </a:rPr>
              <a:t>If you ask AI for help, it will answer the exact same way – it had been trained on all these web pages after all, so it's not any better than the average QA in terms of coming up with a test approach.</a:t>
            </a:r>
          </a:p>
          <a:p>
            <a:endParaRPr lang="en-US" dirty="0">
              <a:cs typeface="Arial"/>
            </a:endParaRPr>
          </a:p>
          <a:p>
            <a:r>
              <a:rPr lang="en-US" dirty="0">
                <a:cs typeface="Arial"/>
              </a:rPr>
              <a:t>I will show you today how we should be approaching this instead. Using a simple table on a web page is meant to be a very easy example. It's a much more visual and straightforward example than using a pages with a ton of tiny widgets that only gets a couple of values from an API call, but the gist of how to test and deal with both of these types of page will be the same.</a:t>
            </a:r>
          </a:p>
          <a:p>
            <a:endParaRPr lang="en-US">
              <a:latin typeface="Arial"/>
              <a:ea typeface="Calibri"/>
              <a:cs typeface="Arial"/>
            </a:endParaRPr>
          </a:p>
          <a:p>
            <a:endParaRPr lang="en-US">
              <a:latin typeface="Calibri"/>
              <a:ea typeface="Calibri"/>
              <a:cs typeface="Calibri"/>
            </a:endParaRPr>
          </a:p>
        </p:txBody>
      </p:sp>
      <p:sp>
        <p:nvSpPr>
          <p:cNvPr id="4" name="Slide Number Placeholder 3"/>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3</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2728210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PlaceHolder 1"/>
          <p:cNvSpPr>
            <a:spLocks noGrp="1" noRot="1" noChangeAspect="1"/>
          </p:cNvSpPr>
          <p:nvPr>
            <p:ph type="sldImg"/>
          </p:nvPr>
        </p:nvSpPr>
        <p:spPr>
          <a:xfrm>
            <a:off x="720725" y="900113"/>
            <a:ext cx="6119813" cy="3441700"/>
          </a:xfrm>
          <a:prstGeom prst="rect">
            <a:avLst/>
          </a:prstGeom>
          <a:ln w="0">
            <a:noFill/>
          </a:ln>
        </p:spPr>
      </p:sp>
      <p:sp>
        <p:nvSpPr>
          <p:cNvPr id="39" name="PlaceHolder 2"/>
          <p:cNvSpPr>
            <a:spLocks noGrp="1"/>
          </p:cNvSpPr>
          <p:nvPr>
            <p:ph type="body"/>
          </p:nvPr>
        </p:nvSpPr>
        <p:spPr>
          <a:xfrm>
            <a:off x="720000" y="4680000"/>
            <a:ext cx="6120000" cy="5040000"/>
          </a:xfrm>
          <a:prstGeom prst="rect">
            <a:avLst/>
          </a:prstGeom>
          <a:noFill/>
          <a:ln w="0">
            <a:noFill/>
          </a:ln>
        </p:spPr>
        <p:txBody>
          <a:bodyPr lIns="0" tIns="0" rIns="0" bIns="0" anchor="t">
            <a:noAutofit/>
          </a:bodyPr>
          <a:lstStyle/>
          <a:p>
            <a:r>
              <a:rPr lang="en-US" dirty="0">
                <a:solidFill>
                  <a:srgbClr val="000000"/>
                </a:solidFill>
                <a:highlight>
                  <a:srgbClr val="FFFFFF"/>
                </a:highlight>
                <a:cs typeface="Arial"/>
              </a:rPr>
              <a:t>The Test Pyramid was introduced in 2009 by Mike Cohn. Some say that it's time has passed us by, but honestly, I've mostly notice that people do not properly understand it, and thus don't apply it properly – hence all those dreaded web pages and AI assistants putting all their testing at the End to End level!</a:t>
            </a:r>
            <a:endParaRPr lang="en-US" dirty="0">
              <a:solidFill>
                <a:srgbClr val="000000"/>
              </a:solidFill>
              <a:highlight>
                <a:srgbClr val="FFFFFF"/>
              </a:highlight>
            </a:endParaRPr>
          </a:p>
          <a:p>
            <a:endParaRPr lang="en-US">
              <a:solidFill>
                <a:srgbClr val="000000"/>
              </a:solidFill>
              <a:highlight>
                <a:srgbClr val="FFFFFF"/>
              </a:highlight>
            </a:endParaRPr>
          </a:p>
          <a:p>
            <a:r>
              <a:rPr lang="en-US" dirty="0">
                <a:solidFill>
                  <a:srgbClr val="000000"/>
                </a:solidFill>
                <a:highlight>
                  <a:srgbClr val="FFFFFF"/>
                </a:highlight>
                <a:cs typeface="Arial"/>
              </a:rPr>
              <a:t>I don't want to spend too much time on the theory behind the Pyramid again, but a minimal explanation for people not familiar with it:</a:t>
            </a:r>
          </a:p>
          <a:p>
            <a:pPr marL="171450" indent="-171450">
              <a:buFont typeface="Calibri,Sans-Serif"/>
              <a:buChar char="-"/>
            </a:pPr>
            <a:r>
              <a:rPr lang="en-US" dirty="0">
                <a:solidFill>
                  <a:srgbClr val="000000"/>
                </a:solidFill>
                <a:highlight>
                  <a:srgbClr val="FFFFFF"/>
                </a:highlight>
                <a:cs typeface="Arial"/>
              </a:rPr>
              <a:t>Unit tests: tests that focus on a single method, function or by stretching a bit a single class. Every outside interaction is mocked or stubbed. There are not an awful lot of Unit Tests in the UI/Front-end world, as everything being rendered needs a ton of supporting framework code (not a single method or class)</a:t>
            </a:r>
          </a:p>
          <a:p>
            <a:pPr marL="171450" indent="-171450">
              <a:buFont typeface="Calibri,Sans-Serif"/>
              <a:buChar char="-"/>
            </a:pPr>
            <a:r>
              <a:rPr lang="en-US" dirty="0">
                <a:solidFill>
                  <a:srgbClr val="000000"/>
                </a:solidFill>
                <a:highlight>
                  <a:srgbClr val="FFFFFF"/>
                </a:highlight>
                <a:cs typeface="Arial"/>
              </a:rPr>
              <a:t>Integration tests: testing two different entities together</a:t>
            </a:r>
          </a:p>
          <a:p>
            <a:pPr marL="171450" indent="-171450">
              <a:buFont typeface="Calibri,Sans-Serif"/>
              <a:buChar char="-"/>
            </a:pPr>
            <a:r>
              <a:rPr lang="en-US" dirty="0">
                <a:solidFill>
                  <a:srgbClr val="000000"/>
                </a:solidFill>
                <a:highlight>
                  <a:srgbClr val="FFFFFF"/>
                </a:highlight>
                <a:cs typeface="Arial"/>
              </a:rPr>
              <a:t>End to End test: testing against a fully deployed application with (mostly) real interactions (no mocks)</a:t>
            </a:r>
          </a:p>
          <a:p>
            <a:endParaRPr lang="en-US">
              <a:solidFill>
                <a:srgbClr val="000000"/>
              </a:solidFill>
              <a:highlight>
                <a:srgbClr val="FFFFFF"/>
              </a:highlight>
            </a:endParaRPr>
          </a:p>
          <a:p>
            <a:r>
              <a:rPr lang="en-US" dirty="0">
                <a:solidFill>
                  <a:srgbClr val="000000"/>
                </a:solidFill>
                <a:highlight>
                  <a:srgbClr val="FFFFFF"/>
                </a:highlight>
                <a:cs typeface="Arial"/>
              </a:rPr>
              <a:t>The width of the pyramid indicates how many tests you should be doing: a lot of unit tests, fewer integration tests, </a:t>
            </a:r>
            <a:r>
              <a:rPr lang="en-US" b="1" dirty="0">
                <a:solidFill>
                  <a:srgbClr val="000000"/>
                </a:solidFill>
                <a:highlight>
                  <a:srgbClr val="FFFFFF"/>
                </a:highlight>
                <a:cs typeface="Arial"/>
              </a:rPr>
              <a:t>few</a:t>
            </a:r>
            <a:r>
              <a:rPr lang="en-US" dirty="0">
                <a:solidFill>
                  <a:srgbClr val="000000"/>
                </a:solidFill>
                <a:highlight>
                  <a:srgbClr val="FFFFFF"/>
                </a:highlight>
                <a:cs typeface="Arial"/>
              </a:rPr>
              <a:t> End to End tests. Yes FEW. Not ALL.</a:t>
            </a:r>
          </a:p>
          <a:p>
            <a:r>
              <a:rPr lang="en-US" dirty="0">
                <a:solidFill>
                  <a:srgbClr val="000000"/>
                </a:solidFill>
                <a:highlight>
                  <a:srgbClr val="FFFFFF"/>
                </a:highlight>
                <a:cs typeface="Arial"/>
              </a:rPr>
              <a:t>The reason? Speed – test execution (and to a lesser extent, creation) increases as you go up the pyramid. Fragility and maintenance also increases as you go up – so with all of this, costs increases</a:t>
            </a:r>
          </a:p>
          <a:p>
            <a:endParaRPr lang="en-US">
              <a:solidFill>
                <a:srgbClr val="000000"/>
              </a:solidFill>
              <a:highlight>
                <a:srgbClr val="FFFFFF"/>
              </a:highlight>
            </a:endParaRPr>
          </a:p>
          <a:p>
            <a:r>
              <a:rPr lang="en-US" dirty="0">
                <a:solidFill>
                  <a:srgbClr val="000000"/>
                </a:solidFill>
                <a:highlight>
                  <a:srgbClr val="FFFFFF"/>
                </a:highlight>
                <a:cs typeface="Arial"/>
              </a:rPr>
              <a:t>No duplication of tests – if you cover it at unit tests, do not redo the same test (or a test doing the same thing) at integration or end-to-end level</a:t>
            </a:r>
          </a:p>
          <a:p>
            <a:endParaRPr lang="en-US">
              <a:solidFill>
                <a:srgbClr val="000000"/>
              </a:solidFill>
              <a:highlight>
                <a:srgbClr val="FFFFFF"/>
              </a:highlight>
            </a:endParaRPr>
          </a:p>
          <a:p>
            <a:r>
              <a:rPr lang="en-US" dirty="0">
                <a:solidFill>
                  <a:srgbClr val="000000"/>
                </a:solidFill>
                <a:highlight>
                  <a:srgbClr val="FFFFFF"/>
                </a:highlight>
                <a:cs typeface="Arial"/>
              </a:rPr>
              <a:t>Now, I absolutely love this Test Pyramid image. It is simple, clear... and totally confusing at the same time! Notice how E2E = UI, Integration = API Tests and Unit Tests = Components. So which is it? I'll return to this.</a:t>
            </a:r>
          </a:p>
          <a:p>
            <a:endParaRPr lang="en-US">
              <a:solidFill>
                <a:srgbClr val="000000"/>
              </a:solidFill>
              <a:highlight>
                <a:srgbClr val="FFFFFF"/>
              </a:highlight>
            </a:endParaRPr>
          </a:p>
          <a:p>
            <a:r>
              <a:rPr lang="en-US" dirty="0">
                <a:solidFill>
                  <a:srgbClr val="000000"/>
                </a:solidFill>
                <a:highlight>
                  <a:srgbClr val="FFFFFF"/>
                </a:highlight>
                <a:cs typeface="Arial"/>
              </a:rPr>
              <a:t>So let's stop with the theory and let's go through our table web page and show what tests should be done and where they go in the Test Pyramid.</a:t>
            </a:r>
          </a:p>
          <a:p>
            <a:pPr marL="215900" indent="-215900">
              <a:spcBef>
                <a:spcPts val="1191"/>
              </a:spcBef>
              <a:spcAft>
                <a:spcPts val="992"/>
              </a:spcAft>
              <a:buNone/>
            </a:pPr>
            <a:endParaRPr lang="en-CA" sz="1000" b="0" u="none" strike="noStrike">
              <a:solidFill>
                <a:srgbClr val="000000"/>
              </a:solidFill>
              <a:effectLst/>
              <a:highlight>
                <a:srgbClr val="FFFFFF"/>
              </a:highlight>
              <a:uFillTx/>
              <a:latin typeface="Arial"/>
              <a:cs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6186A9-EFC9-247E-1915-4DB396EA88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87F9F0-DABD-02BC-869D-ED16D772314D}"/>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66224597-624A-AED6-BED5-E72EE05B1C2B}"/>
              </a:ext>
            </a:extLst>
          </p:cNvPr>
          <p:cNvSpPr>
            <a:spLocks noGrp="1"/>
          </p:cNvSpPr>
          <p:nvPr>
            <p:ph type="body" idx="1"/>
          </p:nvPr>
        </p:nvSpPr>
        <p:spPr/>
        <p:txBody>
          <a:bodyPr/>
          <a:lstStyle/>
          <a:p>
            <a:r>
              <a:rPr lang="en-US" dirty="0">
                <a:cs typeface="Arial"/>
              </a:rPr>
              <a:t>Open the Dev Tools (F12 on Mac, CTRL-SHIFT-I on Windows)</a:t>
            </a:r>
          </a:p>
          <a:p>
            <a:r>
              <a:rPr lang="en-US" dirty="0">
                <a:cs typeface="Arial"/>
              </a:rPr>
              <a:t>Pick Network tab</a:t>
            </a:r>
          </a:p>
          <a:p>
            <a:r>
              <a:rPr lang="en-US" dirty="0">
                <a:cs typeface="Arial"/>
              </a:rPr>
              <a:t>We will filter the requests. The requests that interest us are the Fetch/XHR request (just "XHR" in Firefox), so click on that to filter them</a:t>
            </a:r>
          </a:p>
          <a:p>
            <a:r>
              <a:rPr lang="en-US" dirty="0">
                <a:cs typeface="Arial"/>
              </a:rPr>
              <a:t>To keep the logs as you move away or refresh the page, select "Preserve Logs" ("Persist Logs" in Firefox)</a:t>
            </a:r>
          </a:p>
        </p:txBody>
      </p:sp>
      <p:sp>
        <p:nvSpPr>
          <p:cNvPr id="4" name="Slide Number Placeholder 3">
            <a:extLst>
              <a:ext uri="{FF2B5EF4-FFF2-40B4-BE49-F238E27FC236}">
                <a16:creationId xmlns:a16="http://schemas.microsoft.com/office/drawing/2014/main" id="{BF29F741-8AD6-F687-D2AB-445F2A26768E}"/>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5</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38632443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D688F-F308-BF6A-1446-F463B8C167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21AC9B-1F52-4694-B1B9-1CB403C32C8A}"/>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C9791C01-2B04-455F-FFB0-8817F00E027C}"/>
              </a:ext>
            </a:extLst>
          </p:cNvPr>
          <p:cNvSpPr>
            <a:spLocks noGrp="1"/>
          </p:cNvSpPr>
          <p:nvPr>
            <p:ph type="body" idx="1"/>
          </p:nvPr>
        </p:nvSpPr>
        <p:spPr/>
        <p:txBody>
          <a:bodyPr/>
          <a:lstStyle/>
          <a:p>
            <a:r>
              <a:rPr lang="en-US" dirty="0">
                <a:cs typeface="Arial"/>
              </a:rPr>
              <a:t>On a page reload, we get a lot of requests, but only one XHR request, this is the API call that is of interest for us, the one that populates the data used by the column. Normal pages will have a lot more API calls, usually one or more per "widget" being displayed. But like I said earlier, it's all the same in the end, just need to know which API call is used by what. You favorite developer can help you figure it out, or a bit of detective work by yourself can do the same!</a:t>
            </a:r>
            <a:endParaRPr lang="en-US" dirty="0"/>
          </a:p>
          <a:p>
            <a:endParaRPr lang="en-US" dirty="0">
              <a:cs typeface="Arial"/>
            </a:endParaRPr>
          </a:p>
        </p:txBody>
      </p:sp>
      <p:sp>
        <p:nvSpPr>
          <p:cNvPr id="4" name="Slide Number Placeholder 3">
            <a:extLst>
              <a:ext uri="{FF2B5EF4-FFF2-40B4-BE49-F238E27FC236}">
                <a16:creationId xmlns:a16="http://schemas.microsoft.com/office/drawing/2014/main" id="{169B7734-8E52-7A13-FE8A-59173CB0C857}"/>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6</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6924959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8B684-9FE7-D173-F459-B8E4DEED86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473391-6593-32DB-942A-0E46AE4A13E6}"/>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176D3804-3919-764F-CCB1-513F5CA2A29A}"/>
              </a:ext>
            </a:extLst>
          </p:cNvPr>
          <p:cNvSpPr>
            <a:spLocks noGrp="1"/>
          </p:cNvSpPr>
          <p:nvPr>
            <p:ph type="body" idx="1"/>
          </p:nvPr>
        </p:nvSpPr>
        <p:spPr/>
        <p:txBody>
          <a:bodyPr/>
          <a:lstStyle/>
          <a:p>
            <a:r>
              <a:rPr lang="en-US">
                <a:cs typeface="Arial"/>
              </a:rPr>
              <a:t>We see the JSON body of the POST request</a:t>
            </a:r>
            <a:endParaRPr lang="en-US" dirty="0">
              <a:cs typeface="Arial"/>
            </a:endParaRPr>
          </a:p>
          <a:p>
            <a:r>
              <a:rPr lang="en-US"/>
              <a:t>Not sure what fieldCaptions.manageAssets represents...</a:t>
            </a:r>
            <a:endParaRPr lang="en-US" dirty="0"/>
          </a:p>
          <a:p>
            <a:r>
              <a:rPr lang="en-US">
                <a:cs typeface="Arial"/>
              </a:rPr>
              <a:t>But the "fields" field clearly corresponds to the data required to populate each column and the limit could be the number of funds we want in the response (sort of pagination, though we can't pick the page, just the page size)</a:t>
            </a:r>
            <a:endParaRPr lang="en-US" dirty="0"/>
          </a:p>
          <a:p>
            <a:r>
              <a:rPr lang="en-US"/>
              <a:t>The lists field seems to select the data table of something from where the data is taken</a:t>
            </a:r>
            <a:endParaRPr lang="en-US" dirty="0"/>
          </a:p>
          <a:p>
            <a:endParaRPr lang="en-US" dirty="0"/>
          </a:p>
          <a:p>
            <a:r>
              <a:rPr lang="en-US"/>
              <a:t>We don't see any field for sorting, which is somewhat expected as there doesn't seem to be any sorting going on (or none that is actually shown in the UI)</a:t>
            </a:r>
            <a:endParaRPr lang="en-US" dirty="0"/>
          </a:p>
          <a:p>
            <a:r>
              <a:rPr lang="en-US">
                <a:cs typeface="Arial"/>
              </a:rPr>
              <a:t>Let's confirm our findings by looking at the API response...</a:t>
            </a:r>
            <a:endParaRPr lang="en-US" dirty="0">
              <a:cs typeface="Arial"/>
            </a:endParaRPr>
          </a:p>
          <a:p>
            <a:endParaRPr lang="en-US" dirty="0">
              <a:cs typeface="Arial"/>
            </a:endParaRPr>
          </a:p>
        </p:txBody>
      </p:sp>
      <p:sp>
        <p:nvSpPr>
          <p:cNvPr id="4" name="Slide Number Placeholder 3">
            <a:extLst>
              <a:ext uri="{FF2B5EF4-FFF2-40B4-BE49-F238E27FC236}">
                <a16:creationId xmlns:a16="http://schemas.microsoft.com/office/drawing/2014/main" id="{444D3B18-517F-579B-8657-2672D4005745}"/>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7</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33083723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31FA5-194B-F38B-5D9A-C730D508FB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5A3465-0737-CDB8-21F0-2FCE7AC9654F}"/>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1E989DB6-7BF5-E9AE-7961-DF4FCB69B163}"/>
              </a:ext>
            </a:extLst>
          </p:cNvPr>
          <p:cNvSpPr>
            <a:spLocks noGrp="1"/>
          </p:cNvSpPr>
          <p:nvPr>
            <p:ph type="body" idx="1"/>
          </p:nvPr>
        </p:nvSpPr>
        <p:spPr/>
        <p:txBody>
          <a:bodyPr/>
          <a:lstStyle/>
          <a:p>
            <a:r>
              <a:rPr lang="en-US" dirty="0">
                <a:cs typeface="Arial"/>
              </a:rPr>
              <a:t>Count is 50! That confirms what limit meant</a:t>
            </a:r>
          </a:p>
          <a:p>
            <a:endParaRPr lang="en-US" dirty="0"/>
          </a:p>
          <a:p>
            <a:r>
              <a:rPr lang="en-US" dirty="0">
                <a:cs typeface="Arial"/>
              </a:rPr>
              <a:t>The order of the entries matches the screen and the values does as well (we can see the full response in the "Response" tab, showing the other columns as well)</a:t>
            </a:r>
            <a:endParaRPr lang="en-US" dirty="0"/>
          </a:p>
          <a:p>
            <a:r>
              <a:rPr lang="en-US" dirty="0">
                <a:cs typeface="Arial"/>
              </a:rPr>
              <a:t>If we expand to show the "time" we see they provide an exact string, but in US format. They also have the raw time in Unix-like epoch (</a:t>
            </a:r>
            <a:r>
              <a:rPr lang="en-US" dirty="0" err="1">
                <a:cs typeface="Arial"/>
              </a:rPr>
              <a:t>ms</a:t>
            </a:r>
            <a:r>
              <a:rPr lang="en-US" dirty="0">
                <a:cs typeface="Arial"/>
              </a:rPr>
              <a:t> from 1970-01-01, but this time it's given in seconds since 1970. Weird). Most APIs would return a UTC date string like 2025-10-15T13:30:01.123Z that needs to be converted to local time in the UI.</a:t>
            </a:r>
          </a:p>
          <a:p>
            <a:r>
              <a:rPr lang="en-US" dirty="0">
                <a:cs typeface="Arial"/>
              </a:rPr>
              <a:t>This would be an example of a Unit Test to be written at the UI level, to verify the conversion is done properly</a:t>
            </a:r>
          </a:p>
          <a:p>
            <a:endParaRPr lang="en-US" dirty="0">
              <a:cs typeface="Arial"/>
            </a:endParaRPr>
          </a:p>
        </p:txBody>
      </p:sp>
      <p:sp>
        <p:nvSpPr>
          <p:cNvPr id="4" name="Slide Number Placeholder 3">
            <a:extLst>
              <a:ext uri="{FF2B5EF4-FFF2-40B4-BE49-F238E27FC236}">
                <a16:creationId xmlns:a16="http://schemas.microsoft.com/office/drawing/2014/main" id="{687F795A-3893-202D-B174-E106F6400E7F}"/>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8</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1077407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2F3E8-5B4A-9C74-A4F6-19AE26C938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FD4BE5-7777-9AB6-D030-0E8C1434E137}"/>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4D860909-4AB0-D41B-EBF1-3DB6321EC464}"/>
              </a:ext>
            </a:extLst>
          </p:cNvPr>
          <p:cNvSpPr>
            <a:spLocks noGrp="1"/>
          </p:cNvSpPr>
          <p:nvPr>
            <p:ph type="body" idx="1"/>
          </p:nvPr>
        </p:nvSpPr>
        <p:spPr/>
        <p:txBody>
          <a:bodyPr/>
          <a:lstStyle/>
          <a:p>
            <a:r>
              <a:rPr lang="en-US" dirty="0">
                <a:cs typeface="Arial"/>
              </a:rPr>
              <a:t>We clicked on the "Last Price" column and it sorted the display. Did the UI do much? Actually no! It added a symbol on the column header to indicate the sorting direction, but the actual sort was done through the backend, as we can see by the new API call that was triggered as soon as we clicked the header</a:t>
            </a:r>
          </a:p>
          <a:p>
            <a:endParaRPr lang="en-US" dirty="0"/>
          </a:p>
          <a:p>
            <a:r>
              <a:rPr lang="en-US" dirty="0">
                <a:cs typeface="Arial"/>
              </a:rPr>
              <a:t>If we examine the Request, we see all the same fields as before, but with two new fields, "</a:t>
            </a:r>
            <a:r>
              <a:rPr lang="en-US" dirty="0" err="1">
                <a:cs typeface="Arial"/>
              </a:rPr>
              <a:t>orderBy</a:t>
            </a:r>
            <a:r>
              <a:rPr lang="en-US" dirty="0">
                <a:cs typeface="Arial"/>
              </a:rPr>
              <a:t>" and "</a:t>
            </a:r>
            <a:r>
              <a:rPr lang="en-US" dirty="0" err="1">
                <a:cs typeface="Arial"/>
              </a:rPr>
              <a:t>orderDir</a:t>
            </a:r>
            <a:r>
              <a:rPr lang="en-US" dirty="0">
                <a:cs typeface="Arial"/>
              </a:rPr>
              <a:t>". Those sound an awful lot like sorting parameters to me! We can confirm the </a:t>
            </a:r>
            <a:r>
              <a:rPr lang="en-US" dirty="0" err="1">
                <a:cs typeface="Arial"/>
              </a:rPr>
              <a:t>orderBy</a:t>
            </a:r>
            <a:r>
              <a:rPr lang="en-US" dirty="0">
                <a:cs typeface="Arial"/>
              </a:rPr>
              <a:t> was </a:t>
            </a:r>
            <a:r>
              <a:rPr lang="en-US" dirty="0" err="1">
                <a:cs typeface="Arial"/>
              </a:rPr>
              <a:t>lastPrice</a:t>
            </a:r>
            <a:r>
              <a:rPr lang="en-US" dirty="0">
                <a:cs typeface="Arial"/>
              </a:rPr>
              <a:t>, which matches the "Last Price" column as expected and the sorting was "</a:t>
            </a:r>
            <a:r>
              <a:rPr lang="en-US" dirty="0" err="1">
                <a:cs typeface="Arial"/>
              </a:rPr>
              <a:t>asc</a:t>
            </a:r>
            <a:r>
              <a:rPr lang="en-US" dirty="0">
                <a:cs typeface="Arial"/>
              </a:rPr>
              <a:t>" for "ascending" as we can see is done (both by the sort symbol and by the actual data)</a:t>
            </a:r>
          </a:p>
          <a:p>
            <a:endParaRPr lang="en-US" dirty="0"/>
          </a:p>
          <a:p>
            <a:r>
              <a:rPr lang="en-US" dirty="0">
                <a:cs typeface="Arial"/>
              </a:rPr>
              <a:t>Not showing in these slides, but the response data also matches what we see on the screen, same as before. Row 1 of API response is row 1 displayed on the screen, the only difference being that the API response itself is sorted by the Last Price column</a:t>
            </a:r>
          </a:p>
        </p:txBody>
      </p:sp>
      <p:sp>
        <p:nvSpPr>
          <p:cNvPr id="4" name="Slide Number Placeholder 3">
            <a:extLst>
              <a:ext uri="{FF2B5EF4-FFF2-40B4-BE49-F238E27FC236}">
                <a16:creationId xmlns:a16="http://schemas.microsoft.com/office/drawing/2014/main" id="{AE2133B5-0821-7889-1596-CD4B5BB21EEB}"/>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9</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14751152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7B9B0-8CC0-BA5C-3AFA-6A1B7DBA76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A4F2D1-5967-0044-32FD-96620FDD855E}"/>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D029F82E-6DD0-FCB3-3533-3E5DA2BD6645}"/>
              </a:ext>
            </a:extLst>
          </p:cNvPr>
          <p:cNvSpPr>
            <a:spLocks noGrp="1"/>
          </p:cNvSpPr>
          <p:nvPr>
            <p:ph type="body" idx="1"/>
          </p:nvPr>
        </p:nvSpPr>
        <p:spPr/>
        <p:txBody>
          <a:bodyPr/>
          <a:lstStyle/>
          <a:p>
            <a:r>
              <a:rPr lang="en-US" dirty="0">
                <a:cs typeface="Arial"/>
              </a:rPr>
              <a:t>Screens can look identical to one another, but the functional design is quite different. As a testing professional, if you are not aware of this difference, you are failing at your job. The way to test the sorting will be quite different between an API sort and a Front End sort.</a:t>
            </a:r>
          </a:p>
          <a:p>
            <a:r>
              <a:rPr lang="en-US" dirty="0">
                <a:cs typeface="Arial"/>
              </a:rPr>
              <a:t>Again, this is something where AI would be completely blind to this difference and would just tell you to test both these pages in the very same manner.</a:t>
            </a:r>
          </a:p>
        </p:txBody>
      </p:sp>
      <p:sp>
        <p:nvSpPr>
          <p:cNvPr id="4" name="Slide Number Placeholder 3">
            <a:extLst>
              <a:ext uri="{FF2B5EF4-FFF2-40B4-BE49-F238E27FC236}">
                <a16:creationId xmlns:a16="http://schemas.microsoft.com/office/drawing/2014/main" id="{B2FC0374-1EAB-EEB2-49E2-A0A06C6C43B1}"/>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10</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29673255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D2174-0F93-215F-6E31-784DFD5A11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79C5A9-D04C-0E8A-EBBC-F7A9841665C1}"/>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9B4B3E67-2EFC-2FED-4553-471A22B13BF4}"/>
              </a:ext>
            </a:extLst>
          </p:cNvPr>
          <p:cNvSpPr>
            <a:spLocks noGrp="1"/>
          </p:cNvSpPr>
          <p:nvPr>
            <p:ph type="body" idx="1"/>
          </p:nvPr>
        </p:nvSpPr>
        <p:spPr/>
        <p:txBody>
          <a:bodyPr/>
          <a:lstStyle/>
          <a:p>
            <a:r>
              <a:rPr lang="en-US" dirty="0">
                <a:cs typeface="Arial"/>
              </a:rPr>
              <a:t>Using the "Client-Side Sorting" page now. It fires the API call on first load, but then no other API call is fired when sorting... but the column is indeed sorted... So this proves the front end is doing the sort, not the back end.</a:t>
            </a:r>
          </a:p>
          <a:p>
            <a:endParaRPr lang="en-US" dirty="0">
              <a:cs typeface="Arial"/>
            </a:endParaRPr>
          </a:p>
          <a:p>
            <a:r>
              <a:rPr lang="en-US" dirty="0">
                <a:cs typeface="Arial"/>
              </a:rPr>
              <a:t>In terms of testing, a lot remains the same (well, the common functionality will), but the sorting test itself will be different. Still need to validate the initial API call properly, even though it is done only once and will never have any sorting parameters in it.</a:t>
            </a:r>
          </a:p>
          <a:p>
            <a:endParaRPr lang="en-US" dirty="0">
              <a:cs typeface="Arial"/>
            </a:endParaRPr>
          </a:p>
        </p:txBody>
      </p:sp>
      <p:sp>
        <p:nvSpPr>
          <p:cNvPr id="4" name="Slide Number Placeholder 3">
            <a:extLst>
              <a:ext uri="{FF2B5EF4-FFF2-40B4-BE49-F238E27FC236}">
                <a16:creationId xmlns:a16="http://schemas.microsoft.com/office/drawing/2014/main" id="{F59491C7-8EB9-9F7B-75A4-A9C64F4B8649}"/>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11</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27908698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20725" y="900113"/>
            <a:ext cx="6119813" cy="3441700"/>
          </a:xfrm>
        </p:spPr>
      </p:sp>
      <p:sp>
        <p:nvSpPr>
          <p:cNvPr id="3" name="Notes Placeholder 2"/>
          <p:cNvSpPr>
            <a:spLocks noGrp="1"/>
          </p:cNvSpPr>
          <p:nvPr>
            <p:ph type="body" idx="1"/>
          </p:nvPr>
        </p:nvSpPr>
        <p:spPr/>
        <p:txBody>
          <a:bodyPr/>
          <a:lstStyle/>
          <a:p>
            <a:r>
              <a:rPr lang="en-US"/>
              <a:t>You also have other classic things which don't apply here. I didn't need to login or have permission to see this screen, but in your own system, especially on the admin side, you probably need that. So verify that the API requests properly respect authentication and permissions and the same for the UI – yes, test BOTH</a:t>
            </a:r>
            <a:endParaRPr lang="en-US" dirty="0">
              <a:cs typeface="Arial"/>
            </a:endParaRPr>
          </a:p>
        </p:txBody>
      </p:sp>
      <p:sp>
        <p:nvSpPr>
          <p:cNvPr id="4" name="Slide Number Placeholder 3"/>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12</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8811509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EDC7A-F592-5246-8F5C-B40DFD6233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8D719-CE34-E682-7E8A-CB380298C383}"/>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33042557-C9CC-C010-6971-04F66E007921}"/>
              </a:ext>
            </a:extLst>
          </p:cNvPr>
          <p:cNvSpPr>
            <a:spLocks noGrp="1"/>
          </p:cNvSpPr>
          <p:nvPr>
            <p:ph type="body" idx="1"/>
          </p:nvPr>
        </p:nvSpPr>
        <p:spPr/>
        <p:txBody>
          <a:bodyPr/>
          <a:lstStyle/>
          <a:p>
            <a:r>
              <a:rPr lang="en-US">
                <a:cs typeface="Arial"/>
              </a:rPr>
              <a:t>This is a typical API test using Karate framework, which should be fairly easy to understand. Background block is executed first, where we set the URL to use (defined in the configuration file)</a:t>
            </a:r>
          </a:p>
          <a:p>
            <a:r>
              <a:rPr lang="en-US">
                <a:cs typeface="Arial"/>
              </a:rPr>
              <a:t>Then a test is a Scenario – in this case we grab a random number of rows (this is Javascript code) and in the Given-When-Then block, we setup our request – limiting ourselves to a few fields, not the whole set like the UI does and limiting the number of rows based on our random value.</a:t>
            </a:r>
          </a:p>
          <a:p>
            <a:r>
              <a:rPr lang="en-US">
                <a:cs typeface="Arial"/>
              </a:rPr>
              <a:t>When method actually does the request – a POST</a:t>
            </a:r>
          </a:p>
          <a:p>
            <a:r>
              <a:rPr lang="en-US">
                <a:cs typeface="Arial"/>
              </a:rPr>
              <a:t>Then is where we validate the response. "Status" is the HTTP status, so of course we expect 200</a:t>
            </a:r>
            <a:endParaRPr lang="en-US" dirty="0">
              <a:cs typeface="Arial"/>
            </a:endParaRPr>
          </a:p>
          <a:p>
            <a:r>
              <a:rPr lang="en-US">
                <a:cs typeface="Arial"/>
              </a:rPr>
              <a:t>Then we match the response.count in the response so that it matches our random number from the request</a:t>
            </a:r>
          </a:p>
          <a:p>
            <a:r>
              <a:rPr lang="en-US">
                <a:cs typeface="Arial"/>
              </a:rPr>
              <a:t>But, is the API lying to us? Let's count the actual number of responses just in case, so we do an assert of the length of the response.data value (again, this is Javascript)</a:t>
            </a:r>
          </a:p>
          <a:p>
            <a:endParaRPr lang="en-US" dirty="0">
              <a:cs typeface="Arial"/>
            </a:endParaRPr>
          </a:p>
          <a:p>
            <a:r>
              <a:rPr lang="en-US">
                <a:cs typeface="Arial"/>
              </a:rPr>
              <a:t>As we can see on the right, we get the request and response and we can check that we got what was expected. Not shown, but the test passes.</a:t>
            </a:r>
            <a:endParaRPr lang="en-US" dirty="0">
              <a:cs typeface="Arial"/>
            </a:endParaRPr>
          </a:p>
        </p:txBody>
      </p:sp>
      <p:sp>
        <p:nvSpPr>
          <p:cNvPr id="4" name="Slide Number Placeholder 3">
            <a:extLst>
              <a:ext uri="{FF2B5EF4-FFF2-40B4-BE49-F238E27FC236}">
                <a16:creationId xmlns:a16="http://schemas.microsoft.com/office/drawing/2014/main" id="{389F58F4-C23C-65D8-55EA-1F2C77C003C1}"/>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13</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24266237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51426-3C7A-F4AB-DB4A-D90A3E8FEF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1E575B-B801-98D7-0C58-6389056AB282}"/>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35294B19-CD79-7AEE-2937-C00935594584}"/>
              </a:ext>
            </a:extLst>
          </p:cNvPr>
          <p:cNvSpPr>
            <a:spLocks noGrp="1"/>
          </p:cNvSpPr>
          <p:nvPr>
            <p:ph type="body" idx="1"/>
          </p:nvPr>
        </p:nvSpPr>
        <p:spPr/>
        <p:txBody>
          <a:bodyPr/>
          <a:lstStyle/>
          <a:p>
            <a:r>
              <a:rPr lang="en-US">
                <a:cs typeface="Arial"/>
              </a:rPr>
              <a:t>We verified visually the fields that were returned on the previous test, but we need a formal automated test. This is an example of what it could look like.</a:t>
            </a:r>
            <a:endParaRPr lang="en-US" dirty="0">
              <a:cs typeface="Arial"/>
            </a:endParaRPr>
          </a:p>
          <a:p>
            <a:r>
              <a:rPr lang="en-US">
                <a:cs typeface="Arial"/>
              </a:rPr>
              <a:t>This is a data-driven test (Scenario Outline) which will be run once for each row of the Examples table at the bottom (first row "field" is the header to indicate the content of the table)</a:t>
            </a:r>
            <a:endParaRPr lang="en-US" dirty="0">
              <a:cs typeface="Arial"/>
            </a:endParaRPr>
          </a:p>
          <a:p>
            <a:r>
              <a:rPr lang="en-US">
                <a:cs typeface="Arial"/>
              </a:rPr>
              <a:t>Thus we go through all the expected fields one by one and verify that they are present in the response.</a:t>
            </a:r>
          </a:p>
          <a:p>
            <a:r>
              <a:rPr lang="en-US">
                <a:cs typeface="Arial"/>
              </a:rPr>
              <a:t>We probably should check that no extraneous fields are returned, but it seems this API sends a set of 4-5 basic fields regardless of what is asked. A bit too complex for this short demo, but easily doable in code.</a:t>
            </a:r>
            <a:endParaRPr lang="en-US" dirty="0">
              <a:cs typeface="Arial"/>
            </a:endParaRPr>
          </a:p>
        </p:txBody>
      </p:sp>
      <p:sp>
        <p:nvSpPr>
          <p:cNvPr id="4" name="Slide Number Placeholder 3">
            <a:extLst>
              <a:ext uri="{FF2B5EF4-FFF2-40B4-BE49-F238E27FC236}">
                <a16:creationId xmlns:a16="http://schemas.microsoft.com/office/drawing/2014/main" id="{237C93D1-3982-521E-433D-7851E6E88920}"/>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14</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15081583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71D71-2D86-74E3-2347-E2955D7FF7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7985D3-2F4C-4D91-7924-698F4A58624D}"/>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B629F097-E1BD-66F6-FE63-1BB85948D463}"/>
              </a:ext>
            </a:extLst>
          </p:cNvPr>
          <p:cNvSpPr>
            <a:spLocks noGrp="1"/>
          </p:cNvSpPr>
          <p:nvPr>
            <p:ph type="body" idx="1"/>
          </p:nvPr>
        </p:nvSpPr>
        <p:spPr/>
        <p:txBody>
          <a:bodyPr/>
          <a:lstStyle/>
          <a:p>
            <a:r>
              <a:rPr lang="en-US">
                <a:cs typeface="Arial"/>
              </a:rPr>
              <a:t>It's easy to get carried away with API tests. Do make sure to verify the request that is used by the UI (or one roughly similar). The main check of this test is the schema check in line 86. We don't show the schema, but basically it lists every single field expected (and the type) for each entry and validates that each data entry in the response matches those expectations.</a:t>
            </a:r>
          </a:p>
          <a:p>
            <a:endParaRPr lang="en-US" dirty="0">
              <a:cs typeface="Arial"/>
            </a:endParaRPr>
          </a:p>
          <a:p>
            <a:r>
              <a:rPr lang="en-US">
                <a:cs typeface="Arial"/>
              </a:rPr>
              <a:t>Many years ago, I worked at Kronos in a frontend team and one day the backend team came in and said "it's finally time to plug everything together. We have tested the backend extensively and it's good to go"</a:t>
            </a:r>
          </a:p>
          <a:p>
            <a:r>
              <a:rPr lang="en-US">
                <a:cs typeface="Arial"/>
              </a:rPr>
              <a:t>We plugged things together and nothing worked. What happened? The backend team had never looked at the request the UI team was using and had never tested that specific one...</a:t>
            </a:r>
            <a:endParaRPr lang="en-US" dirty="0">
              <a:cs typeface="Arial"/>
            </a:endParaRPr>
          </a:p>
        </p:txBody>
      </p:sp>
      <p:sp>
        <p:nvSpPr>
          <p:cNvPr id="4" name="Slide Number Placeholder 3">
            <a:extLst>
              <a:ext uri="{FF2B5EF4-FFF2-40B4-BE49-F238E27FC236}">
                <a16:creationId xmlns:a16="http://schemas.microsoft.com/office/drawing/2014/main" id="{B07486F8-D3B2-C5BC-FB05-D157B9893896}"/>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15</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34719274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00C52-4386-BF37-779B-ABD162B3F4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6D47D7-A022-6B37-8F9A-703B95C1DC47}"/>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7DCAC5ED-88C6-A444-22F7-7C1084BDE8B1}"/>
              </a:ext>
            </a:extLst>
          </p:cNvPr>
          <p:cNvSpPr>
            <a:spLocks noGrp="1"/>
          </p:cNvSpPr>
          <p:nvPr>
            <p:ph type="body" idx="1"/>
          </p:nvPr>
        </p:nvSpPr>
        <p:spPr/>
        <p:txBody>
          <a:bodyPr/>
          <a:lstStyle/>
          <a:p>
            <a:r>
              <a:rPr lang="en-US">
                <a:cs typeface="Arial"/>
              </a:rPr>
              <a:t>How do we verify that the response was sorted properly? Well, we take the response, sort it ourselves and compare to what we got. If it matches, then the sort was done properly.</a:t>
            </a:r>
          </a:p>
          <a:p>
            <a:r>
              <a:rPr lang="en-US">
                <a:cs typeface="Arial"/>
              </a:rPr>
              <a:t>As you can see, in this test we leave no stone unturned – we try sorting by every field that is displayed.</a:t>
            </a:r>
            <a:endParaRPr lang="en-US" dirty="0">
              <a:cs typeface="Arial"/>
            </a:endParaRPr>
          </a:p>
          <a:p>
            <a:r>
              <a:rPr lang="en-US">
                <a:cs typeface="Arial"/>
              </a:rPr>
              <a:t>Notice we did not test the descending sort – karate.sort does not allow selecting the sort order, but we could simply reverse the order once sorted, or sort using Javascript instead of the built-in Karate method. This is left as homework to the attendees!</a:t>
            </a:r>
            <a:endParaRPr lang="en-US" dirty="0">
              <a:cs typeface="Arial"/>
            </a:endParaRPr>
          </a:p>
        </p:txBody>
      </p:sp>
      <p:sp>
        <p:nvSpPr>
          <p:cNvPr id="4" name="Slide Number Placeholder 3">
            <a:extLst>
              <a:ext uri="{FF2B5EF4-FFF2-40B4-BE49-F238E27FC236}">
                <a16:creationId xmlns:a16="http://schemas.microsoft.com/office/drawing/2014/main" id="{084DC537-5B31-96E1-315B-7F4D14508113}"/>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16</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28645714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E7A5B-FA9E-EE2F-52C1-E760CCB6BC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AA8A6-A82F-5F68-DD92-6071DA4EFD95}"/>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673B2208-27B9-E56C-9711-0A30E6125F60}"/>
              </a:ext>
            </a:extLst>
          </p:cNvPr>
          <p:cNvSpPr>
            <a:spLocks noGrp="1"/>
          </p:cNvSpPr>
          <p:nvPr>
            <p:ph type="body" idx="1"/>
          </p:nvPr>
        </p:nvSpPr>
        <p:spPr/>
        <p:txBody>
          <a:bodyPr/>
          <a:lstStyle/>
          <a:p>
            <a:r>
              <a:rPr lang="en-US">
                <a:cs typeface="Arial"/>
              </a:rPr>
              <a:t>You might think "but wait, this is an internal API why do I need to test these things as long as the UI works?". Well as you saw, we didn't actually use any elite hacking skills to discover these APIs.</a:t>
            </a:r>
            <a:endParaRPr lang="en-US" dirty="0">
              <a:cs typeface="Arial"/>
            </a:endParaRPr>
          </a:p>
          <a:p>
            <a:r>
              <a:rPr lang="en-US">
                <a:cs typeface="Arial"/>
              </a:rPr>
              <a:t>So if any hacker (or rogue employee – never forget some people just want to watch the world burn) we need to validate the API requests to either break things or check for private information.</a:t>
            </a:r>
          </a:p>
          <a:p>
            <a:r>
              <a:rPr lang="en-US">
                <a:cs typeface="Arial"/>
              </a:rPr>
              <a:t>Just because it is an internal API doesn't mean people will not find out about it and try to abuse it!</a:t>
            </a:r>
            <a:endParaRPr lang="en-US"/>
          </a:p>
        </p:txBody>
      </p:sp>
      <p:sp>
        <p:nvSpPr>
          <p:cNvPr id="4" name="Slide Number Placeholder 3">
            <a:extLst>
              <a:ext uri="{FF2B5EF4-FFF2-40B4-BE49-F238E27FC236}">
                <a16:creationId xmlns:a16="http://schemas.microsoft.com/office/drawing/2014/main" id="{62FE6ED2-C284-49DA-67EC-EEB2E440ECBF}"/>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17</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424688798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C22B3-EE50-A5DD-CEFC-B6A9D0B2E4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ABFC2A-E120-D465-EADF-B4ADDEE7FC60}"/>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97D609DF-0348-41B6-944A-ED4D06ABF923}"/>
              </a:ext>
            </a:extLst>
          </p:cNvPr>
          <p:cNvSpPr>
            <a:spLocks noGrp="1"/>
          </p:cNvSpPr>
          <p:nvPr>
            <p:ph type="body" idx="1"/>
          </p:nvPr>
        </p:nvSpPr>
        <p:spPr/>
        <p:txBody>
          <a:bodyPr/>
          <a:lstStyle/>
          <a:p>
            <a:r>
              <a:rPr lang="en-US" dirty="0">
                <a:cs typeface="Arial"/>
              </a:rPr>
              <a:t>So here is an example of removing fields one by one from the request, and the error is an HTTP 500 categorized as a "Server error". There is another message but it is cryptic about a bad character in JSON, which is a bit weird, probably something internal to their code.</a:t>
            </a:r>
            <a:br>
              <a:rPr lang="en-US" dirty="0">
                <a:cs typeface="+mn-lt"/>
              </a:rPr>
            </a:br>
            <a:r>
              <a:rPr lang="en-US">
                <a:cs typeface="Arial"/>
              </a:rPr>
              <a:t>Notice that not all parameters are in the list to be removed. "orderBy" and "managedAssets" are seemingly not required and will return HTTP 200.</a:t>
            </a:r>
          </a:p>
          <a:p>
            <a:r>
              <a:rPr lang="en-US">
                <a:cs typeface="Arial"/>
              </a:rPr>
              <a:t>Other negative tests won't be shown, but some more are present in the QA Clique GitHub repo for these API tests</a:t>
            </a:r>
            <a:endParaRPr lang="en-US" dirty="0">
              <a:cs typeface="Arial"/>
            </a:endParaRPr>
          </a:p>
        </p:txBody>
      </p:sp>
      <p:sp>
        <p:nvSpPr>
          <p:cNvPr id="4" name="Slide Number Placeholder 3">
            <a:extLst>
              <a:ext uri="{FF2B5EF4-FFF2-40B4-BE49-F238E27FC236}">
                <a16:creationId xmlns:a16="http://schemas.microsoft.com/office/drawing/2014/main" id="{582ACB19-9B55-5C6E-CE6F-F7B2CD9B0AEC}"/>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18</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16112854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756CE-D3FB-70A4-C762-ED6C18790E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A65C22-FA0B-0518-D0E4-DF9AA505EF2B}"/>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D1AAE709-CD27-79B8-4B40-C2EED249439E}"/>
              </a:ext>
            </a:extLst>
          </p:cNvPr>
          <p:cNvSpPr>
            <a:spLocks noGrp="1"/>
          </p:cNvSpPr>
          <p:nvPr>
            <p:ph type="body" idx="1"/>
          </p:nvPr>
        </p:nvSpPr>
        <p:spPr/>
        <p:txBody>
          <a:bodyPr/>
          <a:lstStyle/>
          <a:p>
            <a:endParaRPr lang="en-US" dirty="0">
              <a:cs typeface="Arial"/>
            </a:endParaRPr>
          </a:p>
        </p:txBody>
      </p:sp>
      <p:sp>
        <p:nvSpPr>
          <p:cNvPr id="4" name="Slide Number Placeholder 3">
            <a:extLst>
              <a:ext uri="{FF2B5EF4-FFF2-40B4-BE49-F238E27FC236}">
                <a16:creationId xmlns:a16="http://schemas.microsoft.com/office/drawing/2014/main" id="{8305FC82-2B24-9581-C281-8D1CEAFB938F}"/>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19</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39410230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ED220-37F5-4C33-54CE-6BB18E03BB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6C3A8D-95AD-6969-86A0-44FB54F3CB2C}"/>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72FBCB37-7505-4B48-097F-281AC472746E}"/>
              </a:ext>
            </a:extLst>
          </p:cNvPr>
          <p:cNvSpPr>
            <a:spLocks noGrp="1"/>
          </p:cNvSpPr>
          <p:nvPr>
            <p:ph type="body" idx="1"/>
          </p:nvPr>
        </p:nvSpPr>
        <p:spPr/>
        <p:txBody>
          <a:bodyPr/>
          <a:lstStyle/>
          <a:p>
            <a:r>
              <a:rPr lang="en-US">
                <a:cs typeface="Arial"/>
              </a:rPr>
              <a:t>Nightwatch.JS also has mocks and spies, but not using Webdriver Bidi just yet...</a:t>
            </a:r>
            <a:endParaRPr lang="en-US" dirty="0">
              <a:cs typeface="Arial"/>
            </a:endParaRPr>
          </a:p>
        </p:txBody>
      </p:sp>
      <p:sp>
        <p:nvSpPr>
          <p:cNvPr id="4" name="Slide Number Placeholder 3">
            <a:extLst>
              <a:ext uri="{FF2B5EF4-FFF2-40B4-BE49-F238E27FC236}">
                <a16:creationId xmlns:a16="http://schemas.microsoft.com/office/drawing/2014/main" id="{332AFD94-02BD-4239-83D5-A70CBB47B0CA}"/>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20</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20962205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15698-AAF3-17E9-D8C2-952D843010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DBB9A-AB98-5870-5536-E60C596D0DEA}"/>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05C68F98-112C-04B6-FE8E-5AB66ECBB6E9}"/>
              </a:ext>
            </a:extLst>
          </p:cNvPr>
          <p:cNvSpPr>
            <a:spLocks noGrp="1"/>
          </p:cNvSpPr>
          <p:nvPr>
            <p:ph type="body" idx="1"/>
          </p:nvPr>
        </p:nvSpPr>
        <p:spPr/>
        <p:txBody>
          <a:bodyPr/>
          <a:lstStyle/>
          <a:p>
            <a:r>
              <a:rPr lang="en-US" dirty="0">
                <a:cs typeface="Arial"/>
              </a:rPr>
              <a:t>This is Webdriver.io code, not showing the page object file and everything, but we get to see the entire test in one screen. All source code is shared on GitHub.</a:t>
            </a:r>
            <a:endParaRPr lang="en-US"/>
          </a:p>
          <a:p>
            <a:endParaRPr lang="en-US" dirty="0">
              <a:cs typeface="Arial"/>
            </a:endParaRPr>
          </a:p>
          <a:p>
            <a:r>
              <a:rPr lang="en-US" dirty="0">
                <a:cs typeface="Arial"/>
              </a:rPr>
              <a:t>We do as described on previous slide – once we open the web page (defined in the configuration, so no URL listed here) we set up the "spy" on the specific API call that will be triggered when we click on the column header. This will give us the API request and response and we can simply dissect the request body to see that the proper field/column name is used and that the sort order is the correct one as well.</a:t>
            </a:r>
          </a:p>
          <a:p>
            <a:endParaRPr lang="en-US" dirty="0">
              <a:cs typeface="Arial"/>
            </a:endParaRPr>
          </a:p>
          <a:p>
            <a:r>
              <a:rPr lang="en-US" dirty="0">
                <a:cs typeface="Arial"/>
              </a:rPr>
              <a:t>The check for the indicator is done at the end and is fairly straightforward. With judicious use of data-</a:t>
            </a:r>
            <a:r>
              <a:rPr lang="en-US" err="1">
                <a:cs typeface="Arial"/>
              </a:rPr>
              <a:t>testid</a:t>
            </a:r>
            <a:r>
              <a:rPr lang="en-US" dirty="0">
                <a:cs typeface="Arial"/>
              </a:rPr>
              <a:t> attributes (force your developers to do a good job there!), we can at a glance see which column the sorting indicator appeared in and the sorting direction as an attribute.</a:t>
            </a:r>
          </a:p>
          <a:p>
            <a:endParaRPr lang="en-US" dirty="0">
              <a:cs typeface="Arial"/>
            </a:endParaRPr>
          </a:p>
          <a:p>
            <a:r>
              <a:rPr lang="en-US" dirty="0">
                <a:cs typeface="Arial"/>
              </a:rPr>
              <a:t>No actual check of the sorting is done, because it was tested in API already.</a:t>
            </a:r>
          </a:p>
        </p:txBody>
      </p:sp>
      <p:sp>
        <p:nvSpPr>
          <p:cNvPr id="4" name="Slide Number Placeholder 3">
            <a:extLst>
              <a:ext uri="{FF2B5EF4-FFF2-40B4-BE49-F238E27FC236}">
                <a16:creationId xmlns:a16="http://schemas.microsoft.com/office/drawing/2014/main" id="{17D18721-000D-2ACD-BD1F-7767A4FA0622}"/>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21</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32741716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30CCD-0E4D-DB4F-2014-8FB31B4008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F1AC0D-4A6F-E80E-B08C-6B86E54C37E1}"/>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4E46BD69-B6BA-8150-82A8-0BF01FA8E86A}"/>
              </a:ext>
            </a:extLst>
          </p:cNvPr>
          <p:cNvSpPr>
            <a:spLocks noGrp="1"/>
          </p:cNvSpPr>
          <p:nvPr>
            <p:ph type="body" idx="1"/>
          </p:nvPr>
        </p:nvSpPr>
        <p:spPr/>
        <p:txBody>
          <a:bodyPr/>
          <a:lstStyle/>
          <a:p>
            <a:r>
              <a:rPr lang="en-US">
                <a:cs typeface="Arial"/>
              </a:rPr>
              <a:t>Tests passed! We output the API request body for confirmation, but since the code did all the proper verification, it was not needed.</a:t>
            </a:r>
            <a:endParaRPr lang="en-US" dirty="0">
              <a:cs typeface="Arial"/>
            </a:endParaRPr>
          </a:p>
        </p:txBody>
      </p:sp>
      <p:sp>
        <p:nvSpPr>
          <p:cNvPr id="4" name="Slide Number Placeholder 3">
            <a:extLst>
              <a:ext uri="{FF2B5EF4-FFF2-40B4-BE49-F238E27FC236}">
                <a16:creationId xmlns:a16="http://schemas.microsoft.com/office/drawing/2014/main" id="{B601FD04-6C39-F730-E45A-607BB310B096}"/>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22</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37745648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412CD-693B-4E22-C7C3-2B311E4ACD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9733AD-49CD-8AC3-11AF-E86685192DA6}"/>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DAE3A848-7EAA-248C-A0F7-53948EA436DF}"/>
              </a:ext>
            </a:extLst>
          </p:cNvPr>
          <p:cNvSpPr>
            <a:spLocks noGrp="1"/>
          </p:cNvSpPr>
          <p:nvPr>
            <p:ph type="body" idx="1"/>
          </p:nvPr>
        </p:nvSpPr>
        <p:spPr/>
        <p:txBody>
          <a:bodyPr/>
          <a:lstStyle/>
          <a:p>
            <a:r>
              <a:rPr lang="en-US" dirty="0">
                <a:cs typeface="Arial"/>
              </a:rPr>
              <a:t>Now for the Front End doing the sorting...</a:t>
            </a:r>
          </a:p>
          <a:p>
            <a:r>
              <a:rPr lang="en-US" dirty="0">
                <a:cs typeface="Arial"/>
              </a:rPr>
              <a:t>We still set up a "spy" on the specific API call, just to confirm it WON`T be called when we click on the column header.</a:t>
            </a:r>
          </a:p>
          <a:p>
            <a:r>
              <a:rPr lang="en-US" dirty="0">
                <a:cs typeface="Arial"/>
              </a:rPr>
              <a:t>We do the same check as before for the sort indicator and then we do a test of the sort itself – get the values from the screen, sort the list ourselves and confirm that our sorted list matches the original one.</a:t>
            </a:r>
          </a:p>
          <a:p>
            <a:r>
              <a:rPr lang="en-US" dirty="0">
                <a:cs typeface="Arial"/>
              </a:rPr>
              <a:t>Be careful with JavaScript when comparing the two list of values to make sure that you are not comparing the same variables (by reference!). Hence the spread operator on line 34.</a:t>
            </a:r>
          </a:p>
        </p:txBody>
      </p:sp>
      <p:sp>
        <p:nvSpPr>
          <p:cNvPr id="4" name="Slide Number Placeholder 3">
            <a:extLst>
              <a:ext uri="{FF2B5EF4-FFF2-40B4-BE49-F238E27FC236}">
                <a16:creationId xmlns:a16="http://schemas.microsoft.com/office/drawing/2014/main" id="{64E07A86-56B9-2A7D-1CC9-C435B93D6004}"/>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23</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42057186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4C86C-1B19-8D02-298B-4503C48C85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913523-7057-0EBA-9097-B5AF081CDEE7}"/>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C870068E-0D57-783D-4E8C-90C542A13554}"/>
              </a:ext>
            </a:extLst>
          </p:cNvPr>
          <p:cNvSpPr>
            <a:spLocks noGrp="1"/>
          </p:cNvSpPr>
          <p:nvPr>
            <p:ph type="body" idx="1"/>
          </p:nvPr>
        </p:nvSpPr>
        <p:spPr/>
        <p:txBody>
          <a:bodyPr/>
          <a:lstStyle/>
          <a:p>
            <a:r>
              <a:rPr lang="en-US">
                <a:cs typeface="Arial"/>
              </a:rPr>
              <a:t>There are dedicated tools to do proper UI tests, like </a:t>
            </a:r>
            <a:r>
              <a:rPr lang="en-US" dirty="0">
                <a:cs typeface="Arial"/>
                <a:hlinkClick r:id="rId3"/>
              </a:rPr>
              <a:t>Applitools Eyes</a:t>
            </a:r>
            <a:r>
              <a:rPr lang="en-US">
                <a:cs typeface="Arial"/>
              </a:rPr>
              <a:t> and </a:t>
            </a:r>
            <a:r>
              <a:rPr lang="en-US" dirty="0">
                <a:cs typeface="Arial"/>
                <a:hlinkClick r:id="rId4"/>
              </a:rPr>
              <a:t>Percy</a:t>
            </a:r>
            <a:endParaRPr lang="en-US" dirty="0">
              <a:cs typeface="Arial"/>
            </a:endParaRPr>
          </a:p>
        </p:txBody>
      </p:sp>
      <p:sp>
        <p:nvSpPr>
          <p:cNvPr id="4" name="Slide Number Placeholder 3">
            <a:extLst>
              <a:ext uri="{FF2B5EF4-FFF2-40B4-BE49-F238E27FC236}">
                <a16:creationId xmlns:a16="http://schemas.microsoft.com/office/drawing/2014/main" id="{EB7E396F-89E0-72EE-F27F-3B12EA0C840E}"/>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24</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32558861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08A10-D1FA-A165-5008-E0C4F31F25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25FD05-60C9-A347-0B10-84909FE78C20}"/>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0B3D8E29-E428-A25F-F5C8-17856BE0A1E7}"/>
              </a:ext>
            </a:extLst>
          </p:cNvPr>
          <p:cNvSpPr>
            <a:spLocks noGrp="1"/>
          </p:cNvSpPr>
          <p:nvPr>
            <p:ph type="body" idx="1"/>
          </p:nvPr>
        </p:nvSpPr>
        <p:spPr/>
        <p:txBody>
          <a:bodyPr/>
          <a:lstStyle/>
          <a:p>
            <a:endParaRPr lang="en-US" dirty="0"/>
          </a:p>
          <a:p>
            <a:endParaRPr lang="en-US" dirty="0">
              <a:cs typeface="Arial"/>
            </a:endParaRPr>
          </a:p>
        </p:txBody>
      </p:sp>
      <p:sp>
        <p:nvSpPr>
          <p:cNvPr id="4" name="Slide Number Placeholder 3">
            <a:extLst>
              <a:ext uri="{FF2B5EF4-FFF2-40B4-BE49-F238E27FC236}">
                <a16:creationId xmlns:a16="http://schemas.microsoft.com/office/drawing/2014/main" id="{4384C782-E71B-B5E4-5617-28E9D84B7D38}"/>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25</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25023316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0FAAD-83E5-C912-2AE4-BE8B38B8E8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054960-BDD2-D292-0631-6C10214017C9}"/>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81EE50BA-F6E8-2DF2-3C61-0CCBE2B9A700}"/>
              </a:ext>
            </a:extLst>
          </p:cNvPr>
          <p:cNvSpPr>
            <a:spLocks noGrp="1"/>
          </p:cNvSpPr>
          <p:nvPr>
            <p:ph type="body" idx="1"/>
          </p:nvPr>
        </p:nvSpPr>
        <p:spPr/>
        <p:txBody>
          <a:bodyPr/>
          <a:lstStyle/>
          <a:p>
            <a:r>
              <a:rPr lang="en-US">
                <a:cs typeface="Arial"/>
              </a:rPr>
              <a:t>Checking only one row, but since we'll run this many times over the life of the product development, we'll eventually find issues if there are. But you can also just check every single row each time, but that will take more time – which we are always fighting against when running UI automation</a:t>
            </a:r>
            <a:endParaRPr lang="en-US" dirty="0">
              <a:cs typeface="Arial"/>
            </a:endParaRPr>
          </a:p>
        </p:txBody>
      </p:sp>
      <p:sp>
        <p:nvSpPr>
          <p:cNvPr id="4" name="Slide Number Placeholder 3">
            <a:extLst>
              <a:ext uri="{FF2B5EF4-FFF2-40B4-BE49-F238E27FC236}">
                <a16:creationId xmlns:a16="http://schemas.microsoft.com/office/drawing/2014/main" id="{E981DBC9-FCC7-E306-C69D-E7170D5A24A0}"/>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26</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167303075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EC420-480E-6A8E-11CF-E11E9369C7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96ADFD-80A9-73E2-1799-E5049DF9ABF2}"/>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C5B0AE42-E7C7-9849-A749-0F8AF7C76DB9}"/>
              </a:ext>
            </a:extLst>
          </p:cNvPr>
          <p:cNvSpPr>
            <a:spLocks noGrp="1"/>
          </p:cNvSpPr>
          <p:nvPr>
            <p:ph type="body" idx="1"/>
          </p:nvPr>
        </p:nvSpPr>
        <p:spPr/>
        <p:txBody>
          <a:bodyPr/>
          <a:lstStyle/>
          <a:p>
            <a:r>
              <a:rPr lang="en-US" dirty="0">
                <a:cs typeface="Arial"/>
              </a:rPr>
              <a:t>Similar to the API, yes we can just trust that the number displayed is right, but it's always safer to count the number of displayed entries ourselves as well.</a:t>
            </a:r>
          </a:p>
          <a:p>
            <a:endParaRPr lang="en-US" dirty="0">
              <a:cs typeface="Arial"/>
            </a:endParaRPr>
          </a:p>
          <a:p>
            <a:r>
              <a:rPr lang="en-US" dirty="0">
                <a:cs typeface="Arial"/>
              </a:rPr>
              <a:t>The "less or equal" bit is if ever the data source was smaller than the maximum displayed count. Doesn't apply in our case, but it could and also if proper pagination existed there, it would probably also happen on the last page.</a:t>
            </a:r>
            <a:endParaRPr lang="en-US" dirty="0">
              <a:cs typeface="+mn-lt"/>
            </a:endParaRPr>
          </a:p>
        </p:txBody>
      </p:sp>
      <p:sp>
        <p:nvSpPr>
          <p:cNvPr id="4" name="Slide Number Placeholder 3">
            <a:extLst>
              <a:ext uri="{FF2B5EF4-FFF2-40B4-BE49-F238E27FC236}">
                <a16:creationId xmlns:a16="http://schemas.microsoft.com/office/drawing/2014/main" id="{3472F094-8229-9200-373F-C6618A2B2E47}"/>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27</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30526419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C8CC6-0AF7-95DA-4513-D327EC9499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02E0A4-8908-F4FF-F68A-0594DA6C35F5}"/>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BCCFC2D2-B8C0-B81A-039F-A7C52C4586D6}"/>
              </a:ext>
            </a:extLst>
          </p:cNvPr>
          <p:cNvSpPr>
            <a:spLocks noGrp="1"/>
          </p:cNvSpPr>
          <p:nvPr>
            <p:ph type="body" idx="1"/>
          </p:nvPr>
        </p:nvSpPr>
        <p:spPr/>
        <p:txBody>
          <a:bodyPr/>
          <a:lstStyle/>
          <a:p>
            <a:r>
              <a:rPr lang="en-US">
                <a:cs typeface="Arial"/>
              </a:rPr>
              <a:t>Missing are the date formatting tests, that take the date from the API in UNIX-like format and coverts it to the proper local date. Left as homework for those interested!</a:t>
            </a:r>
            <a:endParaRPr lang="en-US" dirty="0">
              <a:cs typeface="Arial"/>
            </a:endParaRPr>
          </a:p>
        </p:txBody>
      </p:sp>
      <p:sp>
        <p:nvSpPr>
          <p:cNvPr id="4" name="Slide Number Placeholder 3">
            <a:extLst>
              <a:ext uri="{FF2B5EF4-FFF2-40B4-BE49-F238E27FC236}">
                <a16:creationId xmlns:a16="http://schemas.microsoft.com/office/drawing/2014/main" id="{B19E8662-B803-4A4D-FB9E-6E930007F7A2}"/>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28</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25932336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065656-43DF-E381-E672-76CB36C83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98490A-9D8A-7BF7-8E12-8282F3C57788}"/>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66560A97-0B5E-85E2-1656-C063B81B0776}"/>
              </a:ext>
            </a:extLst>
          </p:cNvPr>
          <p:cNvSpPr>
            <a:spLocks noGrp="1"/>
          </p:cNvSpPr>
          <p:nvPr>
            <p:ph type="body" idx="1"/>
          </p:nvPr>
        </p:nvSpPr>
        <p:spPr/>
        <p:txBody>
          <a:bodyPr/>
          <a:lstStyle/>
          <a:p>
            <a:r>
              <a:rPr lang="en-US" dirty="0">
                <a:cs typeface="Arial"/>
              </a:rPr>
              <a:t>We spoke before about what purely UI (and UX) tests are. Let's consider the tests we showed as Front End tests or "In Browser" tests, but they are not necessarily End to End test.</a:t>
            </a:r>
          </a:p>
          <a:p>
            <a:endParaRPr lang="en-US" dirty="0">
              <a:cs typeface="Arial"/>
            </a:endParaRPr>
          </a:p>
          <a:p>
            <a:r>
              <a:rPr lang="en-US" dirty="0">
                <a:cs typeface="Arial"/>
              </a:rPr>
              <a:t>In fact, insisting on these being End to End test is </a:t>
            </a:r>
            <a:r>
              <a:rPr lang="en-US" dirty="0" err="1">
                <a:cs typeface="Arial"/>
              </a:rPr>
              <a:t>counter productive</a:t>
            </a:r>
            <a:r>
              <a:rPr lang="en-US" dirty="0">
                <a:cs typeface="Arial"/>
              </a:rPr>
              <a:t>, regardless of the nonsense that "this is what the customer will do". Yeah, the customer will click the column header and the API will sort, that's what is happening, you don't need to test the sorting in the browser, I hope I've convinced you of this so far.</a:t>
            </a:r>
          </a:p>
        </p:txBody>
      </p:sp>
      <p:sp>
        <p:nvSpPr>
          <p:cNvPr id="4" name="Slide Number Placeholder 3">
            <a:extLst>
              <a:ext uri="{FF2B5EF4-FFF2-40B4-BE49-F238E27FC236}">
                <a16:creationId xmlns:a16="http://schemas.microsoft.com/office/drawing/2014/main" id="{430AD784-3AD0-9686-5E7B-8D708285E75E}"/>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29</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15365969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3674B-5C5E-AC56-01DD-3ADEBE4B39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717880-F5F4-97CE-3406-D32DB6D9D7F7}"/>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CC9CD6DB-39C5-7733-AAD6-01072A47A346}"/>
              </a:ext>
            </a:extLst>
          </p:cNvPr>
          <p:cNvSpPr>
            <a:spLocks noGrp="1"/>
          </p:cNvSpPr>
          <p:nvPr>
            <p:ph type="body" idx="1"/>
          </p:nvPr>
        </p:nvSpPr>
        <p:spPr/>
        <p:txBody>
          <a:bodyPr/>
          <a:lstStyle/>
          <a:p>
            <a:r>
              <a:rPr lang="en-US" dirty="0">
                <a:cs typeface="Arial"/>
              </a:rPr>
              <a:t>In the spirit of not needing to do End to End tests, here's a test that could be somewhat difficult to do in an End-to-End fashion: we want no data to be returned. Will the Front End handle this properly? Instead of having to muck around with DB data or other, we simply mock the API call to return an empty data response (see line 14, "data" is indeed an empty array).</a:t>
            </a:r>
          </a:p>
          <a:p>
            <a:r>
              <a:rPr lang="en-US" dirty="0">
                <a:cs typeface="Arial"/>
              </a:rPr>
              <a:t>No working backend is needed to run this test, this is all done with built-in mock functionality in your favorite test framework (Webdriver.io again, in this case)</a:t>
            </a:r>
          </a:p>
        </p:txBody>
      </p:sp>
      <p:sp>
        <p:nvSpPr>
          <p:cNvPr id="4" name="Slide Number Placeholder 3">
            <a:extLst>
              <a:ext uri="{FF2B5EF4-FFF2-40B4-BE49-F238E27FC236}">
                <a16:creationId xmlns:a16="http://schemas.microsoft.com/office/drawing/2014/main" id="{59FF5379-8175-94B1-53E5-CBDA554BCEAE}"/>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30</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9125435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2A883-BFEF-3075-3323-938C4D8A8B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782B30-459D-7210-60B0-32BC4DB2AA07}"/>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04EBAC20-A723-825B-814C-B662A16C018B}"/>
              </a:ext>
            </a:extLst>
          </p:cNvPr>
          <p:cNvSpPr>
            <a:spLocks noGrp="1"/>
          </p:cNvSpPr>
          <p:nvPr>
            <p:ph type="body" idx="1"/>
          </p:nvPr>
        </p:nvSpPr>
        <p:spPr/>
        <p:txBody>
          <a:bodyPr/>
          <a:lstStyle/>
          <a:p>
            <a:r>
              <a:rPr lang="en-US" dirty="0">
                <a:cs typeface="Arial"/>
              </a:rPr>
              <a:t>JS Dom, will "fake" a browser by creating a DOM and analyzing it. It's ok and much faster than rendering in a browser, but this is an example of where maybe not doing what the customer will do (seeing the actual component in the browser) might be counterproductive. No customer will ever run your product in JS Dom, so if it passes there  but fails in browser, all you are doing is wasting time.</a:t>
            </a:r>
          </a:p>
        </p:txBody>
      </p:sp>
      <p:sp>
        <p:nvSpPr>
          <p:cNvPr id="4" name="Slide Number Placeholder 3">
            <a:extLst>
              <a:ext uri="{FF2B5EF4-FFF2-40B4-BE49-F238E27FC236}">
                <a16:creationId xmlns:a16="http://schemas.microsoft.com/office/drawing/2014/main" id="{84EB5A14-8623-279E-608E-E830F0BF01B4}"/>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31</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2903875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8771B-4CE9-4DE2-3899-5705AE0FA1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CCBB65-E92B-9695-9734-EA8B9AE3F46A}"/>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FE591442-B15D-BEBB-3EEB-7CB27ED99C4A}"/>
              </a:ext>
            </a:extLst>
          </p:cNvPr>
          <p:cNvSpPr>
            <a:spLocks noGrp="1"/>
          </p:cNvSpPr>
          <p:nvPr>
            <p:ph type="body" idx="1"/>
          </p:nvPr>
        </p:nvSpPr>
        <p:spPr/>
        <p:txBody>
          <a:bodyPr/>
          <a:lstStyle/>
          <a:p>
            <a:r>
              <a:rPr lang="en-US" dirty="0">
                <a:cs typeface="Arial"/>
              </a:rPr>
              <a:t>Here is an example of using Component Testing with Webdriver.io. In this, we will not have the full web site, nor the API actually running. This test will render the Funds Table (you will notice a lack of styling, since it's not loading CSS files), but we still need to setup a mock so the API call does not error out. Since we don't have full access to all the Webdriver.io functionality, we did the mock "in browser" by replacing the </a:t>
            </a:r>
            <a:r>
              <a:rPr lang="en-US" dirty="0" err="1">
                <a:cs typeface="Arial"/>
              </a:rPr>
              <a:t>window.fetch</a:t>
            </a:r>
            <a:r>
              <a:rPr lang="en-US" dirty="0">
                <a:cs typeface="Arial"/>
              </a:rPr>
              <a:t> command (the mock data is hidden so the screenshot is viewable without being too small).</a:t>
            </a:r>
          </a:p>
          <a:p>
            <a:endParaRPr lang="en-US" dirty="0">
              <a:cs typeface="Arial"/>
            </a:endParaRPr>
          </a:p>
          <a:p>
            <a:r>
              <a:rPr lang="en-US" dirty="0">
                <a:cs typeface="Arial"/>
              </a:rPr>
              <a:t>Webdriver.io Component Testing relies on React Testing Library to render the table. It fully supports using RTL commands or native WDIO commands (which we decided to use, besides the original render). It also relies on Vite to render the component. It is compatible with a lot of frontend development frameworks, see the doc.</a:t>
            </a:r>
          </a:p>
          <a:p>
            <a:endParaRPr lang="en-US" dirty="0">
              <a:cs typeface="Arial"/>
            </a:endParaRPr>
          </a:p>
          <a:p>
            <a:r>
              <a:rPr lang="en-US" dirty="0">
                <a:cs typeface="Arial"/>
              </a:rPr>
              <a:t>In this case, we decided to do some actual test – most RTL tests that I've seen developers do was to display the component and check that it was displayed. Honestly... that’s not much of a test! We are actually doing an action – clicking the column header to sort. Since we use the local sorting page, it will indeed sort the data without firing an API call. I skipped the sort validation, but we could do one very similar to the previous test. In this case we simply did the column header check for the sorting symbol.</a:t>
            </a:r>
          </a:p>
        </p:txBody>
      </p:sp>
      <p:sp>
        <p:nvSpPr>
          <p:cNvPr id="4" name="Slide Number Placeholder 3">
            <a:extLst>
              <a:ext uri="{FF2B5EF4-FFF2-40B4-BE49-F238E27FC236}">
                <a16:creationId xmlns:a16="http://schemas.microsoft.com/office/drawing/2014/main" id="{0AC6F0D2-8F7A-8E2D-8EA8-B8E70BBF2144}"/>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32</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31953433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EA6D3-8A57-019F-2AB6-4B63CC5473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7E915E-0E89-901C-9D12-0CE300A525C6}"/>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C67C5E47-D991-3172-CF54-BA5D87C2F2BC}"/>
              </a:ext>
            </a:extLst>
          </p:cNvPr>
          <p:cNvSpPr>
            <a:spLocks noGrp="1"/>
          </p:cNvSpPr>
          <p:nvPr>
            <p:ph type="body" idx="1"/>
          </p:nvPr>
        </p:nvSpPr>
        <p:spPr/>
        <p:txBody>
          <a:bodyPr/>
          <a:lstStyle/>
          <a:p>
            <a:r>
              <a:rPr lang="en-US" dirty="0">
                <a:cs typeface="Arial"/>
              </a:rPr>
              <a:t>This is a very fluid list – more and more developers complain that the overhead of mocks, stubs and all needed for Unit testing might not be worth it compared to simply moving to a similar test at the integration level. Maybe AI can help generate these mocks and stubs, but then again, AI can probably also help with these integration tests. The important thing is to discuss this and come to an agreement on what is tested where. There is a time penalty in execution for integration tests, but it is nowhere near the time penalty (and brittleness) that comes with End to End tests.</a:t>
            </a:r>
          </a:p>
        </p:txBody>
      </p:sp>
      <p:sp>
        <p:nvSpPr>
          <p:cNvPr id="4" name="Slide Number Placeholder 3">
            <a:extLst>
              <a:ext uri="{FF2B5EF4-FFF2-40B4-BE49-F238E27FC236}">
                <a16:creationId xmlns:a16="http://schemas.microsoft.com/office/drawing/2014/main" id="{6E747C6B-6A1C-3E57-C6DC-D99A3E7C05F8}"/>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33</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18798996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C1B8A-7D6C-0EF5-05A4-8A948B54CF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437CB4-D8C3-2611-0C4E-9D530B0AF4E1}"/>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D5779A99-D30A-0B03-60DA-0E11E53B91CD}"/>
              </a:ext>
            </a:extLst>
          </p:cNvPr>
          <p:cNvSpPr>
            <a:spLocks noGrp="1"/>
          </p:cNvSpPr>
          <p:nvPr>
            <p:ph type="body" idx="1"/>
          </p:nvPr>
        </p:nvSpPr>
        <p:spPr/>
        <p:txBody>
          <a:bodyPr/>
          <a:lstStyle/>
          <a:p>
            <a:r>
              <a:rPr lang="en-US" dirty="0">
                <a:cs typeface="Arial"/>
              </a:rPr>
              <a:t>But I hope it is pretty clear that there is a lot that can (and should!) be tested before we get to End to End test.</a:t>
            </a:r>
          </a:p>
        </p:txBody>
      </p:sp>
      <p:sp>
        <p:nvSpPr>
          <p:cNvPr id="4" name="Slide Number Placeholder 3">
            <a:extLst>
              <a:ext uri="{FF2B5EF4-FFF2-40B4-BE49-F238E27FC236}">
                <a16:creationId xmlns:a16="http://schemas.microsoft.com/office/drawing/2014/main" id="{954C04A7-6482-BE98-F741-2E20419BBDD9}"/>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34</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37272988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7B21B-45CA-BA45-5AF8-8EEE3D62FE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C07B6B-BDB2-BF3D-D23B-61E3D65FBEE0}"/>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9CE75D36-34A0-4BCF-617C-1CE1B74E86F4}"/>
              </a:ext>
            </a:extLst>
          </p:cNvPr>
          <p:cNvSpPr>
            <a:spLocks noGrp="1"/>
          </p:cNvSpPr>
          <p:nvPr>
            <p:ph type="body" idx="1"/>
          </p:nvPr>
        </p:nvSpPr>
        <p:spPr/>
        <p:txBody>
          <a:bodyPr/>
          <a:lstStyle/>
          <a:p>
            <a:r>
              <a:rPr lang="en-US" dirty="0">
                <a:cs typeface="Arial"/>
              </a:rPr>
              <a:t>End to End testing is what most QA people do. I believe it comes from their first introduction to automation being Selenium or other tool and all they see is a web page and they start clicking things everywhere. While it's true that this is what a customer would do, it's not the be all and end all:</a:t>
            </a:r>
          </a:p>
          <a:p>
            <a:pPr marL="171450" indent="-171450">
              <a:buFont typeface="Calibri"/>
              <a:buChar char="-"/>
            </a:pPr>
            <a:r>
              <a:rPr lang="en-US" dirty="0">
                <a:cs typeface="Arial"/>
              </a:rPr>
              <a:t>You won’t be able to do End to End testing until the development is mostly done. This goes against the philosophy of testing as early as possible (the earlier you catch bugs, the easier it is to fix them)</a:t>
            </a:r>
          </a:p>
          <a:p>
            <a:pPr marL="171450" indent="-171450">
              <a:buFont typeface="Calibri"/>
              <a:buChar char="-"/>
            </a:pPr>
            <a:r>
              <a:rPr lang="en-US" dirty="0">
                <a:cs typeface="Arial"/>
              </a:rPr>
              <a:t>End to End testing by only manipulating the UI doesn’t give </a:t>
            </a:r>
            <a:r>
              <a:rPr lang="en-US" dirty="0" err="1">
                <a:cs typeface="Arial"/>
              </a:rPr>
              <a:t>you</a:t>
            </a:r>
            <a:r>
              <a:rPr lang="en-US" dirty="0">
                <a:cs typeface="Arial"/>
              </a:rPr>
              <a:t> insight into how the product is actually working. Is it making too many API calls? Is the performance adequate, both in terms of the backend and page loading time? And many others. You need to focus on how the product is behaving, not just that it "works" superficially when you click buttons</a:t>
            </a:r>
          </a:p>
          <a:p>
            <a:pPr marL="171450" indent="-171450">
              <a:buFont typeface="Calibri"/>
              <a:buChar char="-"/>
            </a:pPr>
            <a:endParaRPr lang="en-US" dirty="0">
              <a:cs typeface="Arial"/>
            </a:endParaRPr>
          </a:p>
          <a:p>
            <a:r>
              <a:rPr lang="en-US" dirty="0">
                <a:cs typeface="Arial"/>
              </a:rPr>
              <a:t>I have shown many different types of testing that are not just end-to-end. It doesn't mean that you have to use all of them or even that QA people should be doing these tests. Maybe Developers should do them. The important bit is to know that these different types of tests exists and when it would be best to use them. We don't need to duplicate test efforts between Devs and QA – if they have unit tests that cover things adequately, it serves little reason to create a bunch of API or UI tests that will duplicate these checks</a:t>
            </a:r>
          </a:p>
          <a:p>
            <a:endParaRPr lang="en-US" dirty="0">
              <a:cs typeface="Arial"/>
            </a:endParaRPr>
          </a:p>
          <a:p>
            <a:r>
              <a:rPr lang="en-US" dirty="0">
                <a:cs typeface="Arial"/>
              </a:rPr>
              <a:t>Any tests, even non-automated tests, are </a:t>
            </a:r>
            <a:r>
              <a:rPr lang="en-US" dirty="0" err="1">
                <a:cs typeface="Arial"/>
              </a:rPr>
              <a:t>usefuly</a:t>
            </a:r>
            <a:r>
              <a:rPr lang="en-US" dirty="0">
                <a:cs typeface="Arial"/>
              </a:rPr>
              <a:t> to EVERYONE, not just QA people. A good suite of automated test that execute quickly are great for giving quick feedback to developers when they do changes (whether big or small). Also, developers </a:t>
            </a:r>
            <a:r>
              <a:rPr lang="en-US" dirty="0" err="1">
                <a:cs typeface="Arial"/>
              </a:rPr>
              <a:t>wrting</a:t>
            </a:r>
            <a:r>
              <a:rPr lang="en-US" dirty="0">
                <a:cs typeface="Arial"/>
              </a:rPr>
              <a:t> properly testable code can make life easier for everyone. There will always be a bit of tension between Devs and QA, oftentimes because Devs think that QA are just button clickers. It's time to grow your skills and technical knowledge so there can be discussions with respect between people of similar abilities.</a:t>
            </a:r>
          </a:p>
          <a:p>
            <a:endParaRPr lang="en-US" dirty="0">
              <a:cs typeface="Arial"/>
            </a:endParaRPr>
          </a:p>
          <a:p>
            <a:r>
              <a:rPr lang="en-US" dirty="0">
                <a:cs typeface="Arial"/>
              </a:rPr>
              <a:t>I use AI a fair amount, but if you let it write test cases for you, it will try to do everything at end to end level. It has been trained on thousands, if not millions of web pages that advocate doing this because QA people will less experience and skill don't know any better. We should not be surprised that AI will provide you the same type of answers than the average QA would.</a:t>
            </a:r>
          </a:p>
        </p:txBody>
      </p:sp>
      <p:sp>
        <p:nvSpPr>
          <p:cNvPr id="4" name="Slide Number Placeholder 3">
            <a:extLst>
              <a:ext uri="{FF2B5EF4-FFF2-40B4-BE49-F238E27FC236}">
                <a16:creationId xmlns:a16="http://schemas.microsoft.com/office/drawing/2014/main" id="{08C9622D-0009-03FA-568D-DBA4A4FDA1C2}"/>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35</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30928238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E4E90-AC42-71B1-0DB0-95A0BA9D21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280B0A-9529-F884-AA5C-9FEF61915832}"/>
              </a:ext>
            </a:extLst>
          </p:cNvPr>
          <p:cNvSpPr>
            <a:spLocks noGrp="1" noRot="1" noChangeAspect="1"/>
          </p:cNvSpPr>
          <p:nvPr>
            <p:ph type="sldImg"/>
          </p:nvPr>
        </p:nvSpPr>
        <p:spPr>
          <a:xfrm>
            <a:off x="720725" y="900113"/>
            <a:ext cx="6119813" cy="3441700"/>
          </a:xfrm>
        </p:spPr>
      </p:sp>
      <p:sp>
        <p:nvSpPr>
          <p:cNvPr id="3" name="Notes Placeholder 2">
            <a:extLst>
              <a:ext uri="{FF2B5EF4-FFF2-40B4-BE49-F238E27FC236}">
                <a16:creationId xmlns:a16="http://schemas.microsoft.com/office/drawing/2014/main" id="{0572470E-A774-ED8C-0091-E2F4A31BCAAE}"/>
              </a:ext>
            </a:extLst>
          </p:cNvPr>
          <p:cNvSpPr>
            <a:spLocks noGrp="1"/>
          </p:cNvSpPr>
          <p:nvPr>
            <p:ph type="body" idx="1"/>
          </p:nvPr>
        </p:nvSpPr>
        <p:spPr/>
        <p:txBody>
          <a:bodyPr/>
          <a:lstStyle/>
          <a:p>
            <a:r>
              <a:rPr lang="en-US" dirty="0">
                <a:cs typeface="Arial"/>
              </a:rPr>
              <a:t>3 repos – one for the demo front end, one for the front end tests and one for the API tests</a:t>
            </a:r>
          </a:p>
        </p:txBody>
      </p:sp>
      <p:sp>
        <p:nvSpPr>
          <p:cNvPr id="4" name="Slide Number Placeholder 3">
            <a:extLst>
              <a:ext uri="{FF2B5EF4-FFF2-40B4-BE49-F238E27FC236}">
                <a16:creationId xmlns:a16="http://schemas.microsoft.com/office/drawing/2014/main" id="{3460FD05-E972-CDE9-9E4F-101D9D5D1A59}"/>
              </a:ext>
            </a:extLst>
          </p:cNvPr>
          <p:cNvSpPr>
            <a:spLocks noGrp="1"/>
          </p:cNvSpPr>
          <p:nvPr>
            <p:ph type="sldNum" idx="6"/>
          </p:nvPr>
        </p:nvSpPr>
        <p:spPr/>
        <p:txBody>
          <a:bodyPr/>
          <a:lstStyle/>
          <a:p>
            <a:pPr indent="0" algn="r">
              <a:buNone/>
            </a:pPr>
            <a:fld id="{B607D583-2E05-45A9-8E61-BE40324BA6BD}" type="slidenum">
              <a:rPr lang="en-CA" sz="1400" b="0" u="none" strike="noStrike">
                <a:solidFill>
                  <a:srgbClr val="000000"/>
                </a:solidFill>
                <a:effectLst/>
                <a:uFillTx/>
                <a:latin typeface="Arial"/>
              </a:rPr>
              <a:t>36</a:t>
            </a:fld>
            <a:endParaRPr lang="en-CA" sz="1400" b="0" u="none" strike="noStrike">
              <a:solidFill>
                <a:srgbClr val="000000"/>
              </a:solidFill>
              <a:effectLst/>
              <a:uFillTx/>
              <a:latin typeface="Arial"/>
            </a:endParaRPr>
          </a:p>
        </p:txBody>
      </p:sp>
    </p:spTree>
    <p:extLst>
      <p:ext uri="{BB962C8B-B14F-4D97-AF65-F5344CB8AC3E}">
        <p14:creationId xmlns:p14="http://schemas.microsoft.com/office/powerpoint/2010/main" val="1839120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 preserve="1">
  <p:cSld name="Pencil">
    <p:spTree>
      <p:nvGrpSpPr>
        <p:cNvPr id="1" name=""/>
        <p:cNvGrpSpPr/>
        <p:nvPr/>
      </p:nvGrpSpPr>
      <p:grpSpPr>
        <a:xfrm>
          <a:off x="0" y="0"/>
          <a:ext cx="0" cy="0"/>
          <a:chOff x="0" y="0"/>
          <a:chExt cx="0" cy="0"/>
        </a:xfrm>
      </p:grpSpPr>
      <p:sp>
        <p:nvSpPr>
          <p:cNvPr id="9" name="PlaceHolder 1"/>
          <p:cNvSpPr>
            <a:spLocks noGrp="1"/>
          </p:cNvSpPr>
          <p:nvPr>
            <p:ph type="title"/>
          </p:nvPr>
        </p:nvSpPr>
        <p:spPr>
          <a:xfrm>
            <a:off x="540000" y="180000"/>
            <a:ext cx="8280000" cy="630000"/>
          </a:xfrm>
          <a:prstGeom prst="rect">
            <a:avLst/>
          </a:prstGeom>
          <a:noFill/>
          <a:ln w="0">
            <a:noFill/>
          </a:ln>
        </p:spPr>
        <p:txBody>
          <a:bodyPr lIns="0" tIns="0" rIns="0" bIns="0" anchor="ctr">
            <a:spAutoFit/>
          </a:bodyPr>
          <a:lstStyle/>
          <a:p>
            <a:pPr indent="0" algn="ctr">
              <a:buNone/>
            </a:pPr>
            <a:endParaRPr lang="en-CA" sz="3200" b="0" u="none" strike="noStrike">
              <a:solidFill>
                <a:srgbClr val="FF8000"/>
              </a:solidFill>
              <a:effectLst/>
              <a:uFillTx/>
              <a:latin typeface="Arial"/>
            </a:endParaRPr>
          </a:p>
        </p:txBody>
      </p:sp>
      <p:sp>
        <p:nvSpPr>
          <p:cNvPr id="10" name="PlaceHolder 2"/>
          <p:cNvSpPr>
            <a:spLocks noGrp="1"/>
          </p:cNvSpPr>
          <p:nvPr>
            <p:ph/>
          </p:nvPr>
        </p:nvSpPr>
        <p:spPr>
          <a:xfrm>
            <a:off x="540000" y="1260000"/>
            <a:ext cx="4391640" cy="3960000"/>
          </a:xfrm>
          <a:prstGeom prst="rect">
            <a:avLst/>
          </a:prstGeom>
          <a:noFill/>
          <a:ln w="0">
            <a:noFill/>
          </a:ln>
        </p:spPr>
        <p:txBody>
          <a:bodyPr lIns="0" tIns="0" rIns="0" bIns="0" anchor="t">
            <a:normAutofit/>
          </a:bodyPr>
          <a:lstStyle/>
          <a:p>
            <a:pPr indent="0">
              <a:spcBef>
                <a:spcPts val="1057"/>
              </a:spcBef>
              <a:buNone/>
            </a:pPr>
            <a:endParaRPr lang="en-CA" sz="2400" b="0" u="none" strike="noStrike">
              <a:solidFill>
                <a:srgbClr val="000000"/>
              </a:solidFill>
              <a:effectLst/>
              <a:uFillTx/>
              <a:latin typeface="Arial"/>
            </a:endParaRPr>
          </a:p>
        </p:txBody>
      </p:sp>
      <p:sp>
        <p:nvSpPr>
          <p:cNvPr id="11" name="PlaceHolder 3"/>
          <p:cNvSpPr>
            <a:spLocks noGrp="1"/>
          </p:cNvSpPr>
          <p:nvPr>
            <p:ph/>
          </p:nvPr>
        </p:nvSpPr>
        <p:spPr>
          <a:xfrm>
            <a:off x="5151600" y="1260000"/>
            <a:ext cx="4391640" cy="3960000"/>
          </a:xfrm>
          <a:prstGeom prst="rect">
            <a:avLst/>
          </a:prstGeom>
          <a:noFill/>
          <a:ln w="0">
            <a:noFill/>
          </a:ln>
        </p:spPr>
        <p:txBody>
          <a:bodyPr lIns="0" tIns="0" rIns="0" bIns="0" anchor="t">
            <a:normAutofit/>
          </a:bodyPr>
          <a:lstStyle/>
          <a:p>
            <a:pPr indent="0">
              <a:spcBef>
                <a:spcPts val="1057"/>
              </a:spcBef>
              <a:buNone/>
            </a:pPr>
            <a:endParaRPr lang="en-CA" sz="2400" b="0" u="none" strike="noStrike">
              <a:solidFill>
                <a:srgbClr val="000000"/>
              </a:solidFill>
              <a:effectLst/>
              <a:uFillTx/>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Pencil">
    <p:spTree>
      <p:nvGrpSpPr>
        <p:cNvPr id="1" name=""/>
        <p:cNvGrpSpPr/>
        <p:nvPr/>
      </p:nvGrpSpPr>
      <p:grpSpPr>
        <a:xfrm>
          <a:off x="0" y="0"/>
          <a:ext cx="0" cy="0"/>
          <a:chOff x="0" y="0"/>
          <a:chExt cx="0" cy="0"/>
        </a:xfrm>
      </p:grpSpPr>
      <p:sp>
        <p:nvSpPr>
          <p:cNvPr id="12" name="PlaceHolder 1"/>
          <p:cNvSpPr>
            <a:spLocks noGrp="1"/>
          </p:cNvSpPr>
          <p:nvPr>
            <p:ph type="title"/>
          </p:nvPr>
        </p:nvSpPr>
        <p:spPr>
          <a:xfrm>
            <a:off x="540000" y="180000"/>
            <a:ext cx="8280000" cy="630000"/>
          </a:xfrm>
          <a:prstGeom prst="rect">
            <a:avLst/>
          </a:prstGeom>
          <a:noFill/>
          <a:ln w="0">
            <a:noFill/>
          </a:ln>
        </p:spPr>
        <p:txBody>
          <a:bodyPr lIns="0" tIns="0" rIns="0" bIns="0" anchor="ctr">
            <a:spAutoFit/>
          </a:bodyPr>
          <a:lstStyle/>
          <a:p>
            <a:pPr indent="0" algn="ctr">
              <a:buNone/>
            </a:pPr>
            <a:endParaRPr lang="en-CA" sz="3200" b="0" u="none" strike="noStrike">
              <a:solidFill>
                <a:srgbClr val="FF8000"/>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Pencil1">
    <p:spTree>
      <p:nvGrpSpPr>
        <p:cNvPr id="1" name=""/>
        <p:cNvGrpSpPr/>
        <p:nvPr/>
      </p:nvGrpSpPr>
      <p:grpSpPr>
        <a:xfrm>
          <a:off x="0" y="0"/>
          <a:ext cx="0" cy="0"/>
          <a:chOff x="0" y="0"/>
          <a:chExt cx="0" cy="0"/>
        </a:xfrm>
      </p:grpSpPr>
      <p:sp>
        <p:nvSpPr>
          <p:cNvPr id="19" name="PlaceHolder 1"/>
          <p:cNvSpPr>
            <a:spLocks noGrp="1"/>
          </p:cNvSpPr>
          <p:nvPr>
            <p:ph type="title"/>
          </p:nvPr>
        </p:nvSpPr>
        <p:spPr>
          <a:xfrm>
            <a:off x="540000" y="180000"/>
            <a:ext cx="8280000" cy="630000"/>
          </a:xfrm>
          <a:prstGeom prst="rect">
            <a:avLst/>
          </a:prstGeom>
          <a:noFill/>
          <a:ln w="0">
            <a:noFill/>
          </a:ln>
        </p:spPr>
        <p:txBody>
          <a:bodyPr lIns="0" tIns="0" rIns="0" bIns="0" anchor="ctr">
            <a:spAutoFit/>
          </a:bodyPr>
          <a:lstStyle/>
          <a:p>
            <a:pPr indent="0" algn="ctr">
              <a:buNone/>
            </a:pPr>
            <a:endParaRPr lang="en-CA" sz="3200" b="0" u="none" strike="noStrike">
              <a:solidFill>
                <a:srgbClr val="FF8000"/>
              </a:solidFill>
              <a:effectLst/>
              <a:uFillTx/>
              <a:latin typeface="Arial"/>
            </a:endParaRPr>
          </a:p>
        </p:txBody>
      </p:sp>
      <p:sp>
        <p:nvSpPr>
          <p:cNvPr id="20" name="PlaceHolder 2"/>
          <p:cNvSpPr>
            <a:spLocks noGrp="1"/>
          </p:cNvSpPr>
          <p:nvPr>
            <p:ph/>
          </p:nvPr>
        </p:nvSpPr>
        <p:spPr>
          <a:xfrm>
            <a:off x="540000" y="1260000"/>
            <a:ext cx="4391640" cy="3960000"/>
          </a:xfrm>
          <a:prstGeom prst="rect">
            <a:avLst/>
          </a:prstGeom>
          <a:noFill/>
          <a:ln w="0">
            <a:noFill/>
          </a:ln>
        </p:spPr>
        <p:txBody>
          <a:bodyPr lIns="0" tIns="0" rIns="0" bIns="0" anchor="t">
            <a:normAutofit/>
          </a:bodyPr>
          <a:lstStyle/>
          <a:p>
            <a:pPr indent="0">
              <a:spcBef>
                <a:spcPts val="1057"/>
              </a:spcBef>
              <a:buNone/>
            </a:pPr>
            <a:endParaRPr lang="en-CA" sz="2400" b="0" u="none" strike="noStrike">
              <a:solidFill>
                <a:srgbClr val="000000"/>
              </a:solidFill>
              <a:effectLst/>
              <a:uFillTx/>
              <a:latin typeface="Arial"/>
            </a:endParaRPr>
          </a:p>
        </p:txBody>
      </p:sp>
      <p:sp>
        <p:nvSpPr>
          <p:cNvPr id="21" name="PlaceHolder 3"/>
          <p:cNvSpPr>
            <a:spLocks noGrp="1"/>
          </p:cNvSpPr>
          <p:nvPr>
            <p:ph/>
          </p:nvPr>
        </p:nvSpPr>
        <p:spPr>
          <a:xfrm>
            <a:off x="5151600" y="1260000"/>
            <a:ext cx="4391640" cy="3960000"/>
          </a:xfrm>
          <a:prstGeom prst="rect">
            <a:avLst/>
          </a:prstGeom>
          <a:noFill/>
          <a:ln w="0">
            <a:noFill/>
          </a:ln>
        </p:spPr>
        <p:txBody>
          <a:bodyPr lIns="0" tIns="0" rIns="0" bIns="0" anchor="t">
            <a:normAutofit/>
          </a:bodyPr>
          <a:lstStyle/>
          <a:p>
            <a:pPr indent="0">
              <a:spcBef>
                <a:spcPts val="1057"/>
              </a:spcBef>
              <a:buNone/>
            </a:pPr>
            <a:endParaRPr lang="en-CA" sz="2400" b="0" u="none" strike="noStrike">
              <a:solidFill>
                <a:srgbClr val="000000"/>
              </a:solidFill>
              <a:effectLst/>
              <a:uFillTx/>
              <a:latin typeface="Arial"/>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A97FC051-F3A0-4FA1-AC93-E78DE005DC3D}"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Freeform: Shape 8"/>
          <p:cNvSpPr/>
          <p:nvPr/>
        </p:nvSpPr>
        <p:spPr>
          <a:xfrm>
            <a:off x="392760" y="2671920"/>
            <a:ext cx="7847640" cy="175320"/>
          </a:xfrm>
          <a:custGeom>
            <a:avLst/>
            <a:gdLst/>
            <a:ahLst/>
            <a:cxnLst/>
            <a:rect l="0" t="0" r="r" b="b"/>
            <a:pathLst>
              <a:path w="21799" h="487" fill="none">
                <a:moveTo>
                  <a:pt x="0" y="368"/>
                </a:moveTo>
                <a:cubicBezTo>
                  <a:pt x="459" y="415"/>
                  <a:pt x="1369" y="582"/>
                  <a:pt x="2022" y="415"/>
                </a:cubicBezTo>
                <a:cubicBezTo>
                  <a:pt x="2817" y="212"/>
                  <a:pt x="3861" y="155"/>
                  <a:pt x="4479" y="293"/>
                </a:cubicBezTo>
                <a:cubicBezTo>
                  <a:pt x="5010" y="412"/>
                  <a:pt x="6462" y="364"/>
                  <a:pt x="7219" y="237"/>
                </a:cubicBezTo>
                <a:cubicBezTo>
                  <a:pt x="8348" y="48"/>
                  <a:pt x="9290" y="115"/>
                  <a:pt x="9940" y="198"/>
                </a:cubicBezTo>
                <a:cubicBezTo>
                  <a:pt x="10666" y="290"/>
                  <a:pt x="12767" y="397"/>
                  <a:pt x="13116" y="434"/>
                </a:cubicBezTo>
                <a:cubicBezTo>
                  <a:pt x="13975" y="525"/>
                  <a:pt x="14754" y="267"/>
                  <a:pt x="15572" y="321"/>
                </a:cubicBezTo>
                <a:cubicBezTo>
                  <a:pt x="16090" y="355"/>
                  <a:pt x="16611" y="357"/>
                  <a:pt x="17131" y="349"/>
                </a:cubicBezTo>
                <a:cubicBezTo>
                  <a:pt x="17772" y="339"/>
                  <a:pt x="18415" y="212"/>
                  <a:pt x="19050" y="293"/>
                </a:cubicBezTo>
                <a:cubicBezTo>
                  <a:pt x="19541" y="355"/>
                  <a:pt x="20039" y="347"/>
                  <a:pt x="20533" y="330"/>
                </a:cubicBezTo>
                <a:cubicBezTo>
                  <a:pt x="20970" y="315"/>
                  <a:pt x="21377" y="110"/>
                  <a:pt x="21799" y="0"/>
                </a:cubicBezTo>
              </a:path>
            </a:pathLst>
          </a:custGeom>
          <a:ln w="79200" cap="rnd">
            <a:solidFill>
              <a:srgbClr val="956134"/>
            </a:solidFill>
            <a:round/>
          </a:ln>
        </p:spPr>
        <p:txBody>
          <a:bodyPr lIns="24840" tIns="24840" rIns="24840" bIns="24840" anchor="t">
            <a:noAutofit/>
          </a:bodyPr>
          <a:lstStyle/>
          <a:p>
            <a:endParaRPr lang="en-CA" sz="1400" b="1" u="none" strike="noStrike">
              <a:solidFill>
                <a:srgbClr val="000000"/>
              </a:solidFill>
              <a:effectLst/>
              <a:uFillTx/>
              <a:latin typeface="Arial"/>
            </a:endParaRPr>
          </a:p>
        </p:txBody>
      </p:sp>
      <p:grpSp>
        <p:nvGrpSpPr>
          <p:cNvPr id="10" name="Group 9"/>
          <p:cNvGrpSpPr/>
          <p:nvPr/>
        </p:nvGrpSpPr>
        <p:grpSpPr>
          <a:xfrm>
            <a:off x="8290440" y="1442520"/>
            <a:ext cx="1190520" cy="1190880"/>
            <a:chOff x="8290440" y="1442520"/>
            <a:chExt cx="1190520" cy="1190880"/>
          </a:xfrm>
        </p:grpSpPr>
        <p:sp>
          <p:nvSpPr>
            <p:cNvPr id="2" name="Freeform: Shape 1"/>
            <p:cNvSpPr/>
            <p:nvPr/>
          </p:nvSpPr>
          <p:spPr>
            <a:xfrm>
              <a:off x="8390160" y="1639080"/>
              <a:ext cx="894240" cy="894600"/>
            </a:xfrm>
            <a:custGeom>
              <a:avLst/>
              <a:gdLst/>
              <a:ahLst/>
              <a:cxnLst/>
              <a:rect l="0" t="0" r="r" b="b"/>
              <a:pathLst>
                <a:path w="2484" h="2485">
                  <a:moveTo>
                    <a:pt x="1552" y="0"/>
                  </a:moveTo>
                  <a:lnTo>
                    <a:pt x="0" y="1553"/>
                  </a:lnTo>
                  <a:lnTo>
                    <a:pt x="932" y="2485"/>
                  </a:lnTo>
                  <a:lnTo>
                    <a:pt x="2484" y="932"/>
                  </a:lnTo>
                  <a:lnTo>
                    <a:pt x="2329" y="776"/>
                  </a:lnTo>
                  <a:lnTo>
                    <a:pt x="932" y="2174"/>
                  </a:lnTo>
                  <a:lnTo>
                    <a:pt x="776" y="2018"/>
                  </a:lnTo>
                  <a:lnTo>
                    <a:pt x="2173" y="621"/>
                  </a:lnTo>
                  <a:lnTo>
                    <a:pt x="1863" y="310"/>
                  </a:lnTo>
                  <a:lnTo>
                    <a:pt x="466" y="1708"/>
                  </a:lnTo>
                  <a:lnTo>
                    <a:pt x="311" y="1553"/>
                  </a:lnTo>
                  <a:lnTo>
                    <a:pt x="1708" y="156"/>
                  </a:lnTo>
                  <a:lnTo>
                    <a:pt x="1552" y="0"/>
                  </a:lnTo>
                  <a:close/>
                </a:path>
              </a:pathLst>
            </a:custGeom>
            <a:solidFill>
              <a:srgbClr val="F3980F"/>
            </a:solidFill>
            <a:ln w="0">
              <a:noFill/>
            </a:ln>
          </p:spPr>
          <p:txBody>
            <a:bodyPr lIns="0" tIns="0" rIns="0" bIns="0" anchor="t">
              <a:noAutofit/>
            </a:bodyPr>
            <a:lstStyle/>
            <a:p>
              <a:endParaRPr lang="en-CA" sz="1400" b="1" u="none" strike="noStrike">
                <a:solidFill>
                  <a:srgbClr val="000000"/>
                </a:solidFill>
                <a:effectLst/>
                <a:uFillTx/>
                <a:latin typeface="Arial"/>
              </a:endParaRPr>
            </a:p>
          </p:txBody>
        </p:sp>
        <p:sp>
          <p:nvSpPr>
            <p:cNvPr id="3" name="Freeform: Shape 2"/>
            <p:cNvSpPr/>
            <p:nvPr/>
          </p:nvSpPr>
          <p:spPr>
            <a:xfrm>
              <a:off x="9005040" y="1442520"/>
              <a:ext cx="475920" cy="476280"/>
            </a:xfrm>
            <a:custGeom>
              <a:avLst/>
              <a:gdLst/>
              <a:ahLst/>
              <a:cxnLst/>
              <a:rect l="0" t="0" r="r" b="b"/>
              <a:pathLst>
                <a:path w="1322" h="1323">
                  <a:moveTo>
                    <a:pt x="0" y="390"/>
                  </a:moveTo>
                  <a:lnTo>
                    <a:pt x="336" y="55"/>
                  </a:lnTo>
                  <a:cubicBezTo>
                    <a:pt x="359" y="32"/>
                    <a:pt x="387" y="15"/>
                    <a:pt x="418" y="7"/>
                  </a:cubicBezTo>
                  <a:cubicBezTo>
                    <a:pt x="449" y="-2"/>
                    <a:pt x="482" y="-2"/>
                    <a:pt x="513" y="7"/>
                  </a:cubicBezTo>
                  <a:cubicBezTo>
                    <a:pt x="544" y="15"/>
                    <a:pt x="572" y="32"/>
                    <a:pt x="596" y="54"/>
                  </a:cubicBezTo>
                  <a:lnTo>
                    <a:pt x="1268" y="728"/>
                  </a:lnTo>
                  <a:cubicBezTo>
                    <a:pt x="1291" y="750"/>
                    <a:pt x="1308" y="779"/>
                    <a:pt x="1316" y="810"/>
                  </a:cubicBezTo>
                  <a:cubicBezTo>
                    <a:pt x="1323" y="841"/>
                    <a:pt x="1324" y="874"/>
                    <a:pt x="1316" y="904"/>
                  </a:cubicBezTo>
                  <a:cubicBezTo>
                    <a:pt x="1308" y="936"/>
                    <a:pt x="1291" y="964"/>
                    <a:pt x="1268" y="986"/>
                  </a:cubicBezTo>
                  <a:lnTo>
                    <a:pt x="931" y="1323"/>
                  </a:lnTo>
                  <a:lnTo>
                    <a:pt x="0" y="390"/>
                  </a:lnTo>
                  <a:close/>
                </a:path>
              </a:pathLst>
            </a:custGeom>
            <a:solidFill>
              <a:srgbClr val="781710"/>
            </a:solidFill>
            <a:ln w="0">
              <a:noFill/>
            </a:ln>
          </p:spPr>
          <p:txBody>
            <a:bodyPr lIns="0" tIns="0" rIns="0" bIns="0" anchor="t">
              <a:noAutofit/>
            </a:bodyPr>
            <a:lstStyle/>
            <a:p>
              <a:endParaRPr lang="en-CA" sz="1400" b="1" u="none" strike="noStrike">
                <a:solidFill>
                  <a:srgbClr val="FFFFFF"/>
                </a:solidFill>
                <a:effectLst/>
                <a:uFillTx/>
                <a:latin typeface="Arial"/>
              </a:endParaRPr>
            </a:p>
          </p:txBody>
        </p:sp>
        <p:grpSp>
          <p:nvGrpSpPr>
            <p:cNvPr id="4" name="Group 3"/>
            <p:cNvGrpSpPr/>
            <p:nvPr/>
          </p:nvGrpSpPr>
          <p:grpSpPr>
            <a:xfrm>
              <a:off x="8290440" y="2253960"/>
              <a:ext cx="379080" cy="379440"/>
              <a:chOff x="8290440" y="2253960"/>
              <a:chExt cx="379080" cy="379440"/>
            </a:xfrm>
          </p:grpSpPr>
          <p:sp>
            <p:nvSpPr>
              <p:cNvPr id="5" name="Freeform: Shape 4"/>
              <p:cNvSpPr/>
              <p:nvPr/>
            </p:nvSpPr>
            <p:spPr>
              <a:xfrm>
                <a:off x="8290440" y="2253960"/>
                <a:ext cx="379080" cy="379440"/>
              </a:xfrm>
              <a:custGeom>
                <a:avLst/>
                <a:gdLst/>
                <a:ahLst/>
                <a:cxnLst/>
                <a:rect l="0" t="0" r="r" b="b"/>
                <a:pathLst>
                  <a:path w="1053" h="1054">
                    <a:moveTo>
                      <a:pt x="1053" y="931"/>
                    </a:moveTo>
                    <a:lnTo>
                      <a:pt x="0" y="1054"/>
                    </a:lnTo>
                    <a:lnTo>
                      <a:pt x="121" y="0"/>
                    </a:lnTo>
                    <a:lnTo>
                      <a:pt x="1053" y="931"/>
                    </a:lnTo>
                    <a:close/>
                  </a:path>
                </a:pathLst>
              </a:custGeom>
              <a:solidFill>
                <a:srgbClr val="F5B090"/>
              </a:solidFill>
              <a:ln w="0">
                <a:noFill/>
              </a:ln>
            </p:spPr>
            <p:txBody>
              <a:bodyPr lIns="0" tIns="0" rIns="0" bIns="0" anchor="t">
                <a:noAutofit/>
              </a:bodyPr>
              <a:lstStyle/>
              <a:p>
                <a:endParaRPr lang="en-CA" sz="1400" b="1" u="none" strike="noStrike">
                  <a:solidFill>
                    <a:srgbClr val="000000"/>
                  </a:solidFill>
                  <a:effectLst/>
                  <a:uFillTx/>
                  <a:latin typeface="Arial"/>
                </a:endParaRPr>
              </a:p>
            </p:txBody>
          </p:sp>
          <p:sp>
            <p:nvSpPr>
              <p:cNvPr id="6" name="Freeform: Shape 5"/>
              <p:cNvSpPr/>
              <p:nvPr/>
            </p:nvSpPr>
            <p:spPr>
              <a:xfrm>
                <a:off x="8290440" y="2444400"/>
                <a:ext cx="189000" cy="189000"/>
              </a:xfrm>
              <a:custGeom>
                <a:avLst/>
                <a:gdLst/>
                <a:ahLst/>
                <a:cxnLst/>
                <a:rect l="0" t="0" r="r" b="b"/>
                <a:pathLst>
                  <a:path w="525" h="525">
                    <a:moveTo>
                      <a:pt x="525" y="466"/>
                    </a:moveTo>
                    <a:lnTo>
                      <a:pt x="0" y="525"/>
                    </a:lnTo>
                    <a:lnTo>
                      <a:pt x="59" y="0"/>
                    </a:lnTo>
                    <a:lnTo>
                      <a:pt x="525" y="466"/>
                    </a:lnTo>
                    <a:close/>
                  </a:path>
                </a:pathLst>
              </a:custGeom>
              <a:solidFill>
                <a:srgbClr val="000000"/>
              </a:solidFill>
              <a:ln w="0">
                <a:noFill/>
              </a:ln>
            </p:spPr>
            <p:txBody>
              <a:bodyPr lIns="0" tIns="0" rIns="0" bIns="0" anchor="t">
                <a:noAutofit/>
              </a:bodyPr>
              <a:lstStyle/>
              <a:p>
                <a:endParaRPr lang="en-CA" sz="1400" b="1" u="none" strike="noStrike">
                  <a:solidFill>
                    <a:srgbClr val="FFFFFF"/>
                  </a:solidFill>
                  <a:effectLst/>
                  <a:uFillTx/>
                  <a:latin typeface="Arial"/>
                </a:endParaRPr>
              </a:p>
            </p:txBody>
          </p:sp>
        </p:grpSp>
      </p:grpSp>
      <p:sp>
        <p:nvSpPr>
          <p:cNvPr id="7" name="PlaceHolder 1"/>
          <p:cNvSpPr>
            <a:spLocks noGrp="1"/>
          </p:cNvSpPr>
          <p:nvPr>
            <p:ph type="title"/>
          </p:nvPr>
        </p:nvSpPr>
        <p:spPr>
          <a:xfrm>
            <a:off x="540000" y="1620000"/>
            <a:ext cx="7560000" cy="990000"/>
          </a:xfrm>
          <a:prstGeom prst="rect">
            <a:avLst/>
          </a:prstGeom>
          <a:noFill/>
          <a:ln w="0">
            <a:noFill/>
          </a:ln>
        </p:spPr>
        <p:txBody>
          <a:bodyPr lIns="0" tIns="0" rIns="0" bIns="0" anchor="ctr">
            <a:noAutofit/>
          </a:bodyPr>
          <a:lstStyle/>
          <a:p>
            <a:pPr indent="0" algn="ctr">
              <a:buNone/>
            </a:pPr>
            <a:r>
              <a:rPr lang="en-CA" sz="3200" b="0" u="none" strike="noStrike">
                <a:solidFill>
                  <a:srgbClr val="FF8000"/>
                </a:solidFill>
                <a:effectLst/>
                <a:highlight>
                  <a:srgbClr val="FFFFFF"/>
                </a:highlight>
                <a:uFillTx/>
                <a:latin typeface="Arial"/>
              </a:rPr>
              <a:t>Click to edit the title text format</a:t>
            </a:r>
          </a:p>
        </p:txBody>
      </p:sp>
      <p:sp>
        <p:nvSpPr>
          <p:cNvPr id="8" name="PlaceHolder 2"/>
          <p:cNvSpPr>
            <a:spLocks noGrp="1"/>
          </p:cNvSpPr>
          <p:nvPr>
            <p:ph type="body"/>
          </p:nvPr>
        </p:nvSpPr>
        <p:spPr>
          <a:xfrm>
            <a:off x="540000" y="3060000"/>
            <a:ext cx="9000000" cy="2340000"/>
          </a:xfrm>
          <a:prstGeom prst="rect">
            <a:avLst/>
          </a:prstGeom>
          <a:noFill/>
          <a:ln w="0">
            <a:noFill/>
          </a:ln>
        </p:spPr>
        <p:txBody>
          <a:bodyPr lIns="0" tIns="0" rIns="0" bIns="0" anchor="t">
            <a:normAutofit/>
          </a:bodyPr>
          <a:lstStyle/>
          <a:p>
            <a:pPr marL="432000" indent="-324000">
              <a:spcBef>
                <a:spcPts val="1060"/>
              </a:spcBef>
              <a:buClr>
                <a:srgbClr val="FF8000"/>
              </a:buClr>
              <a:buSzPct val="45000"/>
              <a:buFont typeface="Wingdings" charset="2"/>
              <a:buChar char=""/>
            </a:pPr>
            <a:r>
              <a:rPr lang="en-CA" sz="2400" b="0" u="none" strike="noStrike">
                <a:solidFill>
                  <a:srgbClr val="000000"/>
                </a:solidFill>
                <a:effectLst/>
                <a:highlight>
                  <a:srgbClr val="FFFFFF"/>
                </a:highlight>
                <a:uFillTx/>
                <a:latin typeface="Arial"/>
              </a:rPr>
              <a:t>Click to edit the outline text format</a:t>
            </a:r>
          </a:p>
          <a:p>
            <a:pPr marL="864000" lvl="1" indent="-324000">
              <a:spcBef>
                <a:spcPts val="850"/>
              </a:spcBef>
              <a:buClr>
                <a:srgbClr val="FF8000"/>
              </a:buClr>
              <a:buSzPct val="45000"/>
              <a:buFont typeface="Wingdings" charset="2"/>
              <a:buChar char=""/>
            </a:pPr>
            <a:r>
              <a:rPr lang="en-CA" sz="2100" b="0" u="none" strike="noStrike">
                <a:solidFill>
                  <a:srgbClr val="000000"/>
                </a:solidFill>
                <a:effectLst/>
                <a:highlight>
                  <a:srgbClr val="FFFFFF"/>
                </a:highlight>
                <a:uFillTx/>
                <a:latin typeface="Arial"/>
              </a:rPr>
              <a:t>Second Outline Level</a:t>
            </a:r>
          </a:p>
          <a:p>
            <a:pPr marL="1296000" lvl="2" indent="-288000">
              <a:spcBef>
                <a:spcPts val="635"/>
              </a:spcBef>
              <a:buClr>
                <a:srgbClr val="FF8000"/>
              </a:buClr>
              <a:buSzPct val="45000"/>
              <a:buFont typeface="Wingdings" charset="2"/>
              <a:buChar char=""/>
            </a:pPr>
            <a:r>
              <a:rPr lang="en-CA" sz="1800" b="0" u="none" strike="noStrike">
                <a:solidFill>
                  <a:srgbClr val="000000"/>
                </a:solidFill>
                <a:effectLst/>
                <a:highlight>
                  <a:srgbClr val="FFFFFF"/>
                </a:highlight>
                <a:uFillTx/>
                <a:latin typeface="Arial"/>
              </a:rPr>
              <a:t>Third Outline Level</a:t>
            </a:r>
          </a:p>
          <a:p>
            <a:pPr marL="1728000" lvl="3" indent="-216000">
              <a:spcBef>
                <a:spcPts val="425"/>
              </a:spcBef>
              <a:buClr>
                <a:srgbClr val="FF8000"/>
              </a:buClr>
              <a:buSzPct val="45000"/>
              <a:buFont typeface="Wingdings" charset="2"/>
              <a:buChar char=""/>
            </a:pPr>
            <a:r>
              <a:rPr lang="en-CA" sz="1500" b="0" u="none" strike="noStrike">
                <a:solidFill>
                  <a:srgbClr val="000000"/>
                </a:solidFill>
                <a:effectLst/>
                <a:highlight>
                  <a:srgbClr val="FFFFFF"/>
                </a:highlight>
                <a:uFillTx/>
                <a:latin typeface="Arial"/>
              </a:rPr>
              <a:t>Fourth Outline Level</a:t>
            </a:r>
          </a:p>
          <a:p>
            <a:pPr marL="2160000" lvl="4" indent="-216000">
              <a:spcBef>
                <a:spcPts val="213"/>
              </a:spcBef>
              <a:buClr>
                <a:srgbClr val="FF8000"/>
              </a:buClr>
              <a:buSzPct val="45000"/>
              <a:buFont typeface="Wingdings" charset="2"/>
              <a:buChar char=""/>
            </a:pPr>
            <a:r>
              <a:rPr lang="en-CA" sz="1500" b="0" u="none" strike="noStrike">
                <a:solidFill>
                  <a:srgbClr val="000000"/>
                </a:solidFill>
                <a:effectLst/>
                <a:highlight>
                  <a:srgbClr val="FFFFFF"/>
                </a:highlight>
                <a:uFillTx/>
                <a:latin typeface="Arial"/>
              </a:rPr>
              <a:t>Fifth Outline Level</a:t>
            </a:r>
          </a:p>
          <a:p>
            <a:pPr marL="2592000" lvl="5" indent="-216000">
              <a:spcBef>
                <a:spcPts val="213"/>
              </a:spcBef>
              <a:buClr>
                <a:srgbClr val="FF8000"/>
              </a:buClr>
              <a:buSzPct val="45000"/>
              <a:buFont typeface="Wingdings" charset="2"/>
              <a:buChar char=""/>
            </a:pPr>
            <a:r>
              <a:rPr lang="en-CA" sz="1500" b="0" u="none" strike="noStrike">
                <a:solidFill>
                  <a:srgbClr val="000000"/>
                </a:solidFill>
                <a:effectLst/>
                <a:highlight>
                  <a:srgbClr val="FFFFFF"/>
                </a:highlight>
                <a:uFillTx/>
                <a:latin typeface="Arial"/>
              </a:rPr>
              <a:t>Sixth Outline Level</a:t>
            </a:r>
          </a:p>
          <a:p>
            <a:pPr marL="3024000" lvl="6" indent="-216000">
              <a:spcBef>
                <a:spcPts val="213"/>
              </a:spcBef>
              <a:buClr>
                <a:srgbClr val="FF8000"/>
              </a:buClr>
              <a:buSzPct val="45000"/>
              <a:buFont typeface="Wingdings" charset="2"/>
              <a:buChar char=""/>
            </a:pPr>
            <a:r>
              <a:rPr lang="en-CA" sz="1500" b="0" u="none" strike="noStrike">
                <a:solidFill>
                  <a:srgbClr val="000000"/>
                </a:solidFill>
                <a:effectLst/>
                <a:highlight>
                  <a:srgbClr val="FFFFFF"/>
                </a:highlight>
                <a:uFillTx/>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PlaceHolder 1"/>
          <p:cNvSpPr>
            <a:spLocks noGrp="1"/>
          </p:cNvSpPr>
          <p:nvPr>
            <p:ph type="title"/>
          </p:nvPr>
        </p:nvSpPr>
        <p:spPr>
          <a:xfrm>
            <a:off x="540000" y="180000"/>
            <a:ext cx="8280000" cy="630000"/>
          </a:xfrm>
          <a:prstGeom prst="rect">
            <a:avLst/>
          </a:prstGeom>
          <a:noFill/>
          <a:ln w="0">
            <a:noFill/>
          </a:ln>
        </p:spPr>
        <p:txBody>
          <a:bodyPr lIns="0" tIns="0" rIns="0" bIns="0" anchor="ctr">
            <a:noAutofit/>
          </a:bodyPr>
          <a:lstStyle/>
          <a:p>
            <a:pPr indent="0" algn="ctr">
              <a:buNone/>
            </a:pPr>
            <a:r>
              <a:rPr lang="en-CA" sz="3200" b="0" u="none" strike="noStrike">
                <a:solidFill>
                  <a:srgbClr val="FF8000"/>
                </a:solidFill>
                <a:effectLst/>
                <a:uFillTx/>
                <a:latin typeface="Arial"/>
              </a:rPr>
              <a:t>Click to edit the title text format</a:t>
            </a:r>
          </a:p>
        </p:txBody>
      </p:sp>
      <p:sp>
        <p:nvSpPr>
          <p:cNvPr id="14" name="PlaceHolder 2"/>
          <p:cNvSpPr>
            <a:spLocks noGrp="1"/>
          </p:cNvSpPr>
          <p:nvPr>
            <p:ph type="body"/>
          </p:nvPr>
        </p:nvSpPr>
        <p:spPr>
          <a:xfrm>
            <a:off x="540000" y="1260000"/>
            <a:ext cx="9000000" cy="3960000"/>
          </a:xfrm>
          <a:prstGeom prst="rect">
            <a:avLst/>
          </a:prstGeom>
          <a:noFill/>
          <a:ln w="0">
            <a:noFill/>
          </a:ln>
        </p:spPr>
        <p:txBody>
          <a:bodyPr lIns="0" tIns="0" rIns="0" bIns="0" anchor="t">
            <a:normAutofit/>
          </a:bodyPr>
          <a:lstStyle/>
          <a:p>
            <a:pPr marL="432000" indent="-324000">
              <a:spcBef>
                <a:spcPts val="1057"/>
              </a:spcBef>
              <a:buClr>
                <a:srgbClr val="FF8000"/>
              </a:buClr>
              <a:buSzPct val="45000"/>
              <a:buFont typeface="Wingdings" charset="2"/>
              <a:buChar char=""/>
            </a:pPr>
            <a:r>
              <a:rPr lang="en-CA" sz="2400" b="0" u="none" strike="noStrike">
                <a:solidFill>
                  <a:srgbClr val="000000"/>
                </a:solidFill>
                <a:effectLst/>
                <a:uFillTx/>
                <a:latin typeface="Arial"/>
              </a:rPr>
              <a:t>Click to edit the outline text format</a:t>
            </a:r>
          </a:p>
          <a:p>
            <a:pPr marL="864000" lvl="1" indent="-324000">
              <a:spcBef>
                <a:spcPts val="850"/>
              </a:spcBef>
              <a:buClr>
                <a:srgbClr val="FF8000"/>
              </a:buClr>
              <a:buSzPct val="75000"/>
              <a:buFont typeface="Symbol" charset="2"/>
              <a:buChar char=""/>
            </a:pPr>
            <a:r>
              <a:rPr lang="en-CA" sz="2100" b="0" u="none" strike="noStrike">
                <a:solidFill>
                  <a:srgbClr val="000000"/>
                </a:solidFill>
                <a:effectLst/>
                <a:uFillTx/>
                <a:latin typeface="Arial"/>
              </a:rPr>
              <a:t>Second Outline Level</a:t>
            </a:r>
          </a:p>
          <a:p>
            <a:pPr marL="1296000" lvl="2" indent="-288000">
              <a:spcBef>
                <a:spcPts val="635"/>
              </a:spcBef>
              <a:buClr>
                <a:srgbClr val="FF8000"/>
              </a:buClr>
              <a:buSzPct val="45000"/>
              <a:buFont typeface="Wingdings" charset="2"/>
              <a:buChar char=""/>
            </a:pPr>
            <a:r>
              <a:rPr lang="en-CA" sz="1800" b="0" u="none" strike="noStrike">
                <a:solidFill>
                  <a:srgbClr val="000000"/>
                </a:solidFill>
                <a:effectLst/>
                <a:uFillTx/>
                <a:latin typeface="Arial"/>
              </a:rPr>
              <a:t>Third Outline Level</a:t>
            </a:r>
          </a:p>
          <a:p>
            <a:pPr marL="1728000" lvl="3" indent="-216000">
              <a:spcBef>
                <a:spcPts val="425"/>
              </a:spcBef>
              <a:buClr>
                <a:srgbClr val="FF8000"/>
              </a:buClr>
              <a:buSzPct val="75000"/>
              <a:buFont typeface="Symbol" charset="2"/>
              <a:buChar char=""/>
            </a:pPr>
            <a:r>
              <a:rPr lang="en-CA" sz="1500" b="0" u="none" strike="noStrike">
                <a:solidFill>
                  <a:srgbClr val="000000"/>
                </a:solidFill>
                <a:effectLst/>
                <a:uFillTx/>
                <a:latin typeface="Arial"/>
              </a:rPr>
              <a:t>Fourth Outline Level</a:t>
            </a:r>
          </a:p>
          <a:p>
            <a:pPr marL="2160000" lvl="4" indent="-216000">
              <a:spcBef>
                <a:spcPts val="213"/>
              </a:spcBef>
              <a:buClr>
                <a:srgbClr val="FF8000"/>
              </a:buClr>
              <a:buSzPct val="45000"/>
              <a:buFont typeface="Wingdings" charset="2"/>
              <a:buChar char=""/>
            </a:pPr>
            <a:r>
              <a:rPr lang="en-CA" sz="1500" b="0" u="none" strike="noStrike">
                <a:solidFill>
                  <a:srgbClr val="000000"/>
                </a:solidFill>
                <a:effectLst/>
                <a:uFillTx/>
                <a:latin typeface="Arial"/>
              </a:rPr>
              <a:t>Fifth Outline Level</a:t>
            </a:r>
          </a:p>
          <a:p>
            <a:pPr marL="2592000" lvl="5" indent="-216000">
              <a:spcBef>
                <a:spcPts val="213"/>
              </a:spcBef>
              <a:buClr>
                <a:srgbClr val="FF8000"/>
              </a:buClr>
              <a:buSzPct val="45000"/>
              <a:buFont typeface="Wingdings" charset="2"/>
              <a:buChar char=""/>
            </a:pPr>
            <a:r>
              <a:rPr lang="en-CA" sz="1500" b="0" u="none" strike="noStrike">
                <a:solidFill>
                  <a:srgbClr val="000000"/>
                </a:solidFill>
                <a:effectLst/>
                <a:uFillTx/>
                <a:latin typeface="Arial"/>
              </a:rPr>
              <a:t>Sixth Outline Level</a:t>
            </a:r>
          </a:p>
          <a:p>
            <a:pPr marL="3024000" lvl="6" indent="-216000">
              <a:spcBef>
                <a:spcPts val="213"/>
              </a:spcBef>
              <a:buClr>
                <a:srgbClr val="FF8000"/>
              </a:buClr>
              <a:buSzPct val="45000"/>
              <a:buFont typeface="Wingdings" charset="2"/>
              <a:buChar char=""/>
            </a:pPr>
            <a:r>
              <a:rPr lang="en-CA" sz="1500" b="0" u="none" strike="noStrike">
                <a:solidFill>
                  <a:srgbClr val="000000"/>
                </a:solidFill>
                <a:effectLst/>
                <a:uFillTx/>
                <a:latin typeface="Arial"/>
              </a:rPr>
              <a:t>Seventh Outline Level</a:t>
            </a:r>
          </a:p>
        </p:txBody>
      </p:sp>
      <p:sp>
        <p:nvSpPr>
          <p:cNvPr id="15" name="PlaceHolder 3"/>
          <p:cNvSpPr>
            <a:spLocks noGrp="1"/>
          </p:cNvSpPr>
          <p:nvPr>
            <p:ph type="dt" idx="1"/>
          </p:nvPr>
        </p:nvSpPr>
        <p:spPr>
          <a:xfrm>
            <a:off x="540000" y="5400000"/>
            <a:ext cx="2340000" cy="270000"/>
          </a:xfrm>
          <a:prstGeom prst="rect">
            <a:avLst/>
          </a:prstGeom>
          <a:noFill/>
          <a:ln w="0">
            <a:noFill/>
          </a:ln>
        </p:spPr>
        <p:txBody>
          <a:bodyPr lIns="0" tIns="0" rIns="0" bIns="0" anchor="t">
            <a:spAutoFit/>
          </a:bodyPr>
          <a:lstStyle>
            <a:lvl1pPr indent="0">
              <a:buNone/>
              <a:defRPr lang="en-CA" sz="1400" b="0" u="none" strike="noStrike">
                <a:solidFill>
                  <a:srgbClr val="000000"/>
                </a:solidFill>
                <a:effectLst/>
                <a:uFillTx/>
                <a:latin typeface="Arial"/>
              </a:defRPr>
            </a:lvl1pPr>
          </a:lstStyle>
          <a:p>
            <a:pPr indent="0">
              <a:buNone/>
            </a:pPr>
            <a:r>
              <a:rPr lang="en-CA" sz="1400" b="0" u="none" strike="noStrike">
                <a:solidFill>
                  <a:srgbClr val="000000"/>
                </a:solidFill>
                <a:effectLst/>
                <a:uFillTx/>
                <a:latin typeface="Arial"/>
              </a:rPr>
              <a:t>&lt;date/time&gt;</a:t>
            </a:r>
          </a:p>
        </p:txBody>
      </p:sp>
      <p:sp>
        <p:nvSpPr>
          <p:cNvPr id="16" name="PlaceHolder 4"/>
          <p:cNvSpPr>
            <a:spLocks noGrp="1"/>
          </p:cNvSpPr>
          <p:nvPr>
            <p:ph type="ftr" idx="2"/>
          </p:nvPr>
        </p:nvSpPr>
        <p:spPr>
          <a:xfrm>
            <a:off x="3420000" y="5400000"/>
            <a:ext cx="3240000" cy="270000"/>
          </a:xfrm>
          <a:prstGeom prst="rect">
            <a:avLst/>
          </a:prstGeom>
          <a:noFill/>
          <a:ln w="0">
            <a:noFill/>
          </a:ln>
        </p:spPr>
        <p:txBody>
          <a:bodyPr lIns="0" tIns="0" rIns="0" bIns="0" anchor="t">
            <a:spAutoFit/>
          </a:bodyPr>
          <a:lstStyle>
            <a:lvl1pPr indent="0" algn="ctr">
              <a:buNone/>
              <a:defRPr lang="en-CA" sz="1400" b="0" u="none" strike="noStrike">
                <a:solidFill>
                  <a:srgbClr val="000000"/>
                </a:solidFill>
                <a:effectLst/>
                <a:uFillTx/>
                <a:latin typeface="Arial"/>
              </a:defRPr>
            </a:lvl1pPr>
          </a:lstStyle>
          <a:p>
            <a:pPr indent="0" algn="ctr">
              <a:buNone/>
            </a:pPr>
            <a:r>
              <a:rPr lang="en-CA" sz="1400" b="0" u="none" strike="noStrike">
                <a:solidFill>
                  <a:srgbClr val="000000"/>
                </a:solidFill>
                <a:effectLst/>
                <a:uFillTx/>
                <a:latin typeface="Arial"/>
              </a:rPr>
              <a:t>&lt;footer&gt;</a:t>
            </a:r>
          </a:p>
        </p:txBody>
      </p:sp>
      <p:sp>
        <p:nvSpPr>
          <p:cNvPr id="17" name="PlaceHolder 5"/>
          <p:cNvSpPr>
            <a:spLocks noGrp="1"/>
          </p:cNvSpPr>
          <p:nvPr>
            <p:ph type="sldNum" idx="3"/>
          </p:nvPr>
        </p:nvSpPr>
        <p:spPr>
          <a:xfrm>
            <a:off x="7200000" y="5400000"/>
            <a:ext cx="2340000" cy="270000"/>
          </a:xfrm>
          <a:prstGeom prst="rect">
            <a:avLst/>
          </a:prstGeom>
          <a:noFill/>
          <a:ln w="0">
            <a:noFill/>
          </a:ln>
        </p:spPr>
        <p:txBody>
          <a:bodyPr lIns="0" tIns="0" rIns="0" bIns="0" anchor="t">
            <a:spAutoFit/>
          </a:bodyPr>
          <a:lstStyle>
            <a:lvl1pPr indent="0" algn="r">
              <a:buNone/>
              <a:defRPr lang="en-CA" sz="1400" b="0" u="none" strike="noStrike">
                <a:solidFill>
                  <a:srgbClr val="000000"/>
                </a:solidFill>
                <a:effectLst/>
                <a:uFillTx/>
                <a:latin typeface="Arial"/>
              </a:defRPr>
            </a:lvl1pPr>
          </a:lstStyle>
          <a:p>
            <a:pPr indent="0" algn="r">
              <a:buNone/>
            </a:pPr>
            <a:fld id="{E5C3D950-1298-47BE-9CBC-30560F58D788}" type="slidenum">
              <a:rPr lang="en-CA" sz="1400" b="0" u="none" strike="noStrike">
                <a:solidFill>
                  <a:srgbClr val="000000"/>
                </a:solidFill>
                <a:effectLst/>
                <a:uFillTx/>
                <a:latin typeface="Arial"/>
              </a:rPr>
              <a:t>‹#›</a:t>
            </a:fld>
            <a:endParaRPr lang="en-CA" sz="1400" b="0" u="none" strike="noStrike">
              <a:solidFill>
                <a:srgbClr val="000000"/>
              </a:solidFill>
              <a:effectLst/>
              <a:uFillTx/>
              <a:latin typeface="Arial"/>
            </a:endParaRPr>
          </a:p>
        </p:txBody>
      </p:sp>
      <p:pic>
        <p:nvPicPr>
          <p:cNvPr id="18" name="Picture 17"/>
          <p:cNvPicPr/>
          <p:nvPr/>
        </p:nvPicPr>
        <p:blipFill>
          <a:blip r:embed="rId3"/>
          <a:stretch/>
        </p:blipFill>
        <p:spPr>
          <a:xfrm>
            <a:off x="9000000" y="180000"/>
            <a:ext cx="900000" cy="655200"/>
          </a:xfrm>
          <a:prstGeom prst="rect">
            <a:avLst/>
          </a:prstGeom>
          <a:noFill/>
          <a:ln w="25200">
            <a:noFill/>
          </a:ln>
        </p:spPr>
      </p:pic>
    </p:spTree>
  </p:cSld>
  <p:clrMap bg1="lt1" tx1="dk1" bg2="lt2" tx2="dk2" accent1="accent1" accent2="accent2" accent3="accent3" accent4="accent4" accent5="accent5" accent6="accent6" hlink="hlink" folHlink="folHlink"/>
  <p:sldLayoutIdLst>
    <p:sldLayoutId id="214748365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hyperlink" Target="https://medium.com/@samarthgvasist/parameterized-unit-testing-in-python-9be82fa7e17f"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hyperlink" Target="https://docs.cypress.io/api/commands/spy" TargetMode="External"/><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hyperlink" Target="https://webdriver.io/docs/mocksandspies/#spies" TargetMode="External"/><Relationship Id="rId4" Type="http://schemas.openxmlformats.org/officeDocument/2006/relationships/hyperlink" Target="https://playwright.dev/docs/mock-browser-apis"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s://developer.chrome.com/docs/lighthouse/overview" TargetMode="External"/><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hyperlink" Target="https://www.w3.org/WAI/test-evaluate/tools/list/"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8" Type="http://schemas.openxmlformats.org/officeDocument/2006/relationships/hyperlink" Target="https://github.com/jsdom/jsdom" TargetMode="External"/><Relationship Id="rId3" Type="http://schemas.openxmlformats.org/officeDocument/2006/relationships/hyperlink" Target="https://docs.cypress.io/app/component-testing/get-started" TargetMode="External"/><Relationship Id="rId7" Type="http://schemas.openxmlformats.org/officeDocument/2006/relationships/hyperlink" Target="https://testing-library.com/docs/react-testing-library/intro/" TargetMode="External"/><Relationship Id="rId2" Type="http://schemas.openxmlformats.org/officeDocument/2006/relationships/notesSlide" Target="../notesSlides/notesSlide29.xml"/><Relationship Id="rId1" Type="http://schemas.openxmlformats.org/officeDocument/2006/relationships/slideLayout" Target="../slideLayouts/slideLayout3.xml"/><Relationship Id="rId6" Type="http://schemas.openxmlformats.org/officeDocument/2006/relationships/hyperlink" Target="https://nightwatchjs.org/guide/component-testing/introduction.html" TargetMode="External"/><Relationship Id="rId5" Type="http://schemas.openxmlformats.org/officeDocument/2006/relationships/hyperlink" Target="https://webdriver.io/docs/component-testing" TargetMode="External"/><Relationship Id="rId4" Type="http://schemas.openxmlformats.org/officeDocument/2006/relationships/hyperlink" Target="https://playwright.dev/docs/test-components"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hyperlink" Target="mailto:ian@qaclique.com" TargetMode="External"/><Relationship Id="rId7" Type="http://schemas.openxmlformats.org/officeDocument/2006/relationships/hyperlink" Target="https://github.com/QAClique" TargetMode="External"/><Relationship Id="rId2" Type="http://schemas.openxmlformats.org/officeDocument/2006/relationships/notesSlide" Target="../notesSlides/notesSlide34.xml"/><Relationship Id="rId1" Type="http://schemas.openxmlformats.org/officeDocument/2006/relationships/slideLayout" Target="../slideLayouts/slideLayout3.xml"/><Relationship Id="rId6" Type="http://schemas.openxmlformats.org/officeDocument/2006/relationships/hyperlink" Target="https://www.linkedin.com/in/ian-renauld-a0455236/" TargetMode="External"/><Relationship Id="rId5" Type="http://schemas.openxmlformats.org/officeDocument/2006/relationships/hyperlink" Target="https://www.linkedin.com/company/qaclique" TargetMode="External"/><Relationship Id="rId4" Type="http://schemas.openxmlformats.org/officeDocument/2006/relationships/hyperlink" Target="http://www.qaclique.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descr="Cartoon of a person holding a hat&#10;&#10;AI-generated content may be incorrect.">
            <a:extLst>
              <a:ext uri="{FF2B5EF4-FFF2-40B4-BE49-F238E27FC236}">
                <a16:creationId xmlns:a16="http://schemas.microsoft.com/office/drawing/2014/main" id="{FFB308E5-D815-4DC3-434E-00C4155D14F0}"/>
              </a:ext>
            </a:extLst>
          </p:cNvPr>
          <p:cNvPicPr>
            <a:picLocks noGrp="1" noChangeAspect="1"/>
          </p:cNvPicPr>
          <p:nvPr>
            <p:ph/>
          </p:nvPr>
        </p:nvPicPr>
        <p:blipFill>
          <a:blip r:embed="rId2"/>
          <a:stretch>
            <a:fillRect/>
          </a:stretch>
        </p:blipFill>
        <p:spPr>
          <a:xfrm>
            <a:off x="2811750" y="2041982"/>
            <a:ext cx="4390709" cy="3358588"/>
          </a:xfrm>
          <a:prstGeom prst="rect">
            <a:avLst/>
          </a:prstGeom>
          <a:noFill/>
          <a:ln w="0">
            <a:noFill/>
          </a:ln>
        </p:spPr>
      </p:pic>
      <p:sp>
        <p:nvSpPr>
          <p:cNvPr id="4" name="Title 3">
            <a:extLst>
              <a:ext uri="{FF2B5EF4-FFF2-40B4-BE49-F238E27FC236}">
                <a16:creationId xmlns:a16="http://schemas.microsoft.com/office/drawing/2014/main" id="{289C258C-050D-F504-724E-0F6F8B458D79}"/>
              </a:ext>
            </a:extLst>
          </p:cNvPr>
          <p:cNvSpPr>
            <a:spLocks noGrp="1"/>
          </p:cNvSpPr>
          <p:nvPr>
            <p:ph type="title"/>
          </p:nvPr>
        </p:nvSpPr>
        <p:spPr>
          <a:xfrm>
            <a:off x="921339" y="130994"/>
            <a:ext cx="8174320" cy="780598"/>
          </a:xfrm>
          <a:effectLst>
            <a:outerShdw blurRad="63500" dist="38100" dir="2700000">
              <a:srgbClr val="000000">
                <a:alpha val="40000"/>
              </a:srgbClr>
            </a:outerShdw>
          </a:effectLst>
        </p:spPr>
        <p:txBody>
          <a:bodyPr/>
          <a:lstStyle/>
          <a:p>
            <a:pPr algn="ctr"/>
            <a:r>
              <a:rPr lang="en-US" sz="5600" b="1" dirty="0">
                <a:solidFill>
                  <a:srgbClr val="FF0000"/>
                </a:solidFill>
                <a:latin typeface="Aptos Narrow"/>
              </a:rPr>
              <a:t>Dr. </a:t>
            </a:r>
            <a:r>
              <a:rPr lang="en-US" sz="5600" b="1" err="1">
                <a:solidFill>
                  <a:srgbClr val="FF0000"/>
                </a:solidFill>
                <a:latin typeface="Aptos Narrow"/>
              </a:rPr>
              <a:t>StrangeTestingProcess</a:t>
            </a:r>
            <a:endParaRPr lang="en-US" sz="5600" b="1">
              <a:solidFill>
                <a:srgbClr val="FF0000"/>
              </a:solidFill>
              <a:latin typeface="Aptos Narrow"/>
            </a:endParaRPr>
          </a:p>
        </p:txBody>
      </p:sp>
      <p:sp>
        <p:nvSpPr>
          <p:cNvPr id="8" name="TextBox 7">
            <a:extLst>
              <a:ext uri="{FF2B5EF4-FFF2-40B4-BE49-F238E27FC236}">
                <a16:creationId xmlns:a16="http://schemas.microsoft.com/office/drawing/2014/main" id="{465FB477-FCB6-A70A-A02F-3AA597E20783}"/>
              </a:ext>
            </a:extLst>
          </p:cNvPr>
          <p:cNvSpPr txBox="1"/>
          <p:nvPr/>
        </p:nvSpPr>
        <p:spPr>
          <a:xfrm>
            <a:off x="1722285" y="914007"/>
            <a:ext cx="6636392" cy="1200329"/>
          </a:xfrm>
          <a:prstGeom prst="rect">
            <a:avLst/>
          </a:prstGeom>
          <a:noFill/>
          <a:effectLst>
            <a:outerShdw blurRad="63500" dist="38100" dir="2700000">
              <a:srgbClr val="000000">
                <a:alpha val="40000"/>
              </a:srgbClr>
            </a:outerShdw>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dirty="0">
                <a:solidFill>
                  <a:srgbClr val="FF0000"/>
                </a:solidFill>
                <a:latin typeface="Aptos Narrow"/>
              </a:rPr>
              <a:t>or: How I Learned to Stop Only Testing End-to-End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PlaceHolder 1"/>
          <p:cNvSpPr>
            <a:spLocks noGrp="1"/>
          </p:cNvSpPr>
          <p:nvPr>
            <p:ph type="title"/>
          </p:nvPr>
        </p:nvSpPr>
        <p:spPr>
          <a:xfrm>
            <a:off x="540000" y="273401"/>
            <a:ext cx="8280000" cy="443198"/>
          </a:xfrm>
          <a:prstGeom prst="rect">
            <a:avLst/>
          </a:prstGeom>
          <a:noFill/>
          <a:ln w="0">
            <a:noFill/>
          </a:ln>
        </p:spPr>
        <p:txBody>
          <a:bodyPr lIns="0" tIns="0" rIns="0" bIns="0" anchor="ctr">
            <a:spAutoFit/>
          </a:bodyPr>
          <a:lstStyle/>
          <a:p>
            <a:pPr indent="0" algn="ctr">
              <a:buNone/>
            </a:pPr>
            <a:r>
              <a:rPr lang="en-CA" sz="3200" b="1" u="none" strike="noStrike">
                <a:solidFill>
                  <a:srgbClr val="FF8000"/>
                </a:solidFill>
                <a:effectLst/>
                <a:uFillTx/>
                <a:latin typeface="Arial"/>
              </a:rPr>
              <a:t>Who am I?</a:t>
            </a:r>
          </a:p>
        </p:txBody>
      </p:sp>
      <p:sp>
        <p:nvSpPr>
          <p:cNvPr id="33" name="PlaceHolder 2"/>
          <p:cNvSpPr>
            <a:spLocks noGrp="1"/>
          </p:cNvSpPr>
          <p:nvPr>
            <p:ph/>
          </p:nvPr>
        </p:nvSpPr>
        <p:spPr>
          <a:xfrm>
            <a:off x="540000" y="1260000"/>
            <a:ext cx="6568115" cy="3960000"/>
          </a:xfrm>
          <a:prstGeom prst="rect">
            <a:avLst/>
          </a:prstGeom>
          <a:noFill/>
          <a:ln w="0">
            <a:noFill/>
          </a:ln>
        </p:spPr>
        <p:txBody>
          <a:bodyPr lIns="0" tIns="0" rIns="0" bIns="0" anchor="t">
            <a:normAutofit/>
          </a:bodyPr>
          <a:lstStyle/>
          <a:p>
            <a:pPr indent="0">
              <a:spcBef>
                <a:spcPts val="1057"/>
              </a:spcBef>
              <a:buNone/>
            </a:pPr>
            <a:r>
              <a:rPr lang="en-CA" sz="3200" b="1" u="none" strike="noStrike" dirty="0">
                <a:solidFill>
                  <a:srgbClr val="000000"/>
                </a:solidFill>
                <a:effectLst/>
                <a:uFillTx/>
                <a:latin typeface="Arial"/>
              </a:rPr>
              <a:t>Ian Renauld​</a:t>
            </a:r>
            <a:endParaRPr lang="en-CA" sz="3200" b="0" u="none" strike="noStrike" dirty="0">
              <a:solidFill>
                <a:srgbClr val="000000"/>
              </a:solidFill>
              <a:effectLst/>
              <a:uFillTx/>
              <a:latin typeface="Arial"/>
            </a:endParaRPr>
          </a:p>
          <a:p>
            <a:pPr indent="0">
              <a:buNone/>
            </a:pPr>
            <a:r>
              <a:rPr lang="en-CA" sz="2000" b="0" u="none" strike="noStrike" dirty="0">
                <a:solidFill>
                  <a:srgbClr val="000000"/>
                </a:solidFill>
                <a:effectLst/>
                <a:uFillTx/>
                <a:latin typeface="Arial"/>
              </a:rPr>
              <a:t>President, QA Clique​</a:t>
            </a:r>
          </a:p>
          <a:p>
            <a:pPr indent="0">
              <a:spcBef>
                <a:spcPts val="1057"/>
              </a:spcBef>
              <a:buNone/>
            </a:pPr>
            <a:r>
              <a:rPr lang="en-CA" sz="2800" b="0" u="none" strike="noStrike" dirty="0">
                <a:solidFill>
                  <a:srgbClr val="000000"/>
                </a:solidFill>
                <a:effectLst/>
                <a:uFillTx/>
                <a:latin typeface="Arial"/>
              </a:rPr>
              <a:t>More than 22 years of QA experience through 11 different companies, from huge multinationals to tiny startups.​</a:t>
            </a:r>
          </a:p>
          <a:p>
            <a:pPr indent="0">
              <a:spcBef>
                <a:spcPts val="2098"/>
              </a:spcBef>
              <a:buNone/>
            </a:pPr>
            <a:r>
              <a:rPr lang="en-CA" sz="2800" b="0" u="none" strike="noStrike" dirty="0">
                <a:solidFill>
                  <a:srgbClr val="000000"/>
                </a:solidFill>
                <a:effectLst/>
                <a:uFillTx/>
                <a:latin typeface="Arial"/>
              </a:rPr>
              <a:t>Significant expertise in both Back-End/API and UI/End to End testing with a strong focus on Test Automation​</a:t>
            </a:r>
          </a:p>
        </p:txBody>
      </p:sp>
      <p:pic>
        <p:nvPicPr>
          <p:cNvPr id="34" name="Picture 33"/>
          <p:cNvPicPr/>
          <p:nvPr/>
        </p:nvPicPr>
        <p:blipFill>
          <a:blip r:embed="rId2"/>
          <a:stretch/>
        </p:blipFill>
        <p:spPr>
          <a:xfrm>
            <a:off x="7200980" y="1434433"/>
            <a:ext cx="1867663" cy="2802098"/>
          </a:xfrm>
          <a:prstGeom prst="rect">
            <a:avLst/>
          </a:prstGeom>
          <a:noFill/>
          <a:ln w="25200">
            <a:noFill/>
          </a:ln>
        </p:spPr>
      </p:pic>
      <p:sp>
        <p:nvSpPr>
          <p:cNvPr id="4" name="PlaceHolder 3"/>
          <p:cNvSpPr>
            <a:spLocks noGrp="1"/>
          </p:cNvSpPr>
          <p:nvPr>
            <p:ph type="sldNum" idx="3"/>
          </p:nvPr>
        </p:nvSpPr>
        <p:spPr/>
        <p:txBody>
          <a:bodyPr/>
          <a:lstStyle/>
          <a:p>
            <a:fld id="{A6B0FAAF-7851-4CF1-8501-419980AF2DBF}" type="slidenum">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D2720-45AB-FF77-2213-7D7AC5148792}"/>
            </a:ext>
          </a:extLst>
        </p:cNvPr>
        <p:cNvGrpSpPr/>
        <p:nvPr/>
      </p:nvGrpSpPr>
      <p:grpSpPr>
        <a:xfrm>
          <a:off x="0" y="0"/>
          <a:ext cx="0" cy="0"/>
          <a:chOff x="0" y="0"/>
          <a:chExt cx="0" cy="0"/>
        </a:xfrm>
      </p:grpSpPr>
      <p:sp>
        <p:nvSpPr>
          <p:cNvPr id="29" name="PlaceHolder 1">
            <a:extLst>
              <a:ext uri="{FF2B5EF4-FFF2-40B4-BE49-F238E27FC236}">
                <a16:creationId xmlns:a16="http://schemas.microsoft.com/office/drawing/2014/main" id="{06A16253-B23E-6F8B-C05F-3957D35B4354}"/>
              </a:ext>
            </a:extLst>
          </p:cNvPr>
          <p:cNvSpPr>
            <a:spLocks noGrp="1"/>
          </p:cNvSpPr>
          <p:nvPr>
            <p:ph type="title"/>
          </p:nvPr>
        </p:nvSpPr>
        <p:spPr>
          <a:xfrm>
            <a:off x="540000" y="273401"/>
            <a:ext cx="8280000" cy="443198"/>
          </a:xfrm>
          <a:prstGeom prst="rect">
            <a:avLst/>
          </a:prstGeom>
          <a:noFill/>
          <a:ln w="0">
            <a:noFill/>
          </a:ln>
        </p:spPr>
        <p:txBody>
          <a:bodyPr lIns="0" tIns="0" rIns="0" bIns="0" anchor="ctr">
            <a:spAutoFit/>
          </a:bodyPr>
          <a:lstStyle/>
          <a:p>
            <a:pPr algn="ctr"/>
            <a:r>
              <a:rPr lang="en-CA" sz="3200" b="1">
                <a:solidFill>
                  <a:srgbClr val="FF8000"/>
                </a:solidFill>
                <a:latin typeface="Arial"/>
              </a:rPr>
              <a:t>Tables... Why did it have to be tables?</a:t>
            </a:r>
            <a:endParaRPr lang="en-CA" sz="3200" b="1" u="none" strike="noStrike">
              <a:solidFill>
                <a:srgbClr val="FF8000"/>
              </a:solidFill>
              <a:effectLst/>
              <a:uFillTx/>
              <a:latin typeface="Arial"/>
            </a:endParaRPr>
          </a:p>
        </p:txBody>
      </p:sp>
      <p:pic>
        <p:nvPicPr>
          <p:cNvPr id="2" name="Content Placeholder 1" descr="A screenshot of a computer&#10;&#10;AI-generated content may be incorrect.">
            <a:extLst>
              <a:ext uri="{FF2B5EF4-FFF2-40B4-BE49-F238E27FC236}">
                <a16:creationId xmlns:a16="http://schemas.microsoft.com/office/drawing/2014/main" id="{EF4BC6BB-A948-DDFB-30C1-570616024ED4}"/>
              </a:ext>
            </a:extLst>
          </p:cNvPr>
          <p:cNvPicPr>
            <a:picLocks noGrp="1" noChangeAspect="1"/>
          </p:cNvPicPr>
          <p:nvPr>
            <p:ph/>
          </p:nvPr>
        </p:nvPicPr>
        <p:blipFill>
          <a:blip r:embed="rId3"/>
          <a:stretch>
            <a:fillRect/>
          </a:stretch>
        </p:blipFill>
        <p:spPr>
          <a:xfrm>
            <a:off x="960785" y="888769"/>
            <a:ext cx="8161244" cy="4511606"/>
          </a:xfrm>
          <a:prstGeom prst="rect">
            <a:avLst/>
          </a:prstGeom>
          <a:noFill/>
          <a:ln w="0">
            <a:noFill/>
          </a:ln>
        </p:spPr>
      </p:pic>
      <p:sp>
        <p:nvSpPr>
          <p:cNvPr id="5" name="PlaceHolder 4">
            <a:extLst>
              <a:ext uri="{FF2B5EF4-FFF2-40B4-BE49-F238E27FC236}">
                <a16:creationId xmlns:a16="http://schemas.microsoft.com/office/drawing/2014/main" id="{56C10575-7875-A289-F0CF-F208E756BA70}"/>
              </a:ext>
            </a:extLst>
          </p:cNvPr>
          <p:cNvSpPr>
            <a:spLocks noGrp="1"/>
          </p:cNvSpPr>
          <p:nvPr>
            <p:ph type="sldNum" idx="3"/>
          </p:nvPr>
        </p:nvSpPr>
        <p:spPr/>
        <p:txBody>
          <a:bodyPr/>
          <a:lstStyle/>
          <a:p>
            <a:fld id="{FA5931A3-EE72-4CE5-9978-6B328659D7F6}" type="slidenum">
              <a:t>3</a:t>
            </a:fld>
            <a:endParaRPr/>
          </a:p>
        </p:txBody>
      </p:sp>
    </p:spTree>
    <p:extLst>
      <p:ext uri="{BB962C8B-B14F-4D97-AF65-F5344CB8AC3E}">
        <p14:creationId xmlns:p14="http://schemas.microsoft.com/office/powerpoint/2010/main" val="2722030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PlaceHolder 1"/>
          <p:cNvSpPr>
            <a:spLocks noGrp="1"/>
          </p:cNvSpPr>
          <p:nvPr>
            <p:ph type="title"/>
          </p:nvPr>
        </p:nvSpPr>
        <p:spPr>
          <a:xfrm>
            <a:off x="540000" y="273401"/>
            <a:ext cx="8280000" cy="443198"/>
          </a:xfrm>
          <a:prstGeom prst="rect">
            <a:avLst/>
          </a:prstGeom>
          <a:noFill/>
          <a:ln w="0">
            <a:noFill/>
          </a:ln>
        </p:spPr>
        <p:txBody>
          <a:bodyPr lIns="0" tIns="0" rIns="0" bIns="0" anchor="ctr">
            <a:spAutoFit/>
          </a:bodyPr>
          <a:lstStyle/>
          <a:p>
            <a:pPr algn="ctr"/>
            <a:r>
              <a:rPr lang="en-CA" sz="3200" b="1">
                <a:solidFill>
                  <a:srgbClr val="FF8000"/>
                </a:solidFill>
                <a:latin typeface="Arial"/>
              </a:rPr>
              <a:t>Test Pyramid Overview</a:t>
            </a:r>
            <a:endParaRPr lang="en-CA" sz="3200" b="1" u="none" strike="noStrike">
              <a:solidFill>
                <a:srgbClr val="FF8000"/>
              </a:solidFill>
              <a:effectLst/>
              <a:uFillTx/>
              <a:latin typeface="Arial"/>
            </a:endParaRPr>
          </a:p>
        </p:txBody>
      </p:sp>
      <p:pic>
        <p:nvPicPr>
          <p:cNvPr id="2" name="Content Placeholder 1" descr="A diagram of a software testing&#10;&#10;AI-generated content may be incorrect.">
            <a:extLst>
              <a:ext uri="{FF2B5EF4-FFF2-40B4-BE49-F238E27FC236}">
                <a16:creationId xmlns:a16="http://schemas.microsoft.com/office/drawing/2014/main" id="{20E02279-66CC-BBD7-9BFC-25509EA881B1}"/>
              </a:ext>
            </a:extLst>
          </p:cNvPr>
          <p:cNvPicPr>
            <a:picLocks noGrp="1" noChangeAspect="1"/>
          </p:cNvPicPr>
          <p:nvPr>
            <p:ph/>
          </p:nvPr>
        </p:nvPicPr>
        <p:blipFill>
          <a:blip r:embed="rId3"/>
          <a:stretch>
            <a:fillRect/>
          </a:stretch>
        </p:blipFill>
        <p:spPr>
          <a:xfrm>
            <a:off x="2094224" y="776171"/>
            <a:ext cx="5167760" cy="4476707"/>
          </a:xfrm>
          <a:prstGeom prst="rect">
            <a:avLst/>
          </a:prstGeom>
          <a:noFill/>
          <a:ln w="0">
            <a:noFill/>
          </a:ln>
        </p:spPr>
      </p:pic>
      <p:sp>
        <p:nvSpPr>
          <p:cNvPr id="5" name="PlaceHolder 4"/>
          <p:cNvSpPr>
            <a:spLocks noGrp="1"/>
          </p:cNvSpPr>
          <p:nvPr>
            <p:ph type="sldNum" idx="3"/>
          </p:nvPr>
        </p:nvSpPr>
        <p:spPr/>
        <p:txBody>
          <a:bodyPr/>
          <a:lstStyle/>
          <a:p>
            <a:fld id="{9A436DA9-41E4-42F4-8EF8-2C2914005E11}" type="slidenum">
              <a:t>4</a:t>
            </a:fld>
            <a:endParaRPr/>
          </a:p>
        </p:txBody>
      </p:sp>
      <p:sp>
        <p:nvSpPr>
          <p:cNvPr id="4" name="TextBox 3">
            <a:extLst>
              <a:ext uri="{FF2B5EF4-FFF2-40B4-BE49-F238E27FC236}">
                <a16:creationId xmlns:a16="http://schemas.microsoft.com/office/drawing/2014/main" id="{51CE3EDE-1BBD-7F3A-AAF5-626D312910A1}"/>
              </a:ext>
            </a:extLst>
          </p:cNvPr>
          <p:cNvSpPr txBox="1"/>
          <p:nvPr/>
        </p:nvSpPr>
        <p:spPr>
          <a:xfrm>
            <a:off x="678984" y="5093463"/>
            <a:ext cx="8720653"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i="1">
                <a:ea typeface="+mn-lt"/>
                <a:cs typeface="+mn-lt"/>
              </a:rPr>
              <a:t>Image courtesy of </a:t>
            </a:r>
            <a:r>
              <a:rPr lang="en-US" sz="1400" i="1">
                <a:ea typeface="+mn-lt"/>
                <a:cs typeface="+mn-lt"/>
                <a:hlinkClick r:id="rId4"/>
              </a:rPr>
              <a:t>https://medium.com/@samarthgvasist/parameterized-unit-testing-in-python-9be82fa7e17f</a:t>
            </a:r>
            <a:r>
              <a:rPr lang="en-US" sz="1400" i="1">
                <a:ea typeface="+mn-lt"/>
                <a:cs typeface="+mn-lt"/>
              </a:rPr>
              <a:t> </a:t>
            </a:r>
            <a:endParaRPr lang="en-US" sz="1400" i="1">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DE36F-2531-CE44-8A7F-BE7F8830DC8D}"/>
            </a:ext>
          </a:extLst>
        </p:cNvPr>
        <p:cNvGrpSpPr/>
        <p:nvPr/>
      </p:nvGrpSpPr>
      <p:grpSpPr>
        <a:xfrm>
          <a:off x="0" y="0"/>
          <a:ext cx="0" cy="0"/>
          <a:chOff x="0" y="0"/>
          <a:chExt cx="0" cy="0"/>
        </a:xfrm>
      </p:grpSpPr>
      <p:sp>
        <p:nvSpPr>
          <p:cNvPr id="29" name="PlaceHolder 1">
            <a:extLst>
              <a:ext uri="{FF2B5EF4-FFF2-40B4-BE49-F238E27FC236}">
                <a16:creationId xmlns:a16="http://schemas.microsoft.com/office/drawing/2014/main" id="{ABCEF58F-7580-7DF7-96A7-6CC86DE50803}"/>
              </a:ext>
            </a:extLst>
          </p:cNvPr>
          <p:cNvSpPr>
            <a:spLocks noGrp="1"/>
          </p:cNvSpPr>
          <p:nvPr>
            <p:ph type="title"/>
          </p:nvPr>
        </p:nvSpPr>
        <p:spPr>
          <a:xfrm>
            <a:off x="540000" y="273401"/>
            <a:ext cx="8280000" cy="443198"/>
          </a:xfrm>
          <a:prstGeom prst="rect">
            <a:avLst/>
          </a:prstGeom>
          <a:noFill/>
          <a:ln w="0">
            <a:noFill/>
          </a:ln>
        </p:spPr>
        <p:txBody>
          <a:bodyPr lIns="0" tIns="0" rIns="0" bIns="0" anchor="ctr">
            <a:spAutoFit/>
          </a:bodyPr>
          <a:lstStyle/>
          <a:p>
            <a:pPr algn="ctr"/>
            <a:r>
              <a:rPr lang="en-CA" sz="3200" b="1" dirty="0">
                <a:solidFill>
                  <a:srgbClr val="FF8000"/>
                </a:solidFill>
                <a:latin typeface="Arial"/>
              </a:rPr>
              <a:t>Setup Browser Dev Tools</a:t>
            </a:r>
            <a:endParaRPr lang="en-US" dirty="0"/>
          </a:p>
        </p:txBody>
      </p:sp>
      <p:pic>
        <p:nvPicPr>
          <p:cNvPr id="2" name="Content Placeholder 1" descr="A screenshot of a computer&#10;&#10;AI-generated content may be incorrect.">
            <a:extLst>
              <a:ext uri="{FF2B5EF4-FFF2-40B4-BE49-F238E27FC236}">
                <a16:creationId xmlns:a16="http://schemas.microsoft.com/office/drawing/2014/main" id="{0D05AC5F-7B93-1A7A-E2B4-D5C35D4A35F5}"/>
              </a:ext>
            </a:extLst>
          </p:cNvPr>
          <p:cNvPicPr>
            <a:picLocks noGrp="1" noChangeAspect="1"/>
          </p:cNvPicPr>
          <p:nvPr>
            <p:ph/>
          </p:nvPr>
        </p:nvPicPr>
        <p:blipFill>
          <a:blip r:embed="rId3"/>
          <a:stretch>
            <a:fillRect/>
          </a:stretch>
        </p:blipFill>
        <p:spPr>
          <a:xfrm>
            <a:off x="165153" y="948510"/>
            <a:ext cx="9747601" cy="4312830"/>
          </a:xfrm>
          <a:prstGeom prst="rect">
            <a:avLst/>
          </a:prstGeom>
          <a:noFill/>
          <a:ln w="0">
            <a:noFill/>
          </a:ln>
        </p:spPr>
      </p:pic>
      <p:sp>
        <p:nvSpPr>
          <p:cNvPr id="5" name="PlaceHolder 4">
            <a:extLst>
              <a:ext uri="{FF2B5EF4-FFF2-40B4-BE49-F238E27FC236}">
                <a16:creationId xmlns:a16="http://schemas.microsoft.com/office/drawing/2014/main" id="{D8F1D085-7D9F-944B-4F66-6E34195ED739}"/>
              </a:ext>
            </a:extLst>
          </p:cNvPr>
          <p:cNvSpPr>
            <a:spLocks noGrp="1"/>
          </p:cNvSpPr>
          <p:nvPr>
            <p:ph type="sldNum" idx="3"/>
          </p:nvPr>
        </p:nvSpPr>
        <p:spPr/>
        <p:txBody>
          <a:bodyPr/>
          <a:lstStyle/>
          <a:p>
            <a:fld id="{FA5931A3-EE72-4CE5-9978-6B328659D7F6}" type="slidenum">
              <a:t>5</a:t>
            </a:fld>
            <a:endParaRPr/>
          </a:p>
        </p:txBody>
      </p:sp>
    </p:spTree>
    <p:extLst>
      <p:ext uri="{BB962C8B-B14F-4D97-AF65-F5344CB8AC3E}">
        <p14:creationId xmlns:p14="http://schemas.microsoft.com/office/powerpoint/2010/main" val="175051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B2B99-550B-9A61-34E3-1DF0B7A9B5B8}"/>
            </a:ext>
          </a:extLst>
        </p:cNvPr>
        <p:cNvGrpSpPr/>
        <p:nvPr/>
      </p:nvGrpSpPr>
      <p:grpSpPr>
        <a:xfrm>
          <a:off x="0" y="0"/>
          <a:ext cx="0" cy="0"/>
          <a:chOff x="0" y="0"/>
          <a:chExt cx="0" cy="0"/>
        </a:xfrm>
      </p:grpSpPr>
      <p:sp>
        <p:nvSpPr>
          <p:cNvPr id="29" name="PlaceHolder 1">
            <a:extLst>
              <a:ext uri="{FF2B5EF4-FFF2-40B4-BE49-F238E27FC236}">
                <a16:creationId xmlns:a16="http://schemas.microsoft.com/office/drawing/2014/main" id="{50632D7F-DAC0-D5E7-5384-DB0320B88E85}"/>
              </a:ext>
            </a:extLst>
          </p:cNvPr>
          <p:cNvSpPr>
            <a:spLocks noGrp="1"/>
          </p:cNvSpPr>
          <p:nvPr>
            <p:ph type="title"/>
          </p:nvPr>
        </p:nvSpPr>
        <p:spPr>
          <a:xfrm>
            <a:off x="540000" y="273401"/>
            <a:ext cx="8280000" cy="443198"/>
          </a:xfrm>
          <a:prstGeom prst="rect">
            <a:avLst/>
          </a:prstGeom>
          <a:noFill/>
          <a:ln w="0">
            <a:noFill/>
          </a:ln>
        </p:spPr>
        <p:txBody>
          <a:bodyPr lIns="0" tIns="0" rIns="0" bIns="0" anchor="ctr">
            <a:spAutoFit/>
          </a:bodyPr>
          <a:lstStyle/>
          <a:p>
            <a:pPr algn="ctr"/>
            <a:r>
              <a:rPr lang="en-CA" sz="3200" b="1">
                <a:solidFill>
                  <a:srgbClr val="FF8000"/>
                </a:solidFill>
                <a:latin typeface="Arial"/>
              </a:rPr>
              <a:t>The Magic is done through API Calls...</a:t>
            </a:r>
            <a:endParaRPr lang="en-US"/>
          </a:p>
        </p:txBody>
      </p:sp>
      <p:pic>
        <p:nvPicPr>
          <p:cNvPr id="2" name="Content Placeholder 1" descr="A screenshot of a computer&#10;&#10;AI-generated content may be incorrect.">
            <a:extLst>
              <a:ext uri="{FF2B5EF4-FFF2-40B4-BE49-F238E27FC236}">
                <a16:creationId xmlns:a16="http://schemas.microsoft.com/office/drawing/2014/main" id="{7116C153-6101-F1EB-7845-D092AF8DCB81}"/>
              </a:ext>
            </a:extLst>
          </p:cNvPr>
          <p:cNvPicPr>
            <a:picLocks noGrp="1" noChangeAspect="1"/>
          </p:cNvPicPr>
          <p:nvPr>
            <p:ph/>
          </p:nvPr>
        </p:nvPicPr>
        <p:blipFill>
          <a:blip r:embed="rId3"/>
          <a:stretch>
            <a:fillRect/>
          </a:stretch>
        </p:blipFill>
        <p:spPr>
          <a:xfrm>
            <a:off x="410739" y="847095"/>
            <a:ext cx="9256130" cy="4557723"/>
          </a:xfrm>
          <a:prstGeom prst="rect">
            <a:avLst/>
          </a:prstGeom>
          <a:noFill/>
          <a:ln w="0">
            <a:noFill/>
          </a:ln>
        </p:spPr>
      </p:pic>
      <p:sp>
        <p:nvSpPr>
          <p:cNvPr id="5" name="PlaceHolder 4">
            <a:extLst>
              <a:ext uri="{FF2B5EF4-FFF2-40B4-BE49-F238E27FC236}">
                <a16:creationId xmlns:a16="http://schemas.microsoft.com/office/drawing/2014/main" id="{E824DDE2-2CCC-30A3-C1DC-61C8F25C8EDF}"/>
              </a:ext>
            </a:extLst>
          </p:cNvPr>
          <p:cNvSpPr>
            <a:spLocks noGrp="1"/>
          </p:cNvSpPr>
          <p:nvPr>
            <p:ph type="sldNum" idx="3"/>
          </p:nvPr>
        </p:nvSpPr>
        <p:spPr/>
        <p:txBody>
          <a:bodyPr/>
          <a:lstStyle/>
          <a:p>
            <a:fld id="{FA5931A3-EE72-4CE5-9978-6B328659D7F6}" type="slidenum">
              <a:t>6</a:t>
            </a:fld>
            <a:endParaRPr/>
          </a:p>
        </p:txBody>
      </p:sp>
    </p:spTree>
    <p:extLst>
      <p:ext uri="{BB962C8B-B14F-4D97-AF65-F5344CB8AC3E}">
        <p14:creationId xmlns:p14="http://schemas.microsoft.com/office/powerpoint/2010/main" val="1516793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57EF6-0F84-00F0-CF08-BE77E7108DA8}"/>
            </a:ext>
          </a:extLst>
        </p:cNvPr>
        <p:cNvGrpSpPr/>
        <p:nvPr/>
      </p:nvGrpSpPr>
      <p:grpSpPr>
        <a:xfrm>
          <a:off x="0" y="0"/>
          <a:ext cx="0" cy="0"/>
          <a:chOff x="0" y="0"/>
          <a:chExt cx="0" cy="0"/>
        </a:xfrm>
      </p:grpSpPr>
      <p:sp>
        <p:nvSpPr>
          <p:cNvPr id="29" name="PlaceHolder 1">
            <a:extLst>
              <a:ext uri="{FF2B5EF4-FFF2-40B4-BE49-F238E27FC236}">
                <a16:creationId xmlns:a16="http://schemas.microsoft.com/office/drawing/2014/main" id="{50AAB546-93B2-222C-9447-474CC9E2650B}"/>
              </a:ext>
            </a:extLst>
          </p:cNvPr>
          <p:cNvSpPr>
            <a:spLocks noGrp="1"/>
          </p:cNvSpPr>
          <p:nvPr>
            <p:ph type="title"/>
          </p:nvPr>
        </p:nvSpPr>
        <p:spPr>
          <a:xfrm>
            <a:off x="540000" y="273401"/>
            <a:ext cx="8280000" cy="443198"/>
          </a:xfrm>
          <a:prstGeom prst="rect">
            <a:avLst/>
          </a:prstGeom>
          <a:noFill/>
          <a:ln w="0">
            <a:noFill/>
          </a:ln>
        </p:spPr>
        <p:txBody>
          <a:bodyPr lIns="0" tIns="0" rIns="0" bIns="0" anchor="ctr">
            <a:spAutoFit/>
          </a:bodyPr>
          <a:lstStyle/>
          <a:p>
            <a:pPr algn="ctr"/>
            <a:r>
              <a:rPr lang="en-CA" sz="3200" b="1">
                <a:solidFill>
                  <a:srgbClr val="FF8000"/>
                </a:solidFill>
                <a:latin typeface="Arial"/>
              </a:rPr>
              <a:t>The API Request Payload</a:t>
            </a:r>
            <a:endParaRPr lang="en-US"/>
          </a:p>
        </p:txBody>
      </p:sp>
      <p:pic>
        <p:nvPicPr>
          <p:cNvPr id="2" name="Content Placeholder 1" descr="A screenshot of a computer&#10;&#10;AI-generated content may be incorrect.">
            <a:extLst>
              <a:ext uri="{FF2B5EF4-FFF2-40B4-BE49-F238E27FC236}">
                <a16:creationId xmlns:a16="http://schemas.microsoft.com/office/drawing/2014/main" id="{5BCEF385-74AC-EC11-C6DB-590BCD997CB1}"/>
              </a:ext>
            </a:extLst>
          </p:cNvPr>
          <p:cNvPicPr>
            <a:picLocks noGrp="1" noChangeAspect="1"/>
          </p:cNvPicPr>
          <p:nvPr>
            <p:ph/>
          </p:nvPr>
        </p:nvPicPr>
        <p:blipFill>
          <a:blip r:embed="rId3"/>
          <a:stretch>
            <a:fillRect/>
          </a:stretch>
        </p:blipFill>
        <p:spPr>
          <a:xfrm>
            <a:off x="195329" y="841218"/>
            <a:ext cx="9686709" cy="4695976"/>
          </a:xfrm>
          <a:prstGeom prst="rect">
            <a:avLst/>
          </a:prstGeom>
          <a:noFill/>
          <a:ln w="0">
            <a:noFill/>
          </a:ln>
        </p:spPr>
      </p:pic>
      <p:sp>
        <p:nvSpPr>
          <p:cNvPr id="5" name="PlaceHolder 4">
            <a:extLst>
              <a:ext uri="{FF2B5EF4-FFF2-40B4-BE49-F238E27FC236}">
                <a16:creationId xmlns:a16="http://schemas.microsoft.com/office/drawing/2014/main" id="{5CD11D60-8EF6-67E8-5E36-BBB95A45AD37}"/>
              </a:ext>
            </a:extLst>
          </p:cNvPr>
          <p:cNvSpPr>
            <a:spLocks noGrp="1"/>
          </p:cNvSpPr>
          <p:nvPr>
            <p:ph type="sldNum" idx="3"/>
          </p:nvPr>
        </p:nvSpPr>
        <p:spPr/>
        <p:txBody>
          <a:bodyPr/>
          <a:lstStyle/>
          <a:p>
            <a:fld id="{FA5931A3-EE72-4CE5-9978-6B328659D7F6}" type="slidenum">
              <a:t>7</a:t>
            </a:fld>
            <a:endParaRPr/>
          </a:p>
        </p:txBody>
      </p:sp>
    </p:spTree>
    <p:extLst>
      <p:ext uri="{BB962C8B-B14F-4D97-AF65-F5344CB8AC3E}">
        <p14:creationId xmlns:p14="http://schemas.microsoft.com/office/powerpoint/2010/main" val="4117425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B1F7B-BECC-6B16-272E-CC0215B87B70}"/>
            </a:ext>
          </a:extLst>
        </p:cNvPr>
        <p:cNvGrpSpPr/>
        <p:nvPr/>
      </p:nvGrpSpPr>
      <p:grpSpPr>
        <a:xfrm>
          <a:off x="0" y="0"/>
          <a:ext cx="0" cy="0"/>
          <a:chOff x="0" y="0"/>
          <a:chExt cx="0" cy="0"/>
        </a:xfrm>
      </p:grpSpPr>
      <p:sp>
        <p:nvSpPr>
          <p:cNvPr id="29" name="PlaceHolder 1">
            <a:extLst>
              <a:ext uri="{FF2B5EF4-FFF2-40B4-BE49-F238E27FC236}">
                <a16:creationId xmlns:a16="http://schemas.microsoft.com/office/drawing/2014/main" id="{258DEC0A-303F-3A0B-E5FD-F1401CF575B3}"/>
              </a:ext>
            </a:extLst>
          </p:cNvPr>
          <p:cNvSpPr>
            <a:spLocks noGrp="1"/>
          </p:cNvSpPr>
          <p:nvPr>
            <p:ph type="title"/>
          </p:nvPr>
        </p:nvSpPr>
        <p:spPr>
          <a:xfrm>
            <a:off x="540000" y="273401"/>
            <a:ext cx="8280000" cy="443198"/>
          </a:xfrm>
          <a:prstGeom prst="rect">
            <a:avLst/>
          </a:prstGeom>
          <a:noFill/>
          <a:ln w="0">
            <a:noFill/>
          </a:ln>
        </p:spPr>
        <p:txBody>
          <a:bodyPr lIns="0" tIns="0" rIns="0" bIns="0" anchor="ctr">
            <a:spAutoFit/>
          </a:bodyPr>
          <a:lstStyle/>
          <a:p>
            <a:pPr algn="ctr"/>
            <a:r>
              <a:rPr lang="en-CA" sz="3200" b="1">
                <a:solidFill>
                  <a:srgbClr val="FF8000"/>
                </a:solidFill>
                <a:latin typeface="Arial"/>
              </a:rPr>
              <a:t>The API Response</a:t>
            </a:r>
            <a:endParaRPr lang="en-US"/>
          </a:p>
        </p:txBody>
      </p:sp>
      <p:pic>
        <p:nvPicPr>
          <p:cNvPr id="2" name="Content Placeholder 1" descr="A screenshot of a computer&#10;&#10;AI-generated content may be incorrect.">
            <a:extLst>
              <a:ext uri="{FF2B5EF4-FFF2-40B4-BE49-F238E27FC236}">
                <a16:creationId xmlns:a16="http://schemas.microsoft.com/office/drawing/2014/main" id="{CCB56B58-9D21-CCFB-D788-48AF29CF47A8}"/>
              </a:ext>
            </a:extLst>
          </p:cNvPr>
          <p:cNvPicPr>
            <a:picLocks noGrp="1" noChangeAspect="1"/>
          </p:cNvPicPr>
          <p:nvPr>
            <p:ph/>
          </p:nvPr>
        </p:nvPicPr>
        <p:blipFill>
          <a:blip r:embed="rId3"/>
          <a:stretch>
            <a:fillRect/>
          </a:stretch>
        </p:blipFill>
        <p:spPr>
          <a:xfrm>
            <a:off x="520875" y="841218"/>
            <a:ext cx="9035617" cy="4695976"/>
          </a:xfrm>
          <a:prstGeom prst="rect">
            <a:avLst/>
          </a:prstGeom>
          <a:noFill/>
          <a:ln w="0">
            <a:noFill/>
          </a:ln>
        </p:spPr>
      </p:pic>
      <p:sp>
        <p:nvSpPr>
          <p:cNvPr id="5" name="PlaceHolder 4">
            <a:extLst>
              <a:ext uri="{FF2B5EF4-FFF2-40B4-BE49-F238E27FC236}">
                <a16:creationId xmlns:a16="http://schemas.microsoft.com/office/drawing/2014/main" id="{D8EA69F2-3818-4A05-40A6-49F4D3BDE294}"/>
              </a:ext>
            </a:extLst>
          </p:cNvPr>
          <p:cNvSpPr>
            <a:spLocks noGrp="1"/>
          </p:cNvSpPr>
          <p:nvPr>
            <p:ph type="sldNum" idx="3"/>
          </p:nvPr>
        </p:nvSpPr>
        <p:spPr/>
        <p:txBody>
          <a:bodyPr/>
          <a:lstStyle/>
          <a:p>
            <a:fld id="{FA5931A3-EE72-4CE5-9978-6B328659D7F6}" type="slidenum">
              <a:t>8</a:t>
            </a:fld>
            <a:endParaRPr/>
          </a:p>
        </p:txBody>
      </p:sp>
    </p:spTree>
    <p:extLst>
      <p:ext uri="{BB962C8B-B14F-4D97-AF65-F5344CB8AC3E}">
        <p14:creationId xmlns:p14="http://schemas.microsoft.com/office/powerpoint/2010/main" val="1046839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953B9-6D01-ACDF-8296-64332A5F854C}"/>
            </a:ext>
          </a:extLst>
        </p:cNvPr>
        <p:cNvGrpSpPr/>
        <p:nvPr/>
      </p:nvGrpSpPr>
      <p:grpSpPr>
        <a:xfrm>
          <a:off x="0" y="0"/>
          <a:ext cx="0" cy="0"/>
          <a:chOff x="0" y="0"/>
          <a:chExt cx="0" cy="0"/>
        </a:xfrm>
      </p:grpSpPr>
      <p:sp>
        <p:nvSpPr>
          <p:cNvPr id="29" name="PlaceHolder 1">
            <a:extLst>
              <a:ext uri="{FF2B5EF4-FFF2-40B4-BE49-F238E27FC236}">
                <a16:creationId xmlns:a16="http://schemas.microsoft.com/office/drawing/2014/main" id="{147AAEAB-EA04-BFFE-5078-D13F61333E03}"/>
              </a:ext>
            </a:extLst>
          </p:cNvPr>
          <p:cNvSpPr>
            <a:spLocks noGrp="1"/>
          </p:cNvSpPr>
          <p:nvPr>
            <p:ph type="title"/>
          </p:nvPr>
        </p:nvSpPr>
        <p:spPr>
          <a:xfrm>
            <a:off x="540000" y="273401"/>
            <a:ext cx="8280000" cy="443198"/>
          </a:xfrm>
          <a:prstGeom prst="rect">
            <a:avLst/>
          </a:prstGeom>
          <a:noFill/>
          <a:ln w="0">
            <a:noFill/>
          </a:ln>
        </p:spPr>
        <p:txBody>
          <a:bodyPr lIns="0" tIns="0" rIns="0" bIns="0" anchor="ctr">
            <a:spAutoFit/>
          </a:bodyPr>
          <a:lstStyle/>
          <a:p>
            <a:pPr algn="ctr"/>
            <a:r>
              <a:rPr lang="en-CA" sz="3200" b="1">
                <a:solidFill>
                  <a:srgbClr val="FF8000"/>
                </a:solidFill>
              </a:rPr>
              <a:t>Let's do an action! Sorting columns</a:t>
            </a:r>
            <a:endParaRPr lang="en-CA" sz="3200" b="1" dirty="0">
              <a:solidFill>
                <a:srgbClr val="FF8000"/>
              </a:solidFill>
            </a:endParaRPr>
          </a:p>
        </p:txBody>
      </p:sp>
      <p:pic>
        <p:nvPicPr>
          <p:cNvPr id="2" name="Content Placeholder 1" descr="A screenshot of a computer&#10;&#10;AI-generated content may be incorrect.">
            <a:extLst>
              <a:ext uri="{FF2B5EF4-FFF2-40B4-BE49-F238E27FC236}">
                <a16:creationId xmlns:a16="http://schemas.microsoft.com/office/drawing/2014/main" id="{9920086E-D7C5-47EC-846F-39FCBBBAA711}"/>
              </a:ext>
            </a:extLst>
          </p:cNvPr>
          <p:cNvPicPr>
            <a:picLocks noGrp="1" noChangeAspect="1"/>
          </p:cNvPicPr>
          <p:nvPr>
            <p:ph/>
          </p:nvPr>
        </p:nvPicPr>
        <p:blipFill>
          <a:blip r:embed="rId3"/>
          <a:stretch>
            <a:fillRect/>
          </a:stretch>
        </p:blipFill>
        <p:spPr>
          <a:xfrm>
            <a:off x="151987" y="828272"/>
            <a:ext cx="9773866" cy="4572743"/>
          </a:xfrm>
          <a:prstGeom prst="rect">
            <a:avLst/>
          </a:prstGeom>
          <a:noFill/>
          <a:ln w="0">
            <a:noFill/>
          </a:ln>
        </p:spPr>
      </p:pic>
      <p:sp>
        <p:nvSpPr>
          <p:cNvPr id="5" name="PlaceHolder 4">
            <a:extLst>
              <a:ext uri="{FF2B5EF4-FFF2-40B4-BE49-F238E27FC236}">
                <a16:creationId xmlns:a16="http://schemas.microsoft.com/office/drawing/2014/main" id="{CAC10B1F-E3BD-6B77-8F85-637DCA84C430}"/>
              </a:ext>
            </a:extLst>
          </p:cNvPr>
          <p:cNvSpPr>
            <a:spLocks noGrp="1"/>
          </p:cNvSpPr>
          <p:nvPr>
            <p:ph type="sldNum" idx="3"/>
          </p:nvPr>
        </p:nvSpPr>
        <p:spPr/>
        <p:txBody>
          <a:bodyPr/>
          <a:lstStyle/>
          <a:p>
            <a:fld id="{FA5931A3-EE72-4CE5-9978-6B328659D7F6}" type="slidenum">
              <a:t>9</a:t>
            </a:fld>
            <a:endParaRPr/>
          </a:p>
        </p:txBody>
      </p:sp>
    </p:spTree>
    <p:extLst>
      <p:ext uri="{BB962C8B-B14F-4D97-AF65-F5344CB8AC3E}">
        <p14:creationId xmlns:p14="http://schemas.microsoft.com/office/powerpoint/2010/main" val="2914050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D7D6B-301D-A6AD-C491-85C2CA7F91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445C08-6D09-4182-F314-3B2C3AC47476}"/>
              </a:ext>
            </a:extLst>
          </p:cNvPr>
          <p:cNvSpPr>
            <a:spLocks noGrp="1"/>
          </p:cNvSpPr>
          <p:nvPr>
            <p:ph type="title"/>
          </p:nvPr>
        </p:nvSpPr>
        <p:spPr>
          <a:xfrm>
            <a:off x="540000" y="273401"/>
            <a:ext cx="8280000" cy="443198"/>
          </a:xfrm>
        </p:spPr>
        <p:txBody>
          <a:bodyPr/>
          <a:lstStyle/>
          <a:p>
            <a:pPr algn="ctr"/>
            <a:r>
              <a:rPr lang="en-CA" sz="3200" b="1">
                <a:solidFill>
                  <a:srgbClr val="FF8000"/>
                </a:solidFill>
                <a:cs typeface="Arial"/>
              </a:rPr>
              <a:t>But what if the sorting was done in the UI?</a:t>
            </a:r>
            <a:endParaRPr lang="en-CA" sz="3200" b="1" dirty="0">
              <a:solidFill>
                <a:srgbClr val="FF8000"/>
              </a:solidFill>
              <a:cs typeface="Arial"/>
            </a:endParaRPr>
          </a:p>
        </p:txBody>
      </p:sp>
      <p:sp>
        <p:nvSpPr>
          <p:cNvPr id="4" name="TextBox 3">
            <a:extLst>
              <a:ext uri="{FF2B5EF4-FFF2-40B4-BE49-F238E27FC236}">
                <a16:creationId xmlns:a16="http://schemas.microsoft.com/office/drawing/2014/main" id="{CAECD197-1768-574D-0C41-D92BBBD3396E}"/>
              </a:ext>
            </a:extLst>
          </p:cNvPr>
          <p:cNvSpPr txBox="1"/>
          <p:nvPr/>
        </p:nvSpPr>
        <p:spPr>
          <a:xfrm>
            <a:off x="526734" y="922821"/>
            <a:ext cx="8699989"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000" dirty="0">
                <a:cs typeface="Arial"/>
              </a:rPr>
              <a:t>It can happen! But usually only with smaller data sets</a:t>
            </a:r>
            <a:endParaRPr lang="en-US" dirty="0"/>
          </a:p>
          <a:p>
            <a:pPr marL="457200" indent="-457200">
              <a:buFont typeface="Arial"/>
              <a:buChar char="•"/>
            </a:pPr>
            <a:endParaRPr lang="en-US" sz="3000" dirty="0">
              <a:cs typeface="Arial"/>
            </a:endParaRPr>
          </a:p>
          <a:p>
            <a:pPr marL="457200" indent="-457200">
              <a:buFont typeface="Arial"/>
              <a:buChar char="•"/>
            </a:pPr>
            <a:r>
              <a:rPr lang="en-US" sz="3000" dirty="0">
                <a:cs typeface="Arial"/>
              </a:rPr>
              <a:t>Globe and Mail Funds site actually has different sorting strategy over their set of pages</a:t>
            </a:r>
            <a:endParaRPr lang="en-US" dirty="0"/>
          </a:p>
          <a:p>
            <a:pPr marL="457200" indent="-457200">
              <a:buFont typeface="Arial"/>
              <a:buChar char="•"/>
            </a:pPr>
            <a:endParaRPr lang="en-US" sz="3000" dirty="0">
              <a:cs typeface="Arial"/>
            </a:endParaRPr>
          </a:p>
          <a:p>
            <a:pPr marL="457200" indent="-457200">
              <a:buFont typeface="Arial"/>
              <a:buChar char="•"/>
            </a:pPr>
            <a:r>
              <a:rPr lang="en-US" sz="3000" dirty="0">
                <a:cs typeface="Arial"/>
              </a:rPr>
              <a:t>Test Strategy remains similar, less API tests required, but more UI tests, which will be slower and more brittle</a:t>
            </a:r>
          </a:p>
        </p:txBody>
      </p:sp>
      <p:sp>
        <p:nvSpPr>
          <p:cNvPr id="5" name="PlaceHolder 4">
            <a:extLst>
              <a:ext uri="{FF2B5EF4-FFF2-40B4-BE49-F238E27FC236}">
                <a16:creationId xmlns:a16="http://schemas.microsoft.com/office/drawing/2014/main" id="{9D6A91B7-BDF4-688E-A1EC-0D450BAF7FFD}"/>
              </a:ext>
            </a:extLst>
          </p:cNvPr>
          <p:cNvSpPr>
            <a:spLocks noGrp="1"/>
          </p:cNvSpPr>
          <p:nvPr>
            <p:ph type="sldNum" idx="3"/>
          </p:nvPr>
        </p:nvSpPr>
        <p:spPr>
          <a:xfrm>
            <a:off x="7200000" y="5400000"/>
            <a:ext cx="2340000" cy="270000"/>
          </a:xfrm>
        </p:spPr>
        <p:txBody>
          <a:bodyPr/>
          <a:lstStyle/>
          <a:p>
            <a:fld id="{FA5931A3-EE72-4CE5-9978-6B328659D7F6}" type="slidenum">
              <a:t>10</a:t>
            </a:fld>
            <a:endParaRPr/>
          </a:p>
        </p:txBody>
      </p:sp>
    </p:spTree>
    <p:extLst>
      <p:ext uri="{BB962C8B-B14F-4D97-AF65-F5344CB8AC3E}">
        <p14:creationId xmlns:p14="http://schemas.microsoft.com/office/powerpoint/2010/main" val="3094630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BC2F0-C7F3-599B-78BB-49E9380ABD8C}"/>
            </a:ext>
          </a:extLst>
        </p:cNvPr>
        <p:cNvGrpSpPr/>
        <p:nvPr/>
      </p:nvGrpSpPr>
      <p:grpSpPr>
        <a:xfrm>
          <a:off x="0" y="0"/>
          <a:ext cx="0" cy="0"/>
          <a:chOff x="0" y="0"/>
          <a:chExt cx="0" cy="0"/>
        </a:xfrm>
      </p:grpSpPr>
      <p:sp>
        <p:nvSpPr>
          <p:cNvPr id="29" name="PlaceHolder 1">
            <a:extLst>
              <a:ext uri="{FF2B5EF4-FFF2-40B4-BE49-F238E27FC236}">
                <a16:creationId xmlns:a16="http://schemas.microsoft.com/office/drawing/2014/main" id="{E0CEC84E-586A-2DD7-4DD4-DE07E1FFE5A9}"/>
              </a:ext>
            </a:extLst>
          </p:cNvPr>
          <p:cNvSpPr>
            <a:spLocks noGrp="1"/>
          </p:cNvSpPr>
          <p:nvPr>
            <p:ph type="title"/>
          </p:nvPr>
        </p:nvSpPr>
        <p:spPr>
          <a:xfrm>
            <a:off x="540000" y="273401"/>
            <a:ext cx="8280000" cy="443198"/>
          </a:xfrm>
          <a:prstGeom prst="rect">
            <a:avLst/>
          </a:prstGeom>
          <a:noFill/>
          <a:ln w="0">
            <a:noFill/>
          </a:ln>
        </p:spPr>
        <p:txBody>
          <a:bodyPr lIns="0" tIns="0" rIns="0" bIns="0" anchor="ctr">
            <a:spAutoFit/>
          </a:bodyPr>
          <a:lstStyle/>
          <a:p>
            <a:pPr algn="ctr"/>
            <a:r>
              <a:rPr lang="en-CA" sz="3200" b="1">
                <a:solidFill>
                  <a:srgbClr val="FF8000"/>
                </a:solidFill>
                <a:latin typeface="Arial"/>
              </a:rPr>
              <a:t>Sorting by Front End</a:t>
            </a:r>
            <a:endParaRPr lang="en-US"/>
          </a:p>
        </p:txBody>
      </p:sp>
      <p:pic>
        <p:nvPicPr>
          <p:cNvPr id="2" name="Content Placeholder 1" descr="A screenshot of a computer&#10;&#10;AI-generated content may be incorrect.">
            <a:extLst>
              <a:ext uri="{FF2B5EF4-FFF2-40B4-BE49-F238E27FC236}">
                <a16:creationId xmlns:a16="http://schemas.microsoft.com/office/drawing/2014/main" id="{6752E908-2FA1-1FE3-4E23-F858847D6652}"/>
              </a:ext>
            </a:extLst>
          </p:cNvPr>
          <p:cNvPicPr>
            <a:picLocks noGrp="1" noChangeAspect="1"/>
          </p:cNvPicPr>
          <p:nvPr>
            <p:ph/>
          </p:nvPr>
        </p:nvPicPr>
        <p:blipFill>
          <a:blip r:embed="rId3"/>
          <a:stretch>
            <a:fillRect/>
          </a:stretch>
        </p:blipFill>
        <p:spPr>
          <a:xfrm>
            <a:off x="98222" y="887568"/>
            <a:ext cx="9888091" cy="4391837"/>
          </a:xfrm>
          <a:prstGeom prst="rect">
            <a:avLst/>
          </a:prstGeom>
          <a:noFill/>
          <a:ln w="0">
            <a:noFill/>
          </a:ln>
        </p:spPr>
      </p:pic>
      <p:sp>
        <p:nvSpPr>
          <p:cNvPr id="5" name="PlaceHolder 4">
            <a:extLst>
              <a:ext uri="{FF2B5EF4-FFF2-40B4-BE49-F238E27FC236}">
                <a16:creationId xmlns:a16="http://schemas.microsoft.com/office/drawing/2014/main" id="{9C0CC77E-B9A0-C964-2710-EE74F2FB122E}"/>
              </a:ext>
            </a:extLst>
          </p:cNvPr>
          <p:cNvSpPr>
            <a:spLocks noGrp="1"/>
          </p:cNvSpPr>
          <p:nvPr>
            <p:ph type="sldNum" idx="3"/>
          </p:nvPr>
        </p:nvSpPr>
        <p:spPr/>
        <p:txBody>
          <a:bodyPr/>
          <a:lstStyle/>
          <a:p>
            <a:fld id="{FA5931A3-EE72-4CE5-9978-6B328659D7F6}" type="slidenum">
              <a:t>11</a:t>
            </a:fld>
            <a:endParaRPr/>
          </a:p>
        </p:txBody>
      </p:sp>
    </p:spTree>
    <p:extLst>
      <p:ext uri="{BB962C8B-B14F-4D97-AF65-F5344CB8AC3E}">
        <p14:creationId xmlns:p14="http://schemas.microsoft.com/office/powerpoint/2010/main" val="1455763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D7824-0555-D2B6-DE87-FF53A05695EB}"/>
              </a:ext>
            </a:extLst>
          </p:cNvPr>
          <p:cNvSpPr>
            <a:spLocks noGrp="1"/>
          </p:cNvSpPr>
          <p:nvPr>
            <p:ph type="title"/>
          </p:nvPr>
        </p:nvSpPr>
        <p:spPr>
          <a:xfrm>
            <a:off x="540000" y="273401"/>
            <a:ext cx="8280000" cy="443198"/>
          </a:xfrm>
        </p:spPr>
        <p:txBody>
          <a:bodyPr/>
          <a:lstStyle/>
          <a:p>
            <a:pPr algn="ctr"/>
            <a:r>
              <a:rPr lang="en-CA" sz="3200" b="1">
                <a:solidFill>
                  <a:srgbClr val="FF8000"/>
                </a:solidFill>
                <a:cs typeface="Arial"/>
              </a:rPr>
              <a:t>Let's start API tests, then!</a:t>
            </a:r>
            <a:endParaRPr lang="en-US" sz="3200">
              <a:cs typeface="Arial"/>
            </a:endParaRPr>
          </a:p>
        </p:txBody>
      </p:sp>
      <p:sp>
        <p:nvSpPr>
          <p:cNvPr id="3" name="Content Placeholder 2">
            <a:extLst>
              <a:ext uri="{FF2B5EF4-FFF2-40B4-BE49-F238E27FC236}">
                <a16:creationId xmlns:a16="http://schemas.microsoft.com/office/drawing/2014/main" id="{8B5848EE-1BD0-6173-B626-7F9526835700}"/>
              </a:ext>
            </a:extLst>
          </p:cNvPr>
          <p:cNvSpPr>
            <a:spLocks noGrp="1"/>
          </p:cNvSpPr>
          <p:nvPr>
            <p:ph/>
          </p:nvPr>
        </p:nvSpPr>
        <p:spPr>
          <a:xfrm>
            <a:off x="538161" y="1103517"/>
            <a:ext cx="9038403" cy="3970318"/>
          </a:xfrm>
        </p:spPr>
        <p:txBody>
          <a:bodyPr/>
          <a:lstStyle/>
          <a:p>
            <a:pPr marL="457200" indent="-457200">
              <a:spcBef>
                <a:spcPts val="0"/>
              </a:spcBef>
              <a:spcAft>
                <a:spcPts val="600"/>
              </a:spcAft>
              <a:buFont typeface="Arial"/>
              <a:buChar char="•"/>
            </a:pPr>
            <a:r>
              <a:rPr lang="en-US" sz="3000" dirty="0">
                <a:cs typeface="Arial"/>
              </a:rPr>
              <a:t>Check that the number of funds/rows is what we requested</a:t>
            </a:r>
            <a:endParaRPr lang="en-US" sz="3000" dirty="0"/>
          </a:p>
          <a:p>
            <a:pPr marL="457200" indent="-457200">
              <a:spcBef>
                <a:spcPts val="0"/>
              </a:spcBef>
              <a:spcAft>
                <a:spcPts val="600"/>
              </a:spcAft>
              <a:buFont typeface="Arial"/>
              <a:buChar char="•"/>
            </a:pPr>
            <a:r>
              <a:rPr lang="en-US" sz="3000" dirty="0"/>
              <a:t>Verify that fields we requested match what we get as a response</a:t>
            </a:r>
            <a:endParaRPr lang="en-US" dirty="0"/>
          </a:p>
          <a:p>
            <a:pPr marL="457200" indent="-457200">
              <a:spcBef>
                <a:spcPts val="0"/>
              </a:spcBef>
              <a:spcAft>
                <a:spcPts val="600"/>
              </a:spcAft>
              <a:buFont typeface="Arial"/>
              <a:buChar char="•"/>
            </a:pPr>
            <a:r>
              <a:rPr lang="en-US" sz="3000" dirty="0"/>
              <a:t>Check that the sorting works (sorting and order)</a:t>
            </a:r>
          </a:p>
          <a:p>
            <a:endParaRPr lang="en-US" sz="3000" dirty="0"/>
          </a:p>
          <a:p>
            <a:r>
              <a:rPr lang="en-US" sz="3000" dirty="0"/>
              <a:t>More basic test: checking the right field values are returned. Requires access to known DB values or mock data being fed to the backend</a:t>
            </a:r>
            <a:endParaRPr lang="en-US" sz="3000" i="1" dirty="0"/>
          </a:p>
        </p:txBody>
      </p:sp>
      <p:sp>
        <p:nvSpPr>
          <p:cNvPr id="5" name="PlaceHolder 4">
            <a:extLst>
              <a:ext uri="{FF2B5EF4-FFF2-40B4-BE49-F238E27FC236}">
                <a16:creationId xmlns:a16="http://schemas.microsoft.com/office/drawing/2014/main" id="{0D2B5FCE-9655-F1ED-1963-92128EB3B60F}"/>
              </a:ext>
            </a:extLst>
          </p:cNvPr>
          <p:cNvSpPr>
            <a:spLocks noGrp="1"/>
          </p:cNvSpPr>
          <p:nvPr>
            <p:ph type="sldNum" idx="3"/>
          </p:nvPr>
        </p:nvSpPr>
        <p:spPr>
          <a:xfrm>
            <a:off x="7200000" y="5400000"/>
            <a:ext cx="2340000" cy="270000"/>
          </a:xfrm>
        </p:spPr>
        <p:txBody>
          <a:bodyPr/>
          <a:lstStyle/>
          <a:p>
            <a:fld id="{FA5931A3-EE72-4CE5-9978-6B328659D7F6}" type="slidenum">
              <a:t>12</a:t>
            </a:fld>
            <a:endParaRPr/>
          </a:p>
        </p:txBody>
      </p:sp>
    </p:spTree>
    <p:extLst>
      <p:ext uri="{BB962C8B-B14F-4D97-AF65-F5344CB8AC3E}">
        <p14:creationId xmlns:p14="http://schemas.microsoft.com/office/powerpoint/2010/main" val="35091584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66187-8D67-B494-34B5-83391D7F46FD}"/>
            </a:ext>
          </a:extLst>
        </p:cNvPr>
        <p:cNvGrpSpPr/>
        <p:nvPr/>
      </p:nvGrpSpPr>
      <p:grpSpPr>
        <a:xfrm>
          <a:off x="0" y="0"/>
          <a:ext cx="0" cy="0"/>
          <a:chOff x="0" y="0"/>
          <a:chExt cx="0" cy="0"/>
        </a:xfrm>
      </p:grpSpPr>
      <p:sp>
        <p:nvSpPr>
          <p:cNvPr id="29" name="PlaceHolder 1">
            <a:extLst>
              <a:ext uri="{FF2B5EF4-FFF2-40B4-BE49-F238E27FC236}">
                <a16:creationId xmlns:a16="http://schemas.microsoft.com/office/drawing/2014/main" id="{9382309D-43D2-9247-BB93-2941C69EC12E}"/>
              </a:ext>
            </a:extLst>
          </p:cNvPr>
          <p:cNvSpPr>
            <a:spLocks noGrp="1"/>
          </p:cNvSpPr>
          <p:nvPr>
            <p:ph type="title"/>
          </p:nvPr>
        </p:nvSpPr>
        <p:spPr>
          <a:xfrm>
            <a:off x="540000" y="273401"/>
            <a:ext cx="8280000" cy="443198"/>
          </a:xfrm>
          <a:prstGeom prst="rect">
            <a:avLst/>
          </a:prstGeom>
          <a:noFill/>
          <a:ln w="0">
            <a:noFill/>
          </a:ln>
        </p:spPr>
        <p:txBody>
          <a:bodyPr lIns="0" tIns="0" rIns="0" bIns="0" anchor="ctr">
            <a:spAutoFit/>
          </a:bodyPr>
          <a:lstStyle/>
          <a:p>
            <a:pPr algn="ctr"/>
            <a:r>
              <a:rPr lang="en-CA" sz="3200" b="1">
                <a:solidFill>
                  <a:srgbClr val="FF8000"/>
                </a:solidFill>
              </a:rPr>
              <a:t>Number of rows and fields returned</a:t>
            </a:r>
            <a:endParaRPr lang="en-CA" sz="3200" b="1" dirty="0">
              <a:solidFill>
                <a:srgbClr val="FF8000"/>
              </a:solidFill>
            </a:endParaRPr>
          </a:p>
        </p:txBody>
      </p:sp>
      <p:pic>
        <p:nvPicPr>
          <p:cNvPr id="2" name="Content Placeholder 1" descr="A screenshot of a computer screen&#10;&#10;AI-generated content may be incorrect.">
            <a:extLst>
              <a:ext uri="{FF2B5EF4-FFF2-40B4-BE49-F238E27FC236}">
                <a16:creationId xmlns:a16="http://schemas.microsoft.com/office/drawing/2014/main" id="{A1C1C108-930A-14C7-9A1C-14C60C880D5B}"/>
              </a:ext>
            </a:extLst>
          </p:cNvPr>
          <p:cNvPicPr>
            <a:picLocks noGrp="1" noChangeAspect="1"/>
          </p:cNvPicPr>
          <p:nvPr>
            <p:ph/>
          </p:nvPr>
        </p:nvPicPr>
        <p:blipFill>
          <a:blip r:embed="rId3"/>
          <a:stretch>
            <a:fillRect/>
          </a:stretch>
        </p:blipFill>
        <p:spPr>
          <a:xfrm>
            <a:off x="793482" y="843581"/>
            <a:ext cx="8489937" cy="4697934"/>
          </a:xfrm>
          <a:prstGeom prst="rect">
            <a:avLst/>
          </a:prstGeom>
          <a:noFill/>
          <a:ln w="0">
            <a:noFill/>
          </a:ln>
        </p:spPr>
      </p:pic>
      <p:sp>
        <p:nvSpPr>
          <p:cNvPr id="5" name="PlaceHolder 4">
            <a:extLst>
              <a:ext uri="{FF2B5EF4-FFF2-40B4-BE49-F238E27FC236}">
                <a16:creationId xmlns:a16="http://schemas.microsoft.com/office/drawing/2014/main" id="{7609A604-7EDC-C026-7A04-08C184A5E460}"/>
              </a:ext>
            </a:extLst>
          </p:cNvPr>
          <p:cNvSpPr>
            <a:spLocks noGrp="1"/>
          </p:cNvSpPr>
          <p:nvPr>
            <p:ph type="sldNum" idx="3"/>
          </p:nvPr>
        </p:nvSpPr>
        <p:spPr/>
        <p:txBody>
          <a:bodyPr/>
          <a:lstStyle/>
          <a:p>
            <a:fld id="{FA5931A3-EE72-4CE5-9978-6B328659D7F6}" type="slidenum">
              <a:t>13</a:t>
            </a:fld>
            <a:endParaRPr/>
          </a:p>
        </p:txBody>
      </p:sp>
    </p:spTree>
    <p:extLst>
      <p:ext uri="{BB962C8B-B14F-4D97-AF65-F5344CB8AC3E}">
        <p14:creationId xmlns:p14="http://schemas.microsoft.com/office/powerpoint/2010/main" val="35232322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3D08A-363F-1D3A-F9C6-395BED953E7B}"/>
            </a:ext>
          </a:extLst>
        </p:cNvPr>
        <p:cNvGrpSpPr/>
        <p:nvPr/>
      </p:nvGrpSpPr>
      <p:grpSpPr>
        <a:xfrm>
          <a:off x="0" y="0"/>
          <a:ext cx="0" cy="0"/>
          <a:chOff x="0" y="0"/>
          <a:chExt cx="0" cy="0"/>
        </a:xfrm>
      </p:grpSpPr>
      <p:sp>
        <p:nvSpPr>
          <p:cNvPr id="29" name="PlaceHolder 1">
            <a:extLst>
              <a:ext uri="{FF2B5EF4-FFF2-40B4-BE49-F238E27FC236}">
                <a16:creationId xmlns:a16="http://schemas.microsoft.com/office/drawing/2014/main" id="{E3FFB77A-D3D1-694C-13CE-E2A9AF28754B}"/>
              </a:ext>
            </a:extLst>
          </p:cNvPr>
          <p:cNvSpPr>
            <a:spLocks noGrp="1"/>
          </p:cNvSpPr>
          <p:nvPr>
            <p:ph type="title"/>
          </p:nvPr>
        </p:nvSpPr>
        <p:spPr>
          <a:xfrm>
            <a:off x="540000" y="273401"/>
            <a:ext cx="8280000" cy="443198"/>
          </a:xfrm>
          <a:prstGeom prst="rect">
            <a:avLst/>
          </a:prstGeom>
          <a:noFill/>
          <a:ln w="0">
            <a:noFill/>
          </a:ln>
        </p:spPr>
        <p:txBody>
          <a:bodyPr lIns="0" tIns="0" rIns="0" bIns="0" anchor="ctr">
            <a:spAutoFit/>
          </a:bodyPr>
          <a:lstStyle/>
          <a:p>
            <a:pPr algn="ctr"/>
            <a:r>
              <a:rPr lang="en-CA" sz="3200" b="1">
                <a:solidFill>
                  <a:srgbClr val="FF8000"/>
                </a:solidFill>
              </a:rPr>
              <a:t>Fields returned</a:t>
            </a:r>
            <a:endParaRPr lang="en-CA" sz="3200" b="1" dirty="0">
              <a:solidFill>
                <a:srgbClr val="FF8000"/>
              </a:solidFill>
            </a:endParaRPr>
          </a:p>
        </p:txBody>
      </p:sp>
      <p:pic>
        <p:nvPicPr>
          <p:cNvPr id="2" name="Content Placeholder 1" descr="A screen shot of a computer program&#10;&#10;AI-generated content may be incorrect.">
            <a:extLst>
              <a:ext uri="{FF2B5EF4-FFF2-40B4-BE49-F238E27FC236}">
                <a16:creationId xmlns:a16="http://schemas.microsoft.com/office/drawing/2014/main" id="{70661F01-FA01-6198-B4E5-7152B06E18DB}"/>
              </a:ext>
            </a:extLst>
          </p:cNvPr>
          <p:cNvPicPr>
            <a:picLocks noGrp="1" noChangeAspect="1"/>
          </p:cNvPicPr>
          <p:nvPr>
            <p:ph/>
          </p:nvPr>
        </p:nvPicPr>
        <p:blipFill>
          <a:blip r:embed="rId3"/>
          <a:stretch>
            <a:fillRect/>
          </a:stretch>
        </p:blipFill>
        <p:spPr>
          <a:xfrm>
            <a:off x="1689915" y="675411"/>
            <a:ext cx="6697331" cy="4906975"/>
          </a:xfrm>
          <a:prstGeom prst="rect">
            <a:avLst/>
          </a:prstGeom>
          <a:noFill/>
          <a:ln w="0">
            <a:noFill/>
          </a:ln>
        </p:spPr>
      </p:pic>
      <p:sp>
        <p:nvSpPr>
          <p:cNvPr id="5" name="PlaceHolder 4">
            <a:extLst>
              <a:ext uri="{FF2B5EF4-FFF2-40B4-BE49-F238E27FC236}">
                <a16:creationId xmlns:a16="http://schemas.microsoft.com/office/drawing/2014/main" id="{1DE46953-7659-2BB8-2F6A-6D6CF855C88E}"/>
              </a:ext>
            </a:extLst>
          </p:cNvPr>
          <p:cNvSpPr>
            <a:spLocks noGrp="1"/>
          </p:cNvSpPr>
          <p:nvPr>
            <p:ph type="sldNum" idx="3"/>
          </p:nvPr>
        </p:nvSpPr>
        <p:spPr/>
        <p:txBody>
          <a:bodyPr/>
          <a:lstStyle/>
          <a:p>
            <a:fld id="{FA5931A3-EE72-4CE5-9978-6B328659D7F6}" type="slidenum">
              <a:t>14</a:t>
            </a:fld>
            <a:endParaRPr/>
          </a:p>
        </p:txBody>
      </p:sp>
    </p:spTree>
    <p:extLst>
      <p:ext uri="{BB962C8B-B14F-4D97-AF65-F5344CB8AC3E}">
        <p14:creationId xmlns:p14="http://schemas.microsoft.com/office/powerpoint/2010/main" val="22803072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86EE0-E6F9-570F-3D85-BD52D5561190}"/>
            </a:ext>
          </a:extLst>
        </p:cNvPr>
        <p:cNvGrpSpPr/>
        <p:nvPr/>
      </p:nvGrpSpPr>
      <p:grpSpPr>
        <a:xfrm>
          <a:off x="0" y="0"/>
          <a:ext cx="0" cy="0"/>
          <a:chOff x="0" y="0"/>
          <a:chExt cx="0" cy="0"/>
        </a:xfrm>
      </p:grpSpPr>
      <p:sp>
        <p:nvSpPr>
          <p:cNvPr id="29" name="PlaceHolder 1">
            <a:extLst>
              <a:ext uri="{FF2B5EF4-FFF2-40B4-BE49-F238E27FC236}">
                <a16:creationId xmlns:a16="http://schemas.microsoft.com/office/drawing/2014/main" id="{2D587808-FA4C-C93C-433E-E6B3E362CBA5}"/>
              </a:ext>
            </a:extLst>
          </p:cNvPr>
          <p:cNvSpPr>
            <a:spLocks noGrp="1"/>
          </p:cNvSpPr>
          <p:nvPr>
            <p:ph type="title"/>
          </p:nvPr>
        </p:nvSpPr>
        <p:spPr>
          <a:xfrm>
            <a:off x="540000" y="273401"/>
            <a:ext cx="8280000" cy="443198"/>
          </a:xfrm>
          <a:prstGeom prst="rect">
            <a:avLst/>
          </a:prstGeom>
          <a:noFill/>
          <a:ln w="0">
            <a:noFill/>
          </a:ln>
        </p:spPr>
        <p:txBody>
          <a:bodyPr lIns="0" tIns="0" rIns="0" bIns="0" anchor="ctr">
            <a:spAutoFit/>
          </a:bodyPr>
          <a:lstStyle/>
          <a:p>
            <a:pPr algn="ctr"/>
            <a:r>
              <a:rPr lang="en-CA" sz="3200" b="1">
                <a:solidFill>
                  <a:srgbClr val="FF8000"/>
                </a:solidFill>
              </a:rPr>
              <a:t>Remember to validate the UI </a:t>
            </a:r>
            <a:r>
              <a:rPr lang="en-CA" sz="3200" b="1" dirty="0">
                <a:solidFill>
                  <a:srgbClr val="FF8000"/>
                </a:solidFill>
              </a:rPr>
              <a:t>request!</a:t>
            </a:r>
          </a:p>
        </p:txBody>
      </p:sp>
      <p:pic>
        <p:nvPicPr>
          <p:cNvPr id="2" name="Content Placeholder 1" descr="A screen shot of a computer program&#10;&#10;AI-generated content may be incorrect.">
            <a:extLst>
              <a:ext uri="{FF2B5EF4-FFF2-40B4-BE49-F238E27FC236}">
                <a16:creationId xmlns:a16="http://schemas.microsoft.com/office/drawing/2014/main" id="{DE5161A2-C716-E0B7-4591-949783DE6251}"/>
              </a:ext>
            </a:extLst>
          </p:cNvPr>
          <p:cNvPicPr>
            <a:picLocks noGrp="1" noChangeAspect="1"/>
          </p:cNvPicPr>
          <p:nvPr>
            <p:ph/>
          </p:nvPr>
        </p:nvPicPr>
        <p:blipFill>
          <a:blip r:embed="rId3"/>
          <a:stretch>
            <a:fillRect/>
          </a:stretch>
        </p:blipFill>
        <p:spPr>
          <a:xfrm>
            <a:off x="143070" y="986678"/>
            <a:ext cx="9795343" cy="4194227"/>
          </a:xfrm>
          <a:prstGeom prst="rect">
            <a:avLst/>
          </a:prstGeom>
          <a:noFill/>
          <a:ln w="0">
            <a:noFill/>
          </a:ln>
        </p:spPr>
      </p:pic>
      <p:sp>
        <p:nvSpPr>
          <p:cNvPr id="5" name="PlaceHolder 4">
            <a:extLst>
              <a:ext uri="{FF2B5EF4-FFF2-40B4-BE49-F238E27FC236}">
                <a16:creationId xmlns:a16="http://schemas.microsoft.com/office/drawing/2014/main" id="{C0DB7D23-0598-1A1B-4690-82A5300318CD}"/>
              </a:ext>
            </a:extLst>
          </p:cNvPr>
          <p:cNvSpPr>
            <a:spLocks noGrp="1"/>
          </p:cNvSpPr>
          <p:nvPr>
            <p:ph type="sldNum" idx="3"/>
          </p:nvPr>
        </p:nvSpPr>
        <p:spPr/>
        <p:txBody>
          <a:bodyPr/>
          <a:lstStyle/>
          <a:p>
            <a:fld id="{FA5931A3-EE72-4CE5-9978-6B328659D7F6}" type="slidenum">
              <a:rPr lang="en-US"/>
              <a:t>15</a:t>
            </a:fld>
            <a:endParaRPr lang="en-US"/>
          </a:p>
        </p:txBody>
      </p:sp>
    </p:spTree>
    <p:extLst>
      <p:ext uri="{BB962C8B-B14F-4D97-AF65-F5344CB8AC3E}">
        <p14:creationId xmlns:p14="http://schemas.microsoft.com/office/powerpoint/2010/main" val="28306513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42745-5553-F948-0992-A72C29AED589}"/>
            </a:ext>
          </a:extLst>
        </p:cNvPr>
        <p:cNvGrpSpPr/>
        <p:nvPr/>
      </p:nvGrpSpPr>
      <p:grpSpPr>
        <a:xfrm>
          <a:off x="0" y="0"/>
          <a:ext cx="0" cy="0"/>
          <a:chOff x="0" y="0"/>
          <a:chExt cx="0" cy="0"/>
        </a:xfrm>
      </p:grpSpPr>
      <p:sp>
        <p:nvSpPr>
          <p:cNvPr id="29" name="PlaceHolder 1">
            <a:extLst>
              <a:ext uri="{FF2B5EF4-FFF2-40B4-BE49-F238E27FC236}">
                <a16:creationId xmlns:a16="http://schemas.microsoft.com/office/drawing/2014/main" id="{9817622C-7260-6197-FA38-8C16CA35138C}"/>
              </a:ext>
            </a:extLst>
          </p:cNvPr>
          <p:cNvSpPr>
            <a:spLocks noGrp="1"/>
          </p:cNvSpPr>
          <p:nvPr>
            <p:ph type="title"/>
          </p:nvPr>
        </p:nvSpPr>
        <p:spPr>
          <a:xfrm>
            <a:off x="540000" y="273401"/>
            <a:ext cx="8280000" cy="443198"/>
          </a:xfrm>
          <a:prstGeom prst="rect">
            <a:avLst/>
          </a:prstGeom>
          <a:noFill/>
          <a:ln w="0">
            <a:noFill/>
          </a:ln>
        </p:spPr>
        <p:txBody>
          <a:bodyPr lIns="0" tIns="0" rIns="0" bIns="0" anchor="ctr">
            <a:spAutoFit/>
          </a:bodyPr>
          <a:lstStyle/>
          <a:p>
            <a:pPr algn="ctr"/>
            <a:r>
              <a:rPr lang="en-CA" sz="3200" b="1">
                <a:solidFill>
                  <a:srgbClr val="FF8000"/>
                </a:solidFill>
              </a:rPr>
              <a:t>Sorting test</a:t>
            </a:r>
            <a:endParaRPr lang="en-US"/>
          </a:p>
        </p:txBody>
      </p:sp>
      <p:pic>
        <p:nvPicPr>
          <p:cNvPr id="2" name="Content Placeholder 1" descr="A screenshot of a computer program&#10;&#10;AI-generated content may be incorrect.">
            <a:extLst>
              <a:ext uri="{FF2B5EF4-FFF2-40B4-BE49-F238E27FC236}">
                <a16:creationId xmlns:a16="http://schemas.microsoft.com/office/drawing/2014/main" id="{E4C4A738-9715-CE3E-2A8E-68B736561FE2}"/>
              </a:ext>
            </a:extLst>
          </p:cNvPr>
          <p:cNvPicPr>
            <a:picLocks noGrp="1" noChangeAspect="1"/>
          </p:cNvPicPr>
          <p:nvPr>
            <p:ph/>
          </p:nvPr>
        </p:nvPicPr>
        <p:blipFill>
          <a:blip r:embed="rId3"/>
          <a:stretch>
            <a:fillRect/>
          </a:stretch>
        </p:blipFill>
        <p:spPr>
          <a:xfrm>
            <a:off x="1451212" y="731715"/>
            <a:ext cx="7178996" cy="4805239"/>
          </a:xfrm>
          <a:prstGeom prst="rect">
            <a:avLst/>
          </a:prstGeom>
          <a:noFill/>
          <a:ln w="0">
            <a:noFill/>
          </a:ln>
        </p:spPr>
      </p:pic>
      <p:sp>
        <p:nvSpPr>
          <p:cNvPr id="5" name="PlaceHolder 4">
            <a:extLst>
              <a:ext uri="{FF2B5EF4-FFF2-40B4-BE49-F238E27FC236}">
                <a16:creationId xmlns:a16="http://schemas.microsoft.com/office/drawing/2014/main" id="{D76F0583-5AA7-954A-B83B-168892E2B800}"/>
              </a:ext>
            </a:extLst>
          </p:cNvPr>
          <p:cNvSpPr>
            <a:spLocks noGrp="1"/>
          </p:cNvSpPr>
          <p:nvPr>
            <p:ph type="sldNum" idx="3"/>
          </p:nvPr>
        </p:nvSpPr>
        <p:spPr/>
        <p:txBody>
          <a:bodyPr/>
          <a:lstStyle/>
          <a:p>
            <a:fld id="{FA5931A3-EE72-4CE5-9978-6B328659D7F6}" type="slidenum">
              <a:rPr lang="en-US"/>
              <a:t>16</a:t>
            </a:fld>
            <a:endParaRPr lang="en-US"/>
          </a:p>
        </p:txBody>
      </p:sp>
    </p:spTree>
    <p:extLst>
      <p:ext uri="{BB962C8B-B14F-4D97-AF65-F5344CB8AC3E}">
        <p14:creationId xmlns:p14="http://schemas.microsoft.com/office/powerpoint/2010/main" val="10975449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D63FD-3A71-3C62-A5E8-900D822D1C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72FAD0-DA90-F1F8-6564-A3D5B55EDB63}"/>
              </a:ext>
            </a:extLst>
          </p:cNvPr>
          <p:cNvSpPr>
            <a:spLocks noGrp="1"/>
          </p:cNvSpPr>
          <p:nvPr>
            <p:ph type="title"/>
          </p:nvPr>
        </p:nvSpPr>
        <p:spPr>
          <a:xfrm>
            <a:off x="540000" y="273401"/>
            <a:ext cx="8280000" cy="443198"/>
          </a:xfrm>
        </p:spPr>
        <p:txBody>
          <a:bodyPr/>
          <a:lstStyle/>
          <a:p>
            <a:pPr algn="ctr"/>
            <a:r>
              <a:rPr lang="en-CA" sz="3200" b="1">
                <a:solidFill>
                  <a:srgbClr val="FF8000"/>
                </a:solidFill>
                <a:cs typeface="Arial"/>
              </a:rPr>
              <a:t>Ok, that's enough API tests, right?</a:t>
            </a:r>
            <a:endParaRPr lang="en-US" sz="3200">
              <a:cs typeface="Arial"/>
            </a:endParaRPr>
          </a:p>
        </p:txBody>
      </p:sp>
      <p:sp>
        <p:nvSpPr>
          <p:cNvPr id="3" name="Content Placeholder 2">
            <a:extLst>
              <a:ext uri="{FF2B5EF4-FFF2-40B4-BE49-F238E27FC236}">
                <a16:creationId xmlns:a16="http://schemas.microsoft.com/office/drawing/2014/main" id="{665D295B-BBD6-AE95-CCC4-8CC746243355}"/>
              </a:ext>
            </a:extLst>
          </p:cNvPr>
          <p:cNvSpPr>
            <a:spLocks noGrp="1"/>
          </p:cNvSpPr>
          <p:nvPr>
            <p:ph/>
          </p:nvPr>
        </p:nvSpPr>
        <p:spPr>
          <a:xfrm>
            <a:off x="519783" y="1001619"/>
            <a:ext cx="9038403" cy="415498"/>
          </a:xfrm>
        </p:spPr>
        <p:txBody>
          <a:bodyPr/>
          <a:lstStyle/>
          <a:p>
            <a:r>
              <a:rPr lang="en-US" sz="3000" dirty="0"/>
              <a:t>Uh noooo!</a:t>
            </a:r>
            <a:r>
              <a:rPr lang="en-US" sz="3000"/>
              <a:t> What about </a:t>
            </a:r>
            <a:r>
              <a:rPr lang="en-US" sz="3000" b="1" dirty="0"/>
              <a:t>negative</a:t>
            </a:r>
            <a:r>
              <a:rPr lang="en-US" sz="3000" dirty="0"/>
              <a:t> tests?</a:t>
            </a:r>
            <a:endParaRPr lang="en-US" sz="3000" i="1" dirty="0"/>
          </a:p>
        </p:txBody>
      </p:sp>
      <p:sp>
        <p:nvSpPr>
          <p:cNvPr id="8" name="TextBox 7">
            <a:extLst>
              <a:ext uri="{FF2B5EF4-FFF2-40B4-BE49-F238E27FC236}">
                <a16:creationId xmlns:a16="http://schemas.microsoft.com/office/drawing/2014/main" id="{002E903D-4C99-A378-6D9A-CF494636938D}"/>
              </a:ext>
            </a:extLst>
          </p:cNvPr>
          <p:cNvSpPr txBox="1"/>
          <p:nvPr/>
        </p:nvSpPr>
        <p:spPr>
          <a:xfrm>
            <a:off x="523362" y="1536057"/>
            <a:ext cx="8706731" cy="2400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000" dirty="0">
                <a:cs typeface="Arial"/>
              </a:rPr>
              <a:t>Missing fields in API body request</a:t>
            </a:r>
            <a:endParaRPr lang="en-US" dirty="0"/>
          </a:p>
          <a:p>
            <a:pPr marL="457200" indent="-457200">
              <a:buFont typeface="Arial"/>
              <a:buChar char="•"/>
            </a:pPr>
            <a:r>
              <a:rPr lang="en-US" sz="3000" dirty="0">
                <a:cs typeface="Arial"/>
              </a:rPr>
              <a:t>Bad values/types for each request field</a:t>
            </a:r>
            <a:endParaRPr lang="en-US" dirty="0">
              <a:cs typeface="Arial"/>
            </a:endParaRPr>
          </a:p>
          <a:p>
            <a:pPr marL="457200" indent="-457200">
              <a:buFont typeface="Arial"/>
              <a:buChar char="•"/>
            </a:pPr>
            <a:r>
              <a:rPr lang="en-US" sz="3000">
                <a:cs typeface="Arial"/>
              </a:rPr>
              <a:t>Other, like unsupported HTTP methods, etc.</a:t>
            </a:r>
          </a:p>
          <a:p>
            <a:pPr marL="457200" indent="-457200">
              <a:buFont typeface="Arial"/>
              <a:buChar char="•"/>
            </a:pPr>
            <a:endParaRPr lang="en-US" sz="3000" dirty="0">
              <a:cs typeface="Arial"/>
            </a:endParaRPr>
          </a:p>
          <a:p>
            <a:r>
              <a:rPr lang="en-US" sz="3000" dirty="0">
                <a:cs typeface="Arial"/>
              </a:rPr>
              <a:t>Basically, try to </a:t>
            </a:r>
            <a:r>
              <a:rPr lang="en-US" sz="3000" b="1" dirty="0">
                <a:solidFill>
                  <a:srgbClr val="FF0000"/>
                </a:solidFill>
                <a:cs typeface="Arial"/>
              </a:rPr>
              <a:t>break</a:t>
            </a:r>
            <a:r>
              <a:rPr lang="en-US" sz="3000" dirty="0">
                <a:cs typeface="Arial"/>
              </a:rPr>
              <a:t> stuff...</a:t>
            </a:r>
            <a:endParaRPr lang="en-US" dirty="0"/>
          </a:p>
        </p:txBody>
      </p:sp>
      <p:sp>
        <p:nvSpPr>
          <p:cNvPr id="12" name="TextBox 11">
            <a:extLst>
              <a:ext uri="{FF2B5EF4-FFF2-40B4-BE49-F238E27FC236}">
                <a16:creationId xmlns:a16="http://schemas.microsoft.com/office/drawing/2014/main" id="{097D4E8E-A85E-D663-A9A3-D28E40692E33}"/>
              </a:ext>
            </a:extLst>
          </p:cNvPr>
          <p:cNvSpPr txBox="1"/>
          <p:nvPr/>
        </p:nvSpPr>
        <p:spPr>
          <a:xfrm>
            <a:off x="519659" y="4110701"/>
            <a:ext cx="8706731"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i="1">
                <a:cs typeface="Arial"/>
              </a:rPr>
              <a:t>Not applicable here, but remember to check for authentication and permissions at the API level</a:t>
            </a:r>
          </a:p>
        </p:txBody>
      </p:sp>
      <p:sp>
        <p:nvSpPr>
          <p:cNvPr id="5" name="PlaceHolder 4">
            <a:extLst>
              <a:ext uri="{FF2B5EF4-FFF2-40B4-BE49-F238E27FC236}">
                <a16:creationId xmlns:a16="http://schemas.microsoft.com/office/drawing/2014/main" id="{E7E5AD8D-4452-1CDE-6FF2-769A76AD038B}"/>
              </a:ext>
            </a:extLst>
          </p:cNvPr>
          <p:cNvSpPr>
            <a:spLocks noGrp="1"/>
          </p:cNvSpPr>
          <p:nvPr>
            <p:ph type="sldNum" idx="3"/>
          </p:nvPr>
        </p:nvSpPr>
        <p:spPr>
          <a:xfrm>
            <a:off x="7200000" y="5400000"/>
            <a:ext cx="2340000" cy="270000"/>
          </a:xfrm>
        </p:spPr>
        <p:txBody>
          <a:bodyPr/>
          <a:lstStyle/>
          <a:p>
            <a:fld id="{FA5931A3-EE72-4CE5-9978-6B328659D7F6}" type="slidenum">
              <a:rPr lang="en-US"/>
              <a:t>17</a:t>
            </a:fld>
            <a:endParaRPr lang="en-US"/>
          </a:p>
        </p:txBody>
      </p:sp>
    </p:spTree>
    <p:extLst>
      <p:ext uri="{BB962C8B-B14F-4D97-AF65-F5344CB8AC3E}">
        <p14:creationId xmlns:p14="http://schemas.microsoft.com/office/powerpoint/2010/main" val="3291478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BC911-98A8-238D-5676-CA336B4F2F1F}"/>
            </a:ext>
          </a:extLst>
        </p:cNvPr>
        <p:cNvGrpSpPr/>
        <p:nvPr/>
      </p:nvGrpSpPr>
      <p:grpSpPr>
        <a:xfrm>
          <a:off x="0" y="0"/>
          <a:ext cx="0" cy="0"/>
          <a:chOff x="0" y="0"/>
          <a:chExt cx="0" cy="0"/>
        </a:xfrm>
      </p:grpSpPr>
      <p:sp>
        <p:nvSpPr>
          <p:cNvPr id="29" name="PlaceHolder 1">
            <a:extLst>
              <a:ext uri="{FF2B5EF4-FFF2-40B4-BE49-F238E27FC236}">
                <a16:creationId xmlns:a16="http://schemas.microsoft.com/office/drawing/2014/main" id="{4143CE4A-F854-F159-80E7-E527EB142374}"/>
              </a:ext>
            </a:extLst>
          </p:cNvPr>
          <p:cNvSpPr>
            <a:spLocks noGrp="1"/>
          </p:cNvSpPr>
          <p:nvPr>
            <p:ph type="title"/>
          </p:nvPr>
        </p:nvSpPr>
        <p:spPr>
          <a:xfrm>
            <a:off x="540000" y="273401"/>
            <a:ext cx="8280000" cy="443198"/>
          </a:xfrm>
          <a:prstGeom prst="rect">
            <a:avLst/>
          </a:prstGeom>
          <a:noFill/>
          <a:ln w="0">
            <a:noFill/>
          </a:ln>
        </p:spPr>
        <p:txBody>
          <a:bodyPr lIns="0" tIns="0" rIns="0" bIns="0" anchor="ctr">
            <a:spAutoFit/>
          </a:bodyPr>
          <a:lstStyle/>
          <a:p>
            <a:pPr algn="ctr"/>
            <a:r>
              <a:rPr lang="en-CA" sz="3200" b="1">
                <a:solidFill>
                  <a:srgbClr val="FF8000"/>
                </a:solidFill>
              </a:rPr>
              <a:t>Missing Parameter in Request</a:t>
            </a:r>
            <a:endParaRPr lang="en-US"/>
          </a:p>
        </p:txBody>
      </p:sp>
      <p:pic>
        <p:nvPicPr>
          <p:cNvPr id="2" name="Content Placeholder 1" descr="A screen shot of a computer&#10;&#10;AI-generated content may be incorrect.">
            <a:extLst>
              <a:ext uri="{FF2B5EF4-FFF2-40B4-BE49-F238E27FC236}">
                <a16:creationId xmlns:a16="http://schemas.microsoft.com/office/drawing/2014/main" id="{818A2DF3-AA85-6362-30BC-9E8D9C2C98A7}"/>
              </a:ext>
            </a:extLst>
          </p:cNvPr>
          <p:cNvPicPr>
            <a:picLocks noGrp="1" noChangeAspect="1"/>
          </p:cNvPicPr>
          <p:nvPr>
            <p:ph/>
          </p:nvPr>
        </p:nvPicPr>
        <p:blipFill>
          <a:blip r:embed="rId3"/>
          <a:stretch>
            <a:fillRect/>
          </a:stretch>
        </p:blipFill>
        <p:spPr>
          <a:xfrm>
            <a:off x="1002925" y="859763"/>
            <a:ext cx="8075442" cy="4746742"/>
          </a:xfrm>
          <a:prstGeom prst="rect">
            <a:avLst/>
          </a:prstGeom>
          <a:noFill/>
          <a:ln w="0">
            <a:noFill/>
          </a:ln>
        </p:spPr>
      </p:pic>
      <p:sp>
        <p:nvSpPr>
          <p:cNvPr id="5" name="PlaceHolder 4">
            <a:extLst>
              <a:ext uri="{FF2B5EF4-FFF2-40B4-BE49-F238E27FC236}">
                <a16:creationId xmlns:a16="http://schemas.microsoft.com/office/drawing/2014/main" id="{D334B7E4-BA50-9585-C0FB-877A6D177965}"/>
              </a:ext>
            </a:extLst>
          </p:cNvPr>
          <p:cNvSpPr>
            <a:spLocks noGrp="1"/>
          </p:cNvSpPr>
          <p:nvPr>
            <p:ph type="sldNum" idx="3"/>
          </p:nvPr>
        </p:nvSpPr>
        <p:spPr/>
        <p:txBody>
          <a:bodyPr/>
          <a:lstStyle/>
          <a:p>
            <a:fld id="{FA5931A3-EE72-4CE5-9978-6B328659D7F6}" type="slidenum">
              <a:rPr lang="en-US"/>
              <a:t>18</a:t>
            </a:fld>
            <a:endParaRPr lang="en-US"/>
          </a:p>
        </p:txBody>
      </p:sp>
    </p:spTree>
    <p:extLst>
      <p:ext uri="{BB962C8B-B14F-4D97-AF65-F5344CB8AC3E}">
        <p14:creationId xmlns:p14="http://schemas.microsoft.com/office/powerpoint/2010/main" val="1282846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ED070-4A9C-134F-7A45-BA5E252933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7215A3-442A-39CC-03F3-CC9C0AB26895}"/>
              </a:ext>
            </a:extLst>
          </p:cNvPr>
          <p:cNvSpPr>
            <a:spLocks noGrp="1"/>
          </p:cNvSpPr>
          <p:nvPr>
            <p:ph type="title"/>
          </p:nvPr>
        </p:nvSpPr>
        <p:spPr>
          <a:xfrm>
            <a:off x="540000" y="273401"/>
            <a:ext cx="8280000" cy="443198"/>
          </a:xfrm>
        </p:spPr>
        <p:txBody>
          <a:bodyPr/>
          <a:lstStyle/>
          <a:p>
            <a:pPr algn="ctr"/>
            <a:r>
              <a:rPr lang="en-CA" sz="3200" b="1">
                <a:solidFill>
                  <a:srgbClr val="FF8000"/>
                </a:solidFill>
                <a:cs typeface="Arial"/>
              </a:rPr>
              <a:t>Go APIs! But we still need to test UI, right?</a:t>
            </a:r>
            <a:endParaRPr lang="en-US" sz="3200" dirty="0">
              <a:cs typeface="Arial"/>
            </a:endParaRPr>
          </a:p>
        </p:txBody>
      </p:sp>
      <p:sp>
        <p:nvSpPr>
          <p:cNvPr id="8" name="TextBox 7">
            <a:extLst>
              <a:ext uri="{FF2B5EF4-FFF2-40B4-BE49-F238E27FC236}">
                <a16:creationId xmlns:a16="http://schemas.microsoft.com/office/drawing/2014/main" id="{441C27E4-4C33-A8BC-67F3-41B567F02233}"/>
              </a:ext>
            </a:extLst>
          </p:cNvPr>
          <p:cNvSpPr txBox="1"/>
          <p:nvPr/>
        </p:nvSpPr>
        <p:spPr>
          <a:xfrm>
            <a:off x="540856" y="989500"/>
            <a:ext cx="8699989" cy="35394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dirty="0">
                <a:cs typeface="Arial"/>
              </a:rPr>
              <a:t>Yes! But let's call them "Front End" tests. FE does a few things when sorting, even though the API does the sorting:</a:t>
            </a:r>
            <a:endParaRPr lang="en-US" dirty="0"/>
          </a:p>
          <a:p>
            <a:endParaRPr lang="en-US" sz="1600" dirty="0">
              <a:cs typeface="Arial"/>
            </a:endParaRPr>
          </a:p>
          <a:p>
            <a:pPr marL="457200" indent="-457200">
              <a:buFont typeface="Arial"/>
              <a:buChar char="•"/>
            </a:pPr>
            <a:r>
              <a:rPr lang="en-US" sz="3000" dirty="0">
                <a:cs typeface="Arial"/>
              </a:rPr>
              <a:t>Adds the right sort indicator in the right column</a:t>
            </a:r>
            <a:endParaRPr lang="en-US" dirty="0"/>
          </a:p>
          <a:p>
            <a:pPr marL="457200" indent="-457200">
              <a:buFont typeface="Arial"/>
              <a:buChar char="•"/>
            </a:pPr>
            <a:endParaRPr lang="en-US" sz="1600" dirty="0">
              <a:cs typeface="Arial"/>
            </a:endParaRPr>
          </a:p>
          <a:p>
            <a:pPr marL="457200" indent="-457200">
              <a:buFont typeface="Arial"/>
              <a:buChar char="•"/>
            </a:pPr>
            <a:r>
              <a:rPr lang="en-US" sz="3000" dirty="0">
                <a:cs typeface="Arial"/>
              </a:rPr>
              <a:t>Calls API with the right column and sort order</a:t>
            </a:r>
          </a:p>
          <a:p>
            <a:pPr marL="457200" indent="-457200">
              <a:buFont typeface="Arial"/>
              <a:buChar char="•"/>
            </a:pPr>
            <a:endParaRPr lang="en-US" sz="1600" dirty="0">
              <a:cs typeface="Arial"/>
            </a:endParaRPr>
          </a:p>
          <a:p>
            <a:r>
              <a:rPr lang="en-US" sz="2600" i="1" dirty="0">
                <a:cs typeface="Arial"/>
              </a:rPr>
              <a:t>There are other "UI" tests to be done, we'll see them later</a:t>
            </a:r>
          </a:p>
        </p:txBody>
      </p:sp>
      <p:sp>
        <p:nvSpPr>
          <p:cNvPr id="4" name="PlaceHolder 4">
            <a:extLst>
              <a:ext uri="{FF2B5EF4-FFF2-40B4-BE49-F238E27FC236}">
                <a16:creationId xmlns:a16="http://schemas.microsoft.com/office/drawing/2014/main" id="{76448357-BEE3-2BC8-076D-AFC510CBE75F}"/>
              </a:ext>
            </a:extLst>
          </p:cNvPr>
          <p:cNvSpPr>
            <a:spLocks noGrp="1"/>
          </p:cNvSpPr>
          <p:nvPr>
            <p:ph type="sldNum" idx="3"/>
          </p:nvPr>
        </p:nvSpPr>
        <p:spPr>
          <a:xfrm>
            <a:off x="7200000" y="5400000"/>
            <a:ext cx="2340000" cy="270000"/>
          </a:xfrm>
        </p:spPr>
        <p:txBody>
          <a:bodyPr/>
          <a:lstStyle/>
          <a:p>
            <a:fld id="{FA5931A3-EE72-4CE5-9978-6B328659D7F6}" type="slidenum">
              <a:rPr lang="en-US"/>
              <a:t>19</a:t>
            </a:fld>
            <a:endParaRPr lang="en-US"/>
          </a:p>
        </p:txBody>
      </p:sp>
      <p:sp>
        <p:nvSpPr>
          <p:cNvPr id="5" name="TextBox 4">
            <a:extLst>
              <a:ext uri="{FF2B5EF4-FFF2-40B4-BE49-F238E27FC236}">
                <a16:creationId xmlns:a16="http://schemas.microsoft.com/office/drawing/2014/main" id="{E19373DE-F904-ABD8-19D1-5A937793B6BC}"/>
              </a:ext>
            </a:extLst>
          </p:cNvPr>
          <p:cNvSpPr txBox="1"/>
          <p:nvPr/>
        </p:nvSpPr>
        <p:spPr>
          <a:xfrm>
            <a:off x="538517" y="4673548"/>
            <a:ext cx="7660019" cy="5585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a:solidFill>
                  <a:srgbClr val="0070C0"/>
                </a:solidFill>
              </a:rPr>
              <a:t>So we will need to capture the API call...</a:t>
            </a:r>
          </a:p>
        </p:txBody>
      </p:sp>
    </p:spTree>
    <p:extLst>
      <p:ext uri="{BB962C8B-B14F-4D97-AF65-F5344CB8AC3E}">
        <p14:creationId xmlns:p14="http://schemas.microsoft.com/office/powerpoint/2010/main" val="3476045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99BA5-0376-2055-2344-36D55AE5E3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8B6F6A-054B-3715-9F64-C488D412BD83}"/>
              </a:ext>
            </a:extLst>
          </p:cNvPr>
          <p:cNvSpPr>
            <a:spLocks noGrp="1"/>
          </p:cNvSpPr>
          <p:nvPr>
            <p:ph type="title"/>
          </p:nvPr>
        </p:nvSpPr>
        <p:spPr>
          <a:xfrm>
            <a:off x="540000" y="273401"/>
            <a:ext cx="8280000" cy="443198"/>
          </a:xfrm>
        </p:spPr>
        <p:txBody>
          <a:bodyPr/>
          <a:lstStyle/>
          <a:p>
            <a:pPr algn="ctr"/>
            <a:r>
              <a:rPr lang="en-CA" sz="3200" b="1">
                <a:solidFill>
                  <a:srgbClr val="FF8000"/>
                </a:solidFill>
                <a:cs typeface="Arial"/>
              </a:rPr>
              <a:t>Wait, capturing APIs?</a:t>
            </a:r>
            <a:endParaRPr lang="en-US" sz="3200" dirty="0">
              <a:cs typeface="Arial"/>
            </a:endParaRPr>
          </a:p>
        </p:txBody>
      </p:sp>
      <p:sp>
        <p:nvSpPr>
          <p:cNvPr id="8" name="TextBox 7">
            <a:extLst>
              <a:ext uri="{FF2B5EF4-FFF2-40B4-BE49-F238E27FC236}">
                <a16:creationId xmlns:a16="http://schemas.microsoft.com/office/drawing/2014/main" id="{B92F0DEB-DB57-7A3C-80E5-D75F91AAE665}"/>
              </a:ext>
            </a:extLst>
          </p:cNvPr>
          <p:cNvSpPr txBox="1"/>
          <p:nvPr/>
        </p:nvSpPr>
        <p:spPr>
          <a:xfrm>
            <a:off x="526734" y="922821"/>
            <a:ext cx="8699989"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14350" indent="-514350">
              <a:buAutoNum type="arabicPeriod"/>
            </a:pPr>
            <a:r>
              <a:rPr lang="en-US" sz="2400" dirty="0">
                <a:cs typeface="Arial"/>
              </a:rPr>
              <a:t>Define a "spy" using mock functionality over the targeted API request</a:t>
            </a:r>
            <a:endParaRPr lang="en-US" sz="2400" dirty="0"/>
          </a:p>
          <a:p>
            <a:pPr marL="514350" indent="-514350">
              <a:buAutoNum type="arabicPeriod"/>
            </a:pPr>
            <a:r>
              <a:rPr lang="en-US" sz="2400" dirty="0">
                <a:cs typeface="Arial"/>
              </a:rPr>
              <a:t>Do an action (clicking on a column header in our case)</a:t>
            </a:r>
          </a:p>
          <a:p>
            <a:pPr marL="514350" indent="-514350">
              <a:buAutoNum type="arabicPeriod"/>
            </a:pPr>
            <a:r>
              <a:rPr lang="en-US" sz="2400" dirty="0">
                <a:cs typeface="Arial"/>
              </a:rPr>
              <a:t>Get the details of the captured ("spied") API request(s) – getting the full request(s) body and response</a:t>
            </a:r>
            <a:endParaRPr lang="en-US" sz="2400" dirty="0"/>
          </a:p>
        </p:txBody>
      </p:sp>
      <p:graphicFrame>
        <p:nvGraphicFramePr>
          <p:cNvPr id="3" name="Table 2">
            <a:extLst>
              <a:ext uri="{FF2B5EF4-FFF2-40B4-BE49-F238E27FC236}">
                <a16:creationId xmlns:a16="http://schemas.microsoft.com/office/drawing/2014/main" id="{8B971F1D-2AE2-FF73-F34F-C912DCD2F716}"/>
              </a:ext>
            </a:extLst>
          </p:cNvPr>
          <p:cNvGraphicFramePr>
            <a:graphicFrameLocks noGrp="1"/>
          </p:cNvGraphicFramePr>
          <p:nvPr>
            <p:extLst>
              <p:ext uri="{D42A27DB-BD31-4B8C-83A1-F6EECF244321}">
                <p14:modId xmlns:p14="http://schemas.microsoft.com/office/powerpoint/2010/main" val="2326952762"/>
              </p:ext>
            </p:extLst>
          </p:nvPr>
        </p:nvGraphicFramePr>
        <p:xfrm>
          <a:off x="667740" y="3058001"/>
          <a:ext cx="8850995" cy="2021840"/>
        </p:xfrm>
        <a:graphic>
          <a:graphicData uri="http://schemas.openxmlformats.org/drawingml/2006/table">
            <a:tbl>
              <a:tblPr firstRow="1" bandRow="1">
                <a:tableStyleId>{5C22544A-7EE6-4342-B048-85BDC9FD1C3A}</a:tableStyleId>
              </a:tblPr>
              <a:tblGrid>
                <a:gridCol w="2141557">
                  <a:extLst>
                    <a:ext uri="{9D8B030D-6E8A-4147-A177-3AD203B41FA5}">
                      <a16:colId xmlns:a16="http://schemas.microsoft.com/office/drawing/2014/main" val="4108508255"/>
                    </a:ext>
                  </a:extLst>
                </a:gridCol>
                <a:gridCol w="6709438">
                  <a:extLst>
                    <a:ext uri="{9D8B030D-6E8A-4147-A177-3AD203B41FA5}">
                      <a16:colId xmlns:a16="http://schemas.microsoft.com/office/drawing/2014/main" val="2027376067"/>
                    </a:ext>
                  </a:extLst>
                </a:gridCol>
              </a:tblGrid>
              <a:tr h="370840">
                <a:tc>
                  <a:txBody>
                    <a:bodyPr/>
                    <a:lstStyle/>
                    <a:p>
                      <a:r>
                        <a:rPr lang="en-US"/>
                        <a:t>Tool</a:t>
                      </a:r>
                    </a:p>
                  </a:txBody>
                  <a:tcPr/>
                </a:tc>
                <a:tc>
                  <a:txBody>
                    <a:bodyPr/>
                    <a:lstStyle/>
                    <a:p>
                      <a:r>
                        <a:rPr lang="en-US"/>
                        <a:t>Reference</a:t>
                      </a:r>
                    </a:p>
                  </a:txBody>
                  <a:tcPr/>
                </a:tc>
                <a:extLst>
                  <a:ext uri="{0D108BD9-81ED-4DB2-BD59-A6C34878D82A}">
                    <a16:rowId xmlns:a16="http://schemas.microsoft.com/office/drawing/2014/main" val="2811727738"/>
                  </a:ext>
                </a:extLst>
              </a:tr>
              <a:tr h="370840">
                <a:tc>
                  <a:txBody>
                    <a:bodyPr/>
                    <a:lstStyle/>
                    <a:p>
                      <a:r>
                        <a:rPr lang="en-US" b="1"/>
                        <a:t>Cypress</a:t>
                      </a:r>
                    </a:p>
                  </a:txBody>
                  <a:tcPr/>
                </a:tc>
                <a:tc>
                  <a:txBody>
                    <a:bodyPr/>
                    <a:lstStyle/>
                    <a:p>
                      <a:pPr lvl="0">
                        <a:buNone/>
                      </a:pPr>
                      <a:r>
                        <a:rPr lang="en-US" sz="1800" b="0" i="0" u="none" strike="noStrike" baseline="0" noProof="0" dirty="0">
                          <a:solidFill>
                            <a:srgbClr val="000000"/>
                          </a:solidFill>
                          <a:latin typeface="Arial"/>
                          <a:hlinkClick r:id="rId3"/>
                        </a:rPr>
                        <a:t>https://docs.cypress.io/api/commands/spy</a:t>
                      </a:r>
                      <a:r>
                        <a:rPr lang="en-US" sz="1800" b="0" i="0" u="none" strike="noStrike" baseline="0" noProof="0" dirty="0">
                          <a:solidFill>
                            <a:srgbClr val="000000"/>
                          </a:solidFill>
                          <a:latin typeface="Arial"/>
                        </a:rPr>
                        <a:t> </a:t>
                      </a:r>
                      <a:endParaRPr lang="en-US" dirty="0"/>
                    </a:p>
                  </a:txBody>
                  <a:tcPr/>
                </a:tc>
                <a:extLst>
                  <a:ext uri="{0D108BD9-81ED-4DB2-BD59-A6C34878D82A}">
                    <a16:rowId xmlns:a16="http://schemas.microsoft.com/office/drawing/2014/main" val="1958797362"/>
                  </a:ext>
                </a:extLst>
              </a:tr>
              <a:tr h="370840">
                <a:tc>
                  <a:txBody>
                    <a:bodyPr/>
                    <a:lstStyle/>
                    <a:p>
                      <a:r>
                        <a:rPr lang="en-US" b="1"/>
                        <a:t>Playwright</a:t>
                      </a:r>
                    </a:p>
                  </a:txBody>
                  <a:tcPr/>
                </a:tc>
                <a:tc>
                  <a:txBody>
                    <a:bodyPr/>
                    <a:lstStyle/>
                    <a:p>
                      <a:pPr lvl="0">
                        <a:buNone/>
                      </a:pPr>
                      <a:r>
                        <a:rPr lang="en-US" sz="1800" b="0" i="0" u="none" strike="noStrike" baseline="0" noProof="0" dirty="0">
                          <a:solidFill>
                            <a:srgbClr val="000000"/>
                          </a:solidFill>
                          <a:latin typeface="Arial"/>
                          <a:hlinkClick r:id="rId4"/>
                        </a:rPr>
                        <a:t>https://playwright.dev/docs/mock-browser-apis</a:t>
                      </a:r>
                      <a:r>
                        <a:rPr lang="en-US" sz="1800" b="0" i="0" u="none" strike="noStrike" baseline="0" noProof="0" dirty="0">
                          <a:solidFill>
                            <a:srgbClr val="000000"/>
                          </a:solidFill>
                          <a:latin typeface="Arial"/>
                        </a:rPr>
                        <a:t> (this is much </a:t>
                      </a:r>
                      <a:r>
                        <a:rPr lang="en-US" sz="1800" b="0" i="0" u="none" strike="noStrike" baseline="0" noProof="0">
                          <a:solidFill>
                            <a:srgbClr val="000000"/>
                          </a:solidFill>
                          <a:latin typeface="Arial"/>
                        </a:rPr>
                        <a:t>more powerful, but also much, much more complicated)</a:t>
                      </a:r>
                      <a:endParaRPr lang="en-US"/>
                    </a:p>
                  </a:txBody>
                  <a:tcPr/>
                </a:tc>
                <a:extLst>
                  <a:ext uri="{0D108BD9-81ED-4DB2-BD59-A6C34878D82A}">
                    <a16:rowId xmlns:a16="http://schemas.microsoft.com/office/drawing/2014/main" val="3421369508"/>
                  </a:ext>
                </a:extLst>
              </a:tr>
              <a:tr h="370840">
                <a:tc>
                  <a:txBody>
                    <a:bodyPr/>
                    <a:lstStyle/>
                    <a:p>
                      <a:r>
                        <a:rPr lang="en-US" b="1"/>
                        <a:t>Selenium (Webdriver Bidi)</a:t>
                      </a:r>
                    </a:p>
                  </a:txBody>
                  <a:tcPr/>
                </a:tc>
                <a:tc>
                  <a:txBody>
                    <a:bodyPr/>
                    <a:lstStyle/>
                    <a:p>
                      <a:pPr lvl="0">
                        <a:buNone/>
                      </a:pPr>
                      <a:r>
                        <a:rPr lang="en-US" sz="1800" b="0" i="0" u="none" strike="noStrike" baseline="0" noProof="0">
                          <a:solidFill>
                            <a:srgbClr val="000000"/>
                          </a:solidFill>
                          <a:latin typeface="Arial"/>
                        </a:rPr>
                        <a:t>Example implementation with Webdriver.io:</a:t>
                      </a:r>
                      <a:br>
                        <a:rPr lang="en-US" sz="1800" b="0" i="0" u="none" strike="noStrike" baseline="0" noProof="0" dirty="0">
                          <a:solidFill>
                            <a:srgbClr val="000000"/>
                          </a:solidFill>
                          <a:latin typeface="Arial"/>
                        </a:rPr>
                      </a:br>
                      <a:r>
                        <a:rPr lang="en-US" sz="1800" b="0" i="0" u="none" strike="noStrike" baseline="0" noProof="0" dirty="0">
                          <a:solidFill>
                            <a:srgbClr val="000000"/>
                          </a:solidFill>
                          <a:latin typeface="Arial"/>
                          <a:hlinkClick r:id="rId5"/>
                        </a:rPr>
                        <a:t>https://webdriver.io/docs/mocksandspies/#spies</a:t>
                      </a:r>
                      <a:endParaRPr lang="en-US" dirty="0"/>
                    </a:p>
                  </a:txBody>
                  <a:tcPr/>
                </a:tc>
                <a:extLst>
                  <a:ext uri="{0D108BD9-81ED-4DB2-BD59-A6C34878D82A}">
                    <a16:rowId xmlns:a16="http://schemas.microsoft.com/office/drawing/2014/main" val="444896016"/>
                  </a:ext>
                </a:extLst>
              </a:tr>
            </a:tbl>
          </a:graphicData>
        </a:graphic>
      </p:graphicFrame>
      <p:sp>
        <p:nvSpPr>
          <p:cNvPr id="5" name="PlaceHolder 4">
            <a:extLst>
              <a:ext uri="{FF2B5EF4-FFF2-40B4-BE49-F238E27FC236}">
                <a16:creationId xmlns:a16="http://schemas.microsoft.com/office/drawing/2014/main" id="{6F1052A6-E04A-7A05-53C8-2CB11E023A8F}"/>
              </a:ext>
            </a:extLst>
          </p:cNvPr>
          <p:cNvSpPr>
            <a:spLocks noGrp="1"/>
          </p:cNvSpPr>
          <p:nvPr>
            <p:ph type="sldNum" idx="3"/>
          </p:nvPr>
        </p:nvSpPr>
        <p:spPr>
          <a:xfrm>
            <a:off x="7200000" y="5400000"/>
            <a:ext cx="2340000" cy="270000"/>
          </a:xfrm>
        </p:spPr>
        <p:txBody>
          <a:bodyPr/>
          <a:lstStyle/>
          <a:p>
            <a:fld id="{FA5931A3-EE72-4CE5-9978-6B328659D7F6}" type="slidenum">
              <a:rPr lang="en-US"/>
              <a:t>20</a:t>
            </a:fld>
            <a:endParaRPr lang="en-US"/>
          </a:p>
        </p:txBody>
      </p:sp>
    </p:spTree>
    <p:extLst>
      <p:ext uri="{BB962C8B-B14F-4D97-AF65-F5344CB8AC3E}">
        <p14:creationId xmlns:p14="http://schemas.microsoft.com/office/powerpoint/2010/main" val="23786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9C7FC-0311-435E-C5C0-A1AD1C91358D}"/>
            </a:ext>
          </a:extLst>
        </p:cNvPr>
        <p:cNvGrpSpPr/>
        <p:nvPr/>
      </p:nvGrpSpPr>
      <p:grpSpPr>
        <a:xfrm>
          <a:off x="0" y="0"/>
          <a:ext cx="0" cy="0"/>
          <a:chOff x="0" y="0"/>
          <a:chExt cx="0" cy="0"/>
        </a:xfrm>
      </p:grpSpPr>
      <p:sp>
        <p:nvSpPr>
          <p:cNvPr id="29" name="PlaceHolder 1">
            <a:extLst>
              <a:ext uri="{FF2B5EF4-FFF2-40B4-BE49-F238E27FC236}">
                <a16:creationId xmlns:a16="http://schemas.microsoft.com/office/drawing/2014/main" id="{393C903D-ABCB-5D37-B338-34240DC34B1C}"/>
              </a:ext>
            </a:extLst>
          </p:cNvPr>
          <p:cNvSpPr>
            <a:spLocks noGrp="1"/>
          </p:cNvSpPr>
          <p:nvPr>
            <p:ph type="title"/>
          </p:nvPr>
        </p:nvSpPr>
        <p:spPr>
          <a:xfrm>
            <a:off x="540000" y="273401"/>
            <a:ext cx="8280000" cy="443198"/>
          </a:xfrm>
          <a:prstGeom prst="rect">
            <a:avLst/>
          </a:prstGeom>
          <a:noFill/>
          <a:ln w="0">
            <a:noFill/>
          </a:ln>
        </p:spPr>
        <p:txBody>
          <a:bodyPr lIns="0" tIns="0" rIns="0" bIns="0" anchor="ctr">
            <a:spAutoFit/>
          </a:bodyPr>
          <a:lstStyle/>
          <a:p>
            <a:pPr algn="ctr"/>
            <a:r>
              <a:rPr lang="en-CA" sz="3200" b="1" dirty="0">
                <a:solidFill>
                  <a:srgbClr val="FF8000"/>
                </a:solidFill>
                <a:latin typeface="Arial"/>
              </a:rPr>
              <a:t>Front End test – Sorting (by API)</a:t>
            </a:r>
            <a:endParaRPr lang="en-US" dirty="0"/>
          </a:p>
        </p:txBody>
      </p:sp>
      <p:pic>
        <p:nvPicPr>
          <p:cNvPr id="2" name="Content Placeholder 1" descr="A screen shot of a computer program&#10;&#10;AI-generated content may be incorrect.">
            <a:extLst>
              <a:ext uri="{FF2B5EF4-FFF2-40B4-BE49-F238E27FC236}">
                <a16:creationId xmlns:a16="http://schemas.microsoft.com/office/drawing/2014/main" id="{2C51F194-9A0A-30F6-CCF0-8574B12C27C5}"/>
              </a:ext>
            </a:extLst>
          </p:cNvPr>
          <p:cNvPicPr>
            <a:picLocks noGrp="1" noChangeAspect="1"/>
          </p:cNvPicPr>
          <p:nvPr>
            <p:ph/>
          </p:nvPr>
        </p:nvPicPr>
        <p:blipFill>
          <a:blip r:embed="rId3"/>
          <a:stretch>
            <a:fillRect/>
          </a:stretch>
        </p:blipFill>
        <p:spPr>
          <a:xfrm>
            <a:off x="1124479" y="751085"/>
            <a:ext cx="7832543" cy="4868488"/>
          </a:xfrm>
          <a:prstGeom prst="rect">
            <a:avLst/>
          </a:prstGeom>
          <a:noFill/>
          <a:ln w="0">
            <a:noFill/>
          </a:ln>
        </p:spPr>
      </p:pic>
      <p:sp>
        <p:nvSpPr>
          <p:cNvPr id="5" name="PlaceHolder 4">
            <a:extLst>
              <a:ext uri="{FF2B5EF4-FFF2-40B4-BE49-F238E27FC236}">
                <a16:creationId xmlns:a16="http://schemas.microsoft.com/office/drawing/2014/main" id="{061CA8BE-90A6-C057-CE43-4889CABB37FF}"/>
              </a:ext>
            </a:extLst>
          </p:cNvPr>
          <p:cNvSpPr>
            <a:spLocks noGrp="1"/>
          </p:cNvSpPr>
          <p:nvPr>
            <p:ph type="sldNum" idx="3"/>
          </p:nvPr>
        </p:nvSpPr>
        <p:spPr/>
        <p:txBody>
          <a:bodyPr/>
          <a:lstStyle/>
          <a:p>
            <a:fld id="{FA5931A3-EE72-4CE5-9978-6B328659D7F6}" type="slidenum">
              <a:t>21</a:t>
            </a:fld>
            <a:endParaRPr/>
          </a:p>
        </p:txBody>
      </p:sp>
    </p:spTree>
    <p:extLst>
      <p:ext uri="{BB962C8B-B14F-4D97-AF65-F5344CB8AC3E}">
        <p14:creationId xmlns:p14="http://schemas.microsoft.com/office/powerpoint/2010/main" val="1044116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1FE61-56CB-CCF9-0672-940AF0F4DB02}"/>
            </a:ext>
          </a:extLst>
        </p:cNvPr>
        <p:cNvGrpSpPr/>
        <p:nvPr/>
      </p:nvGrpSpPr>
      <p:grpSpPr>
        <a:xfrm>
          <a:off x="0" y="0"/>
          <a:ext cx="0" cy="0"/>
          <a:chOff x="0" y="0"/>
          <a:chExt cx="0" cy="0"/>
        </a:xfrm>
      </p:grpSpPr>
      <p:sp>
        <p:nvSpPr>
          <p:cNvPr id="29" name="PlaceHolder 1">
            <a:extLst>
              <a:ext uri="{FF2B5EF4-FFF2-40B4-BE49-F238E27FC236}">
                <a16:creationId xmlns:a16="http://schemas.microsoft.com/office/drawing/2014/main" id="{4E6F3A04-8986-5F82-C985-88C9DA369F94}"/>
              </a:ext>
            </a:extLst>
          </p:cNvPr>
          <p:cNvSpPr>
            <a:spLocks noGrp="1"/>
          </p:cNvSpPr>
          <p:nvPr>
            <p:ph type="title"/>
          </p:nvPr>
        </p:nvSpPr>
        <p:spPr>
          <a:xfrm>
            <a:off x="540000" y="273401"/>
            <a:ext cx="8280000" cy="443198"/>
          </a:xfrm>
          <a:prstGeom prst="rect">
            <a:avLst/>
          </a:prstGeom>
          <a:noFill/>
          <a:ln w="0">
            <a:noFill/>
          </a:ln>
        </p:spPr>
        <p:txBody>
          <a:bodyPr lIns="0" tIns="0" rIns="0" bIns="0" anchor="ctr">
            <a:spAutoFit/>
          </a:bodyPr>
          <a:lstStyle/>
          <a:p>
            <a:pPr algn="ctr"/>
            <a:r>
              <a:rPr lang="en-CA" sz="3200" b="1" dirty="0">
                <a:solidFill>
                  <a:srgbClr val="FF8000"/>
                </a:solidFill>
                <a:latin typeface="Arial"/>
                <a:cs typeface="Arial"/>
              </a:rPr>
              <a:t>Front End test – Test Result</a:t>
            </a:r>
            <a:endParaRPr lang="en-CA" sz="3200" dirty="0">
              <a:solidFill>
                <a:srgbClr val="FF8000"/>
              </a:solidFill>
              <a:latin typeface="Arial"/>
              <a:cs typeface="Arial"/>
            </a:endParaRPr>
          </a:p>
        </p:txBody>
      </p:sp>
      <p:pic>
        <p:nvPicPr>
          <p:cNvPr id="2" name="Content Placeholder 1" descr="A screenshot of a computer&#10;&#10;AI-generated content may be incorrect.">
            <a:extLst>
              <a:ext uri="{FF2B5EF4-FFF2-40B4-BE49-F238E27FC236}">
                <a16:creationId xmlns:a16="http://schemas.microsoft.com/office/drawing/2014/main" id="{E7DC8DDE-C103-87B7-F90F-A1391D13198E}"/>
              </a:ext>
            </a:extLst>
          </p:cNvPr>
          <p:cNvPicPr>
            <a:picLocks noGrp="1" noChangeAspect="1"/>
          </p:cNvPicPr>
          <p:nvPr>
            <p:ph/>
          </p:nvPr>
        </p:nvPicPr>
        <p:blipFill>
          <a:blip r:embed="rId3"/>
          <a:stretch>
            <a:fillRect/>
          </a:stretch>
        </p:blipFill>
        <p:spPr>
          <a:xfrm>
            <a:off x="779020" y="856490"/>
            <a:ext cx="8518518" cy="4514578"/>
          </a:xfrm>
          <a:prstGeom prst="rect">
            <a:avLst/>
          </a:prstGeom>
          <a:noFill/>
          <a:ln w="0">
            <a:noFill/>
          </a:ln>
        </p:spPr>
      </p:pic>
      <p:sp>
        <p:nvSpPr>
          <p:cNvPr id="5" name="PlaceHolder 4">
            <a:extLst>
              <a:ext uri="{FF2B5EF4-FFF2-40B4-BE49-F238E27FC236}">
                <a16:creationId xmlns:a16="http://schemas.microsoft.com/office/drawing/2014/main" id="{652DB768-A15B-C52D-6982-04F82381AFC9}"/>
              </a:ext>
            </a:extLst>
          </p:cNvPr>
          <p:cNvSpPr>
            <a:spLocks noGrp="1"/>
          </p:cNvSpPr>
          <p:nvPr>
            <p:ph type="sldNum" idx="3"/>
          </p:nvPr>
        </p:nvSpPr>
        <p:spPr/>
        <p:txBody>
          <a:bodyPr/>
          <a:lstStyle/>
          <a:p>
            <a:fld id="{FA5931A3-EE72-4CE5-9978-6B328659D7F6}" type="slidenum">
              <a:t>22</a:t>
            </a:fld>
            <a:endParaRPr/>
          </a:p>
        </p:txBody>
      </p:sp>
    </p:spTree>
    <p:extLst>
      <p:ext uri="{BB962C8B-B14F-4D97-AF65-F5344CB8AC3E}">
        <p14:creationId xmlns:p14="http://schemas.microsoft.com/office/powerpoint/2010/main" val="28593740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6AE10-DE65-1D02-F99F-E764C2478B0A}"/>
            </a:ext>
          </a:extLst>
        </p:cNvPr>
        <p:cNvGrpSpPr/>
        <p:nvPr/>
      </p:nvGrpSpPr>
      <p:grpSpPr>
        <a:xfrm>
          <a:off x="0" y="0"/>
          <a:ext cx="0" cy="0"/>
          <a:chOff x="0" y="0"/>
          <a:chExt cx="0" cy="0"/>
        </a:xfrm>
      </p:grpSpPr>
      <p:sp>
        <p:nvSpPr>
          <p:cNvPr id="29" name="PlaceHolder 1">
            <a:extLst>
              <a:ext uri="{FF2B5EF4-FFF2-40B4-BE49-F238E27FC236}">
                <a16:creationId xmlns:a16="http://schemas.microsoft.com/office/drawing/2014/main" id="{AF42654B-4ABD-5AFD-8E19-9849567F73E7}"/>
              </a:ext>
            </a:extLst>
          </p:cNvPr>
          <p:cNvSpPr>
            <a:spLocks noGrp="1"/>
          </p:cNvSpPr>
          <p:nvPr>
            <p:ph type="title"/>
          </p:nvPr>
        </p:nvSpPr>
        <p:spPr>
          <a:xfrm>
            <a:off x="540000" y="273401"/>
            <a:ext cx="8280000" cy="443198"/>
          </a:xfrm>
          <a:prstGeom prst="rect">
            <a:avLst/>
          </a:prstGeom>
          <a:noFill/>
          <a:ln w="0">
            <a:noFill/>
          </a:ln>
        </p:spPr>
        <p:txBody>
          <a:bodyPr lIns="0" tIns="0" rIns="0" bIns="0" anchor="ctr">
            <a:spAutoFit/>
          </a:bodyPr>
          <a:lstStyle/>
          <a:p>
            <a:pPr algn="ctr"/>
            <a:r>
              <a:rPr lang="en-CA" sz="3200" b="1">
                <a:solidFill>
                  <a:srgbClr val="FF8000"/>
                </a:solidFill>
                <a:latin typeface="Arial"/>
              </a:rPr>
              <a:t>Sorting by Front End test</a:t>
            </a:r>
            <a:endParaRPr lang="en-US"/>
          </a:p>
        </p:txBody>
      </p:sp>
      <p:pic>
        <p:nvPicPr>
          <p:cNvPr id="2" name="Content Placeholder 1" descr="A screen shot of a computer program&#10;&#10;AI-generated content may be incorrect.">
            <a:extLst>
              <a:ext uri="{FF2B5EF4-FFF2-40B4-BE49-F238E27FC236}">
                <a16:creationId xmlns:a16="http://schemas.microsoft.com/office/drawing/2014/main" id="{CF59E6E2-C13A-6F77-A851-3B2B0B87E86A}"/>
              </a:ext>
            </a:extLst>
          </p:cNvPr>
          <p:cNvPicPr>
            <a:picLocks noGrp="1" noChangeAspect="1"/>
          </p:cNvPicPr>
          <p:nvPr>
            <p:ph/>
          </p:nvPr>
        </p:nvPicPr>
        <p:blipFill>
          <a:blip r:embed="rId3"/>
          <a:stretch>
            <a:fillRect/>
          </a:stretch>
        </p:blipFill>
        <p:spPr>
          <a:xfrm>
            <a:off x="739168" y="864673"/>
            <a:ext cx="8598534" cy="4708058"/>
          </a:xfrm>
          <a:prstGeom prst="rect">
            <a:avLst/>
          </a:prstGeom>
          <a:noFill/>
          <a:ln w="0">
            <a:noFill/>
          </a:ln>
        </p:spPr>
      </p:pic>
      <p:sp>
        <p:nvSpPr>
          <p:cNvPr id="5" name="PlaceHolder 4">
            <a:extLst>
              <a:ext uri="{FF2B5EF4-FFF2-40B4-BE49-F238E27FC236}">
                <a16:creationId xmlns:a16="http://schemas.microsoft.com/office/drawing/2014/main" id="{9F85A473-1C18-E7AC-6E22-C1628728217F}"/>
              </a:ext>
            </a:extLst>
          </p:cNvPr>
          <p:cNvSpPr>
            <a:spLocks noGrp="1"/>
          </p:cNvSpPr>
          <p:nvPr>
            <p:ph type="sldNum" idx="3"/>
          </p:nvPr>
        </p:nvSpPr>
        <p:spPr/>
        <p:txBody>
          <a:bodyPr/>
          <a:lstStyle/>
          <a:p>
            <a:fld id="{FA5931A3-EE72-4CE5-9978-6B328659D7F6}" type="slidenum">
              <a:t>23</a:t>
            </a:fld>
            <a:endParaRPr/>
          </a:p>
        </p:txBody>
      </p:sp>
    </p:spTree>
    <p:extLst>
      <p:ext uri="{BB962C8B-B14F-4D97-AF65-F5344CB8AC3E}">
        <p14:creationId xmlns:p14="http://schemas.microsoft.com/office/powerpoint/2010/main" val="41699651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3F972-333F-78FC-E008-C1513C8600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5596F1-8F51-8640-2F6C-21E9FA5B1453}"/>
              </a:ext>
            </a:extLst>
          </p:cNvPr>
          <p:cNvSpPr>
            <a:spLocks noGrp="1"/>
          </p:cNvSpPr>
          <p:nvPr>
            <p:ph type="title"/>
          </p:nvPr>
        </p:nvSpPr>
        <p:spPr>
          <a:xfrm>
            <a:off x="540000" y="273401"/>
            <a:ext cx="8280000" cy="443198"/>
          </a:xfrm>
        </p:spPr>
        <p:txBody>
          <a:bodyPr/>
          <a:lstStyle/>
          <a:p>
            <a:pPr algn="ctr"/>
            <a:r>
              <a:rPr lang="en-CA" sz="3200" b="1" dirty="0">
                <a:solidFill>
                  <a:srgbClr val="FF8000"/>
                </a:solidFill>
                <a:cs typeface="Arial"/>
              </a:rPr>
              <a:t>Other "UI" Tests</a:t>
            </a:r>
            <a:endParaRPr lang="en-US" dirty="0"/>
          </a:p>
        </p:txBody>
      </p:sp>
      <p:sp>
        <p:nvSpPr>
          <p:cNvPr id="8" name="TextBox 7">
            <a:extLst>
              <a:ext uri="{FF2B5EF4-FFF2-40B4-BE49-F238E27FC236}">
                <a16:creationId xmlns:a16="http://schemas.microsoft.com/office/drawing/2014/main" id="{2592E555-8451-EED3-A8E3-B06BE8675DD5}"/>
              </a:ext>
            </a:extLst>
          </p:cNvPr>
          <p:cNvSpPr txBox="1"/>
          <p:nvPr/>
        </p:nvSpPr>
        <p:spPr>
          <a:xfrm>
            <a:off x="526734" y="922821"/>
            <a:ext cx="8699989"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dirty="0">
                <a:cs typeface="Arial"/>
              </a:rPr>
              <a:t>Well, again we should say Front End! But strictly speaking of purely UI/UX tests (which probably should not be automated with Selenium and the likes):</a:t>
            </a:r>
          </a:p>
          <a:p>
            <a:pPr marL="457200" indent="-457200">
              <a:buFont typeface="Arial"/>
              <a:buChar char="•"/>
            </a:pPr>
            <a:endParaRPr lang="en-US" sz="3000" dirty="0">
              <a:cs typeface="Arial"/>
            </a:endParaRPr>
          </a:p>
          <a:p>
            <a:pPr marL="457200" indent="-457200">
              <a:buFont typeface="Arial"/>
              <a:buChar char="•"/>
            </a:pPr>
            <a:r>
              <a:rPr lang="en-US" sz="3000" dirty="0">
                <a:cs typeface="Arial"/>
              </a:rPr>
              <a:t>Styling – font selection/size/color, layout, etc.</a:t>
            </a:r>
            <a:endParaRPr lang="en-US" dirty="0"/>
          </a:p>
          <a:p>
            <a:pPr marL="457200" indent="-457200">
              <a:buFont typeface="Arial"/>
              <a:buChar char="•"/>
            </a:pPr>
            <a:r>
              <a:rPr lang="en-US" sz="3000" dirty="0">
                <a:cs typeface="Arial"/>
              </a:rPr>
              <a:t>Page load time (</a:t>
            </a:r>
            <a:r>
              <a:rPr lang="en-US" sz="3000" dirty="0">
                <a:cs typeface="Arial"/>
                <a:hlinkClick r:id="rId3"/>
              </a:rPr>
              <a:t>Google Lighthouse</a:t>
            </a:r>
            <a:r>
              <a:rPr lang="en-US" sz="3000" dirty="0">
                <a:cs typeface="Arial"/>
              </a:rPr>
              <a:t> or other)</a:t>
            </a:r>
          </a:p>
          <a:p>
            <a:pPr marL="457200" indent="-457200">
              <a:buFont typeface="Arial"/>
              <a:buChar char="•"/>
            </a:pPr>
            <a:r>
              <a:rPr lang="en-US" sz="3000" dirty="0">
                <a:cs typeface="Arial"/>
              </a:rPr>
              <a:t>Accessibility check (</a:t>
            </a:r>
            <a:r>
              <a:rPr lang="en-US" sz="3000" dirty="0">
                <a:cs typeface="Arial"/>
                <a:hlinkClick r:id="rId4"/>
              </a:rPr>
              <a:t>WCAG compliance</a:t>
            </a:r>
            <a:r>
              <a:rPr lang="en-US" sz="3000" dirty="0">
                <a:cs typeface="Arial"/>
              </a:rPr>
              <a:t>)</a:t>
            </a:r>
          </a:p>
          <a:p>
            <a:pPr marL="457200" indent="-457200">
              <a:buFont typeface="Arial"/>
              <a:buChar char="•"/>
            </a:pPr>
            <a:r>
              <a:rPr lang="en-US" sz="3000" dirty="0">
                <a:cs typeface="Arial"/>
              </a:rPr>
              <a:t>Etc.</a:t>
            </a:r>
          </a:p>
        </p:txBody>
      </p:sp>
      <p:sp>
        <p:nvSpPr>
          <p:cNvPr id="4" name="PlaceHolder 4">
            <a:extLst>
              <a:ext uri="{FF2B5EF4-FFF2-40B4-BE49-F238E27FC236}">
                <a16:creationId xmlns:a16="http://schemas.microsoft.com/office/drawing/2014/main" id="{0331B389-E22A-AD9B-2A9A-2AEBF7E369C4}"/>
              </a:ext>
            </a:extLst>
          </p:cNvPr>
          <p:cNvSpPr>
            <a:spLocks noGrp="1"/>
          </p:cNvSpPr>
          <p:nvPr>
            <p:ph type="sldNum" idx="3"/>
          </p:nvPr>
        </p:nvSpPr>
        <p:spPr>
          <a:xfrm>
            <a:off x="7200000" y="5400000"/>
            <a:ext cx="2340000" cy="270000"/>
          </a:xfrm>
        </p:spPr>
        <p:txBody>
          <a:bodyPr/>
          <a:lstStyle/>
          <a:p>
            <a:fld id="{FA5931A3-EE72-4CE5-9978-6B328659D7F6}" type="slidenum">
              <a:rPr lang="en-US"/>
              <a:t>24</a:t>
            </a:fld>
            <a:endParaRPr lang="en-US"/>
          </a:p>
        </p:txBody>
      </p:sp>
    </p:spTree>
    <p:extLst>
      <p:ext uri="{BB962C8B-B14F-4D97-AF65-F5344CB8AC3E}">
        <p14:creationId xmlns:p14="http://schemas.microsoft.com/office/powerpoint/2010/main" val="25759923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5377C-635E-E940-E861-3930B61B64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A4E519-1B61-D438-E61B-75E0A8EAEF81}"/>
              </a:ext>
            </a:extLst>
          </p:cNvPr>
          <p:cNvSpPr>
            <a:spLocks noGrp="1"/>
          </p:cNvSpPr>
          <p:nvPr>
            <p:ph type="title"/>
          </p:nvPr>
        </p:nvSpPr>
        <p:spPr>
          <a:xfrm>
            <a:off x="540000" y="273401"/>
            <a:ext cx="8280000" cy="443198"/>
          </a:xfrm>
        </p:spPr>
        <p:txBody>
          <a:bodyPr/>
          <a:lstStyle/>
          <a:p>
            <a:pPr algn="ctr"/>
            <a:r>
              <a:rPr lang="en-CA" sz="3200" b="1" dirty="0">
                <a:solidFill>
                  <a:srgbClr val="FF8000"/>
                </a:solidFill>
                <a:cs typeface="Arial"/>
              </a:rPr>
              <a:t>Ok, other </a:t>
            </a:r>
            <a:r>
              <a:rPr lang="en-CA" sz="3200" b="1" i="1" dirty="0">
                <a:solidFill>
                  <a:srgbClr val="FF8000"/>
                </a:solidFill>
                <a:cs typeface="Arial"/>
              </a:rPr>
              <a:t>"Front End"</a:t>
            </a:r>
            <a:r>
              <a:rPr lang="en-CA" sz="3200" b="1" dirty="0">
                <a:solidFill>
                  <a:srgbClr val="FF8000"/>
                </a:solidFill>
                <a:cs typeface="Arial"/>
              </a:rPr>
              <a:t> Tests, then...</a:t>
            </a:r>
            <a:endParaRPr lang="en-US" dirty="0"/>
          </a:p>
        </p:txBody>
      </p:sp>
      <p:sp>
        <p:nvSpPr>
          <p:cNvPr id="8" name="TextBox 7">
            <a:extLst>
              <a:ext uri="{FF2B5EF4-FFF2-40B4-BE49-F238E27FC236}">
                <a16:creationId xmlns:a16="http://schemas.microsoft.com/office/drawing/2014/main" id="{7C0850A0-1B39-C6CF-FA44-E62B49E72475}"/>
              </a:ext>
            </a:extLst>
          </p:cNvPr>
          <p:cNvSpPr txBox="1"/>
          <p:nvPr/>
        </p:nvSpPr>
        <p:spPr>
          <a:xfrm>
            <a:off x="526734" y="922821"/>
            <a:ext cx="8699989" cy="37856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000" dirty="0">
                <a:cs typeface="Arial"/>
              </a:rPr>
              <a:t>Mapping test: API fields are assigned to the right columns, row-by-row</a:t>
            </a:r>
          </a:p>
          <a:p>
            <a:pPr marL="457200" indent="-457200">
              <a:buFont typeface="Arial"/>
              <a:buChar char="•"/>
            </a:pPr>
            <a:r>
              <a:rPr lang="en-US" sz="3000" dirty="0">
                <a:cs typeface="Arial"/>
              </a:rPr>
              <a:t>The right number of rows is displayed (and updates – need a "spy" test there as well)</a:t>
            </a:r>
            <a:endParaRPr lang="en-US" dirty="0"/>
          </a:p>
          <a:p>
            <a:pPr marL="457200" indent="-457200">
              <a:buFont typeface="Arial"/>
              <a:buChar char="•"/>
            </a:pPr>
            <a:r>
              <a:rPr lang="en-US" sz="3000" dirty="0">
                <a:cs typeface="Arial"/>
              </a:rPr>
              <a:t>Formatting: the colors for positive/negative and date format</a:t>
            </a:r>
          </a:p>
          <a:p>
            <a:pPr marL="457200" indent="-457200">
              <a:buFont typeface="Arial"/>
              <a:buChar char="•"/>
            </a:pPr>
            <a:r>
              <a:rPr lang="en-US" sz="3000" dirty="0">
                <a:cs typeface="Arial"/>
              </a:rPr>
              <a:t>Authentication and permissions in the UI as well (not applicable here)</a:t>
            </a:r>
          </a:p>
        </p:txBody>
      </p:sp>
      <p:sp>
        <p:nvSpPr>
          <p:cNvPr id="4" name="PlaceHolder 4">
            <a:extLst>
              <a:ext uri="{FF2B5EF4-FFF2-40B4-BE49-F238E27FC236}">
                <a16:creationId xmlns:a16="http://schemas.microsoft.com/office/drawing/2014/main" id="{296F9BA1-F032-0227-573F-457BC340294C}"/>
              </a:ext>
            </a:extLst>
          </p:cNvPr>
          <p:cNvSpPr>
            <a:spLocks noGrp="1"/>
          </p:cNvSpPr>
          <p:nvPr>
            <p:ph type="sldNum" idx="3"/>
          </p:nvPr>
        </p:nvSpPr>
        <p:spPr>
          <a:xfrm>
            <a:off x="7200000" y="5400000"/>
            <a:ext cx="2340000" cy="270000"/>
          </a:xfrm>
        </p:spPr>
        <p:txBody>
          <a:bodyPr/>
          <a:lstStyle/>
          <a:p>
            <a:fld id="{FA5931A3-EE72-4CE5-9978-6B328659D7F6}" type="slidenum">
              <a:rPr lang="en-US"/>
              <a:t>25</a:t>
            </a:fld>
            <a:endParaRPr lang="en-US"/>
          </a:p>
        </p:txBody>
      </p:sp>
    </p:spTree>
    <p:extLst>
      <p:ext uri="{BB962C8B-B14F-4D97-AF65-F5344CB8AC3E}">
        <p14:creationId xmlns:p14="http://schemas.microsoft.com/office/powerpoint/2010/main" val="15135160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9037B-F2A4-921A-45BF-13F8C95EF31A}"/>
            </a:ext>
          </a:extLst>
        </p:cNvPr>
        <p:cNvGrpSpPr/>
        <p:nvPr/>
      </p:nvGrpSpPr>
      <p:grpSpPr>
        <a:xfrm>
          <a:off x="0" y="0"/>
          <a:ext cx="0" cy="0"/>
          <a:chOff x="0" y="0"/>
          <a:chExt cx="0" cy="0"/>
        </a:xfrm>
      </p:grpSpPr>
      <p:sp>
        <p:nvSpPr>
          <p:cNvPr id="29" name="PlaceHolder 1">
            <a:extLst>
              <a:ext uri="{FF2B5EF4-FFF2-40B4-BE49-F238E27FC236}">
                <a16:creationId xmlns:a16="http://schemas.microsoft.com/office/drawing/2014/main" id="{8925CB1D-92F9-0087-19EA-0ED910C9E68B}"/>
              </a:ext>
            </a:extLst>
          </p:cNvPr>
          <p:cNvSpPr>
            <a:spLocks noGrp="1"/>
          </p:cNvSpPr>
          <p:nvPr>
            <p:ph type="title"/>
          </p:nvPr>
        </p:nvSpPr>
        <p:spPr>
          <a:xfrm>
            <a:off x="540000" y="273401"/>
            <a:ext cx="8280000" cy="443198"/>
          </a:xfrm>
          <a:prstGeom prst="rect">
            <a:avLst/>
          </a:prstGeom>
          <a:noFill/>
          <a:ln w="0">
            <a:noFill/>
          </a:ln>
        </p:spPr>
        <p:txBody>
          <a:bodyPr lIns="0" tIns="0" rIns="0" bIns="0" anchor="ctr">
            <a:spAutoFit/>
          </a:bodyPr>
          <a:lstStyle/>
          <a:p>
            <a:pPr algn="ctr"/>
            <a:r>
              <a:rPr lang="en-CA" sz="3200" b="1" dirty="0">
                <a:solidFill>
                  <a:srgbClr val="FF8000"/>
                </a:solidFill>
                <a:latin typeface="Arial"/>
              </a:rPr>
              <a:t>Mapping tests</a:t>
            </a:r>
            <a:endParaRPr lang="en-US" dirty="0"/>
          </a:p>
        </p:txBody>
      </p:sp>
      <p:pic>
        <p:nvPicPr>
          <p:cNvPr id="2" name="Content Placeholder 1" descr="A computer screen shot of text&#10;&#10;AI-generated content may be incorrect.">
            <a:extLst>
              <a:ext uri="{FF2B5EF4-FFF2-40B4-BE49-F238E27FC236}">
                <a16:creationId xmlns:a16="http://schemas.microsoft.com/office/drawing/2014/main" id="{569C91EF-D6E3-6EED-8A91-C7D6BE27A88F}"/>
              </a:ext>
            </a:extLst>
          </p:cNvPr>
          <p:cNvPicPr>
            <a:picLocks noGrp="1" noChangeAspect="1"/>
          </p:cNvPicPr>
          <p:nvPr>
            <p:ph/>
          </p:nvPr>
        </p:nvPicPr>
        <p:blipFill>
          <a:blip r:embed="rId3"/>
          <a:stretch>
            <a:fillRect/>
          </a:stretch>
        </p:blipFill>
        <p:spPr>
          <a:xfrm>
            <a:off x="902743" y="852554"/>
            <a:ext cx="8275760" cy="4686016"/>
          </a:xfrm>
          <a:prstGeom prst="rect">
            <a:avLst/>
          </a:prstGeom>
          <a:noFill/>
          <a:ln w="0">
            <a:noFill/>
          </a:ln>
        </p:spPr>
      </p:pic>
      <p:sp>
        <p:nvSpPr>
          <p:cNvPr id="5" name="PlaceHolder 4">
            <a:extLst>
              <a:ext uri="{FF2B5EF4-FFF2-40B4-BE49-F238E27FC236}">
                <a16:creationId xmlns:a16="http://schemas.microsoft.com/office/drawing/2014/main" id="{2C03FF5D-91EF-69B0-7579-11F152F2F1C4}"/>
              </a:ext>
            </a:extLst>
          </p:cNvPr>
          <p:cNvSpPr>
            <a:spLocks noGrp="1"/>
          </p:cNvSpPr>
          <p:nvPr>
            <p:ph type="sldNum" idx="3"/>
          </p:nvPr>
        </p:nvSpPr>
        <p:spPr/>
        <p:txBody>
          <a:bodyPr/>
          <a:lstStyle/>
          <a:p>
            <a:fld id="{FA5931A3-EE72-4CE5-9978-6B328659D7F6}" type="slidenum">
              <a:t>26</a:t>
            </a:fld>
            <a:endParaRPr/>
          </a:p>
        </p:txBody>
      </p:sp>
    </p:spTree>
    <p:extLst>
      <p:ext uri="{BB962C8B-B14F-4D97-AF65-F5344CB8AC3E}">
        <p14:creationId xmlns:p14="http://schemas.microsoft.com/office/powerpoint/2010/main" val="37608957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3E629-A5AF-B5BF-1EF9-090FFDC3481E}"/>
            </a:ext>
          </a:extLst>
        </p:cNvPr>
        <p:cNvGrpSpPr/>
        <p:nvPr/>
      </p:nvGrpSpPr>
      <p:grpSpPr>
        <a:xfrm>
          <a:off x="0" y="0"/>
          <a:ext cx="0" cy="0"/>
          <a:chOff x="0" y="0"/>
          <a:chExt cx="0" cy="0"/>
        </a:xfrm>
      </p:grpSpPr>
      <p:sp>
        <p:nvSpPr>
          <p:cNvPr id="29" name="PlaceHolder 1">
            <a:extLst>
              <a:ext uri="{FF2B5EF4-FFF2-40B4-BE49-F238E27FC236}">
                <a16:creationId xmlns:a16="http://schemas.microsoft.com/office/drawing/2014/main" id="{15CA2509-1035-35B8-9A7A-016881916C3E}"/>
              </a:ext>
            </a:extLst>
          </p:cNvPr>
          <p:cNvSpPr>
            <a:spLocks noGrp="1"/>
          </p:cNvSpPr>
          <p:nvPr>
            <p:ph type="title"/>
          </p:nvPr>
        </p:nvSpPr>
        <p:spPr>
          <a:xfrm>
            <a:off x="540000" y="273401"/>
            <a:ext cx="8280000" cy="443198"/>
          </a:xfrm>
          <a:prstGeom prst="rect">
            <a:avLst/>
          </a:prstGeom>
          <a:noFill/>
          <a:ln w="0">
            <a:noFill/>
          </a:ln>
        </p:spPr>
        <p:txBody>
          <a:bodyPr lIns="0" tIns="0" rIns="0" bIns="0" anchor="ctr">
            <a:spAutoFit/>
          </a:bodyPr>
          <a:lstStyle/>
          <a:p>
            <a:pPr algn="ctr"/>
            <a:r>
              <a:rPr lang="en-CA" sz="3200" b="1" dirty="0">
                <a:solidFill>
                  <a:srgbClr val="FF8000"/>
                </a:solidFill>
                <a:latin typeface="Arial"/>
              </a:rPr>
              <a:t>Number of Rows tests</a:t>
            </a:r>
            <a:endParaRPr lang="en-US" dirty="0"/>
          </a:p>
        </p:txBody>
      </p:sp>
      <p:pic>
        <p:nvPicPr>
          <p:cNvPr id="2" name="Content Placeholder 1" descr="A computer screen shot of a program code&#10;&#10;AI-generated content may be incorrect.">
            <a:extLst>
              <a:ext uri="{FF2B5EF4-FFF2-40B4-BE49-F238E27FC236}">
                <a16:creationId xmlns:a16="http://schemas.microsoft.com/office/drawing/2014/main" id="{658DB739-606A-9C77-DF4D-47764E900D5A}"/>
              </a:ext>
            </a:extLst>
          </p:cNvPr>
          <p:cNvPicPr>
            <a:picLocks noGrp="1" noChangeAspect="1"/>
          </p:cNvPicPr>
          <p:nvPr>
            <p:ph/>
          </p:nvPr>
        </p:nvPicPr>
        <p:blipFill>
          <a:blip r:embed="rId3"/>
          <a:stretch>
            <a:fillRect/>
          </a:stretch>
        </p:blipFill>
        <p:spPr>
          <a:xfrm>
            <a:off x="500523" y="919662"/>
            <a:ext cx="9079736" cy="4371253"/>
          </a:xfrm>
          <a:prstGeom prst="rect">
            <a:avLst/>
          </a:prstGeom>
          <a:noFill/>
          <a:ln w="0">
            <a:noFill/>
          </a:ln>
        </p:spPr>
      </p:pic>
      <p:sp>
        <p:nvSpPr>
          <p:cNvPr id="5" name="PlaceHolder 4">
            <a:extLst>
              <a:ext uri="{FF2B5EF4-FFF2-40B4-BE49-F238E27FC236}">
                <a16:creationId xmlns:a16="http://schemas.microsoft.com/office/drawing/2014/main" id="{FFEECD83-52AF-4D9E-8312-F45E69980E05}"/>
              </a:ext>
            </a:extLst>
          </p:cNvPr>
          <p:cNvSpPr>
            <a:spLocks noGrp="1"/>
          </p:cNvSpPr>
          <p:nvPr>
            <p:ph type="sldNum" idx="3"/>
          </p:nvPr>
        </p:nvSpPr>
        <p:spPr/>
        <p:txBody>
          <a:bodyPr/>
          <a:lstStyle/>
          <a:p>
            <a:fld id="{FA5931A3-EE72-4CE5-9978-6B328659D7F6}" type="slidenum">
              <a:t>27</a:t>
            </a:fld>
            <a:endParaRPr/>
          </a:p>
        </p:txBody>
      </p:sp>
    </p:spTree>
    <p:extLst>
      <p:ext uri="{BB962C8B-B14F-4D97-AF65-F5344CB8AC3E}">
        <p14:creationId xmlns:p14="http://schemas.microsoft.com/office/powerpoint/2010/main" val="6966816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E45D5-C2C6-5099-57D6-939BA4C6F72F}"/>
            </a:ext>
          </a:extLst>
        </p:cNvPr>
        <p:cNvGrpSpPr/>
        <p:nvPr/>
      </p:nvGrpSpPr>
      <p:grpSpPr>
        <a:xfrm>
          <a:off x="0" y="0"/>
          <a:ext cx="0" cy="0"/>
          <a:chOff x="0" y="0"/>
          <a:chExt cx="0" cy="0"/>
        </a:xfrm>
      </p:grpSpPr>
      <p:sp>
        <p:nvSpPr>
          <p:cNvPr id="29" name="PlaceHolder 1">
            <a:extLst>
              <a:ext uri="{FF2B5EF4-FFF2-40B4-BE49-F238E27FC236}">
                <a16:creationId xmlns:a16="http://schemas.microsoft.com/office/drawing/2014/main" id="{D2FC6378-07B0-55F1-05F8-CA69205986C9}"/>
              </a:ext>
            </a:extLst>
          </p:cNvPr>
          <p:cNvSpPr>
            <a:spLocks noGrp="1"/>
          </p:cNvSpPr>
          <p:nvPr>
            <p:ph type="title"/>
          </p:nvPr>
        </p:nvSpPr>
        <p:spPr>
          <a:xfrm>
            <a:off x="540000" y="273401"/>
            <a:ext cx="8280000" cy="443198"/>
          </a:xfrm>
          <a:prstGeom prst="rect">
            <a:avLst/>
          </a:prstGeom>
          <a:noFill/>
          <a:ln w="0">
            <a:noFill/>
          </a:ln>
        </p:spPr>
        <p:txBody>
          <a:bodyPr lIns="0" tIns="0" rIns="0" bIns="0" anchor="ctr">
            <a:spAutoFit/>
          </a:bodyPr>
          <a:lstStyle/>
          <a:p>
            <a:pPr algn="ctr"/>
            <a:r>
              <a:rPr lang="en-CA" sz="3200" b="1" dirty="0">
                <a:solidFill>
                  <a:srgbClr val="FF8000"/>
                </a:solidFill>
                <a:latin typeface="Arial"/>
              </a:rPr>
              <a:t>Formatting tests</a:t>
            </a:r>
            <a:endParaRPr lang="en-US" dirty="0"/>
          </a:p>
        </p:txBody>
      </p:sp>
      <p:pic>
        <p:nvPicPr>
          <p:cNvPr id="2" name="Content Placeholder 1" descr="A computer code on a black background&#10;&#10;AI-generated content may be incorrect.">
            <a:extLst>
              <a:ext uri="{FF2B5EF4-FFF2-40B4-BE49-F238E27FC236}">
                <a16:creationId xmlns:a16="http://schemas.microsoft.com/office/drawing/2014/main" id="{15CEC344-920F-B807-029B-2ABC8B00FC46}"/>
              </a:ext>
            </a:extLst>
          </p:cNvPr>
          <p:cNvPicPr>
            <a:picLocks noGrp="1" noChangeAspect="1"/>
          </p:cNvPicPr>
          <p:nvPr>
            <p:ph/>
          </p:nvPr>
        </p:nvPicPr>
        <p:blipFill>
          <a:blip r:embed="rId3"/>
          <a:stretch>
            <a:fillRect/>
          </a:stretch>
        </p:blipFill>
        <p:spPr>
          <a:xfrm>
            <a:off x="239455" y="1810483"/>
            <a:ext cx="9596623" cy="2048623"/>
          </a:xfrm>
          <a:prstGeom prst="rect">
            <a:avLst/>
          </a:prstGeom>
          <a:noFill/>
          <a:ln w="0">
            <a:noFill/>
          </a:ln>
        </p:spPr>
      </p:pic>
      <p:sp>
        <p:nvSpPr>
          <p:cNvPr id="5" name="PlaceHolder 4">
            <a:extLst>
              <a:ext uri="{FF2B5EF4-FFF2-40B4-BE49-F238E27FC236}">
                <a16:creationId xmlns:a16="http://schemas.microsoft.com/office/drawing/2014/main" id="{B12DCE43-C348-BD17-1376-E92A65527EBE}"/>
              </a:ext>
            </a:extLst>
          </p:cNvPr>
          <p:cNvSpPr>
            <a:spLocks noGrp="1"/>
          </p:cNvSpPr>
          <p:nvPr>
            <p:ph type="sldNum" idx="3"/>
          </p:nvPr>
        </p:nvSpPr>
        <p:spPr/>
        <p:txBody>
          <a:bodyPr/>
          <a:lstStyle/>
          <a:p>
            <a:fld id="{FA5931A3-EE72-4CE5-9978-6B328659D7F6}" type="slidenum">
              <a:t>28</a:t>
            </a:fld>
            <a:endParaRPr/>
          </a:p>
        </p:txBody>
      </p:sp>
    </p:spTree>
    <p:extLst>
      <p:ext uri="{BB962C8B-B14F-4D97-AF65-F5344CB8AC3E}">
        <p14:creationId xmlns:p14="http://schemas.microsoft.com/office/powerpoint/2010/main" val="20880455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94E58-B55A-9556-2153-9539CEF7AD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26AA33-5EE1-8937-2B21-884376195D37}"/>
              </a:ext>
            </a:extLst>
          </p:cNvPr>
          <p:cNvSpPr>
            <a:spLocks noGrp="1"/>
          </p:cNvSpPr>
          <p:nvPr>
            <p:ph type="title"/>
          </p:nvPr>
        </p:nvSpPr>
        <p:spPr>
          <a:xfrm>
            <a:off x="540000" y="273401"/>
            <a:ext cx="8280000" cy="443198"/>
          </a:xfrm>
        </p:spPr>
        <p:txBody>
          <a:bodyPr/>
          <a:lstStyle/>
          <a:p>
            <a:pPr algn="ctr"/>
            <a:r>
              <a:rPr lang="en-CA" sz="3200" b="1" dirty="0">
                <a:solidFill>
                  <a:srgbClr val="FF8000"/>
                </a:solidFill>
                <a:cs typeface="Arial"/>
              </a:rPr>
              <a:t>"UI", "Front End" or "End to End" tests?</a:t>
            </a:r>
            <a:endParaRPr lang="en-US" dirty="0"/>
          </a:p>
        </p:txBody>
      </p:sp>
      <p:sp>
        <p:nvSpPr>
          <p:cNvPr id="8" name="TextBox 7">
            <a:extLst>
              <a:ext uri="{FF2B5EF4-FFF2-40B4-BE49-F238E27FC236}">
                <a16:creationId xmlns:a16="http://schemas.microsoft.com/office/drawing/2014/main" id="{FF070844-74C5-118E-7117-955F02073AB6}"/>
              </a:ext>
            </a:extLst>
          </p:cNvPr>
          <p:cNvSpPr txBox="1"/>
          <p:nvPr/>
        </p:nvSpPr>
        <p:spPr>
          <a:xfrm>
            <a:off x="526734" y="922821"/>
            <a:ext cx="8699989"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000" dirty="0">
                <a:cs typeface="Arial"/>
              </a:rPr>
              <a:t>Playwright and others are End to End test tools</a:t>
            </a:r>
          </a:p>
        </p:txBody>
      </p:sp>
      <p:sp>
        <p:nvSpPr>
          <p:cNvPr id="4" name="TextBox 3">
            <a:extLst>
              <a:ext uri="{FF2B5EF4-FFF2-40B4-BE49-F238E27FC236}">
                <a16:creationId xmlns:a16="http://schemas.microsoft.com/office/drawing/2014/main" id="{66F77818-4741-74A5-9277-5359801101F6}"/>
              </a:ext>
            </a:extLst>
          </p:cNvPr>
          <p:cNvSpPr txBox="1"/>
          <p:nvPr/>
        </p:nvSpPr>
        <p:spPr>
          <a:xfrm>
            <a:off x="524064" y="1478318"/>
            <a:ext cx="8699989"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000">
                <a:cs typeface="Arial"/>
              </a:rPr>
              <a:t>Did we need to run our tests as End to End tests, though?</a:t>
            </a:r>
          </a:p>
        </p:txBody>
      </p:sp>
      <p:sp>
        <p:nvSpPr>
          <p:cNvPr id="6" name="TextBox 5">
            <a:extLst>
              <a:ext uri="{FF2B5EF4-FFF2-40B4-BE49-F238E27FC236}">
                <a16:creationId xmlns:a16="http://schemas.microsoft.com/office/drawing/2014/main" id="{291A3C48-BD7B-9770-C7A7-7C19149DE1F6}"/>
              </a:ext>
            </a:extLst>
          </p:cNvPr>
          <p:cNvSpPr txBox="1"/>
          <p:nvPr/>
        </p:nvSpPr>
        <p:spPr>
          <a:xfrm>
            <a:off x="525824" y="2494499"/>
            <a:ext cx="8699989"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000">
                <a:cs typeface="Arial"/>
              </a:rPr>
              <a:t>Nope – most of what we tested didn’t need a working backend – a fake API response would have worked just as well</a:t>
            </a:r>
            <a:endParaRPr lang="en-US" sz="3000" dirty="0">
              <a:cs typeface="Arial"/>
            </a:endParaRPr>
          </a:p>
        </p:txBody>
      </p:sp>
      <p:sp>
        <p:nvSpPr>
          <p:cNvPr id="9" name="TextBox 8">
            <a:extLst>
              <a:ext uri="{FF2B5EF4-FFF2-40B4-BE49-F238E27FC236}">
                <a16:creationId xmlns:a16="http://schemas.microsoft.com/office/drawing/2014/main" id="{1685CD37-4B7D-DBDB-C7CF-6D4FC63B9387}"/>
              </a:ext>
            </a:extLst>
          </p:cNvPr>
          <p:cNvSpPr txBox="1"/>
          <p:nvPr/>
        </p:nvSpPr>
        <p:spPr>
          <a:xfrm>
            <a:off x="538606" y="3969214"/>
            <a:ext cx="8699989"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000">
                <a:cs typeface="Arial"/>
              </a:rPr>
              <a:t>It would be more right to call these tests as "in browser" test, but there are other ways of doing them</a:t>
            </a:r>
            <a:endParaRPr lang="en-US" sz="3000" dirty="0">
              <a:cs typeface="Arial"/>
            </a:endParaRPr>
          </a:p>
        </p:txBody>
      </p:sp>
      <p:sp>
        <p:nvSpPr>
          <p:cNvPr id="5" name="PlaceHolder 4">
            <a:extLst>
              <a:ext uri="{FF2B5EF4-FFF2-40B4-BE49-F238E27FC236}">
                <a16:creationId xmlns:a16="http://schemas.microsoft.com/office/drawing/2014/main" id="{DD668FC8-7E61-F993-25DE-D5FBD33EA8AD}"/>
              </a:ext>
            </a:extLst>
          </p:cNvPr>
          <p:cNvSpPr>
            <a:spLocks noGrp="1"/>
          </p:cNvSpPr>
          <p:nvPr>
            <p:ph type="sldNum" idx="3"/>
          </p:nvPr>
        </p:nvSpPr>
        <p:spPr>
          <a:xfrm>
            <a:off x="7200000" y="5400000"/>
            <a:ext cx="2340000" cy="270000"/>
          </a:xfrm>
        </p:spPr>
        <p:txBody>
          <a:bodyPr/>
          <a:lstStyle/>
          <a:p>
            <a:fld id="{FA5931A3-EE72-4CE5-9978-6B328659D7F6}" type="slidenum">
              <a:rPr lang="en-US"/>
              <a:t>29</a:t>
            </a:fld>
            <a:endParaRPr lang="en-US"/>
          </a:p>
        </p:txBody>
      </p:sp>
    </p:spTree>
    <p:extLst>
      <p:ext uri="{BB962C8B-B14F-4D97-AF65-F5344CB8AC3E}">
        <p14:creationId xmlns:p14="http://schemas.microsoft.com/office/powerpoint/2010/main" val="1342880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P spid="6" grpId="0"/>
      <p:bldP spid="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73F3F-1B81-B870-36C4-9E073790F475}"/>
            </a:ext>
          </a:extLst>
        </p:cNvPr>
        <p:cNvGrpSpPr/>
        <p:nvPr/>
      </p:nvGrpSpPr>
      <p:grpSpPr>
        <a:xfrm>
          <a:off x="0" y="0"/>
          <a:ext cx="0" cy="0"/>
          <a:chOff x="0" y="0"/>
          <a:chExt cx="0" cy="0"/>
        </a:xfrm>
      </p:grpSpPr>
      <p:sp>
        <p:nvSpPr>
          <p:cNvPr id="29" name="PlaceHolder 1">
            <a:extLst>
              <a:ext uri="{FF2B5EF4-FFF2-40B4-BE49-F238E27FC236}">
                <a16:creationId xmlns:a16="http://schemas.microsoft.com/office/drawing/2014/main" id="{4978A230-B9EA-0074-0E44-EE2065317A32}"/>
              </a:ext>
            </a:extLst>
          </p:cNvPr>
          <p:cNvSpPr>
            <a:spLocks noGrp="1"/>
          </p:cNvSpPr>
          <p:nvPr>
            <p:ph type="title"/>
          </p:nvPr>
        </p:nvSpPr>
        <p:spPr>
          <a:xfrm>
            <a:off x="540000" y="273401"/>
            <a:ext cx="8280000" cy="443198"/>
          </a:xfrm>
          <a:prstGeom prst="rect">
            <a:avLst/>
          </a:prstGeom>
          <a:noFill/>
          <a:ln w="0">
            <a:noFill/>
          </a:ln>
        </p:spPr>
        <p:txBody>
          <a:bodyPr lIns="0" tIns="0" rIns="0" bIns="0" anchor="ctr">
            <a:spAutoFit/>
          </a:bodyPr>
          <a:lstStyle/>
          <a:p>
            <a:pPr algn="ctr"/>
            <a:r>
              <a:rPr lang="en-CA" sz="3200" b="1" dirty="0">
                <a:solidFill>
                  <a:srgbClr val="FF8000"/>
                </a:solidFill>
                <a:latin typeface="Arial"/>
              </a:rPr>
              <a:t>Mocking API calls</a:t>
            </a:r>
            <a:endParaRPr lang="en-US" dirty="0"/>
          </a:p>
        </p:txBody>
      </p:sp>
      <p:pic>
        <p:nvPicPr>
          <p:cNvPr id="2" name="Content Placeholder 1" descr="A screen shot of a computer program&#10;&#10;AI-generated content may be incorrect.">
            <a:extLst>
              <a:ext uri="{FF2B5EF4-FFF2-40B4-BE49-F238E27FC236}">
                <a16:creationId xmlns:a16="http://schemas.microsoft.com/office/drawing/2014/main" id="{50A7859D-81E0-DB78-93E3-A7FC80AD5D83}"/>
              </a:ext>
            </a:extLst>
          </p:cNvPr>
          <p:cNvPicPr>
            <a:picLocks noGrp="1" noChangeAspect="1"/>
          </p:cNvPicPr>
          <p:nvPr>
            <p:ph/>
          </p:nvPr>
        </p:nvPicPr>
        <p:blipFill>
          <a:blip r:embed="rId3"/>
          <a:stretch>
            <a:fillRect/>
          </a:stretch>
        </p:blipFill>
        <p:spPr>
          <a:xfrm>
            <a:off x="1854152" y="774276"/>
            <a:ext cx="5652893" cy="4762847"/>
          </a:xfrm>
          <a:prstGeom prst="rect">
            <a:avLst/>
          </a:prstGeom>
          <a:noFill/>
          <a:ln w="0">
            <a:noFill/>
          </a:ln>
        </p:spPr>
      </p:pic>
      <p:sp>
        <p:nvSpPr>
          <p:cNvPr id="5" name="PlaceHolder 4">
            <a:extLst>
              <a:ext uri="{FF2B5EF4-FFF2-40B4-BE49-F238E27FC236}">
                <a16:creationId xmlns:a16="http://schemas.microsoft.com/office/drawing/2014/main" id="{6EC634E4-3FC7-4237-1626-5CE8E9158F34}"/>
              </a:ext>
            </a:extLst>
          </p:cNvPr>
          <p:cNvSpPr>
            <a:spLocks noGrp="1"/>
          </p:cNvSpPr>
          <p:nvPr>
            <p:ph type="sldNum" idx="3"/>
          </p:nvPr>
        </p:nvSpPr>
        <p:spPr/>
        <p:txBody>
          <a:bodyPr/>
          <a:lstStyle/>
          <a:p>
            <a:fld id="{FA5931A3-EE72-4CE5-9978-6B328659D7F6}" type="slidenum">
              <a:t>30</a:t>
            </a:fld>
            <a:endParaRPr/>
          </a:p>
        </p:txBody>
      </p:sp>
    </p:spTree>
    <p:extLst>
      <p:ext uri="{BB962C8B-B14F-4D97-AF65-F5344CB8AC3E}">
        <p14:creationId xmlns:p14="http://schemas.microsoft.com/office/powerpoint/2010/main" val="5359961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4A022-27C2-BE37-A44A-9DD9804BEE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385498-8733-E0F1-DB77-78D76590FD90}"/>
              </a:ext>
            </a:extLst>
          </p:cNvPr>
          <p:cNvSpPr>
            <a:spLocks noGrp="1"/>
          </p:cNvSpPr>
          <p:nvPr>
            <p:ph type="title"/>
          </p:nvPr>
        </p:nvSpPr>
        <p:spPr>
          <a:xfrm>
            <a:off x="540000" y="273401"/>
            <a:ext cx="8280000" cy="443198"/>
          </a:xfrm>
        </p:spPr>
        <p:txBody>
          <a:bodyPr/>
          <a:lstStyle/>
          <a:p>
            <a:pPr algn="ctr"/>
            <a:r>
              <a:rPr lang="en-CA" sz="3200" b="1" dirty="0">
                <a:solidFill>
                  <a:srgbClr val="FF8000"/>
                </a:solidFill>
                <a:cs typeface="Arial"/>
              </a:rPr>
              <a:t>Let's go back to the Test Pyramid</a:t>
            </a:r>
          </a:p>
        </p:txBody>
      </p:sp>
      <p:sp>
        <p:nvSpPr>
          <p:cNvPr id="8" name="TextBox 7">
            <a:extLst>
              <a:ext uri="{FF2B5EF4-FFF2-40B4-BE49-F238E27FC236}">
                <a16:creationId xmlns:a16="http://schemas.microsoft.com/office/drawing/2014/main" id="{FE2402A4-1182-C7B7-60C4-07E5D1BF7D76}"/>
              </a:ext>
            </a:extLst>
          </p:cNvPr>
          <p:cNvSpPr txBox="1"/>
          <p:nvPr/>
        </p:nvSpPr>
        <p:spPr>
          <a:xfrm>
            <a:off x="526734" y="922821"/>
            <a:ext cx="8699989"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000" dirty="0">
                <a:cs typeface="Arial"/>
              </a:rPr>
              <a:t>We showed API and End to End tests</a:t>
            </a:r>
            <a:endParaRPr lang="en-US" sz="3000" i="1" dirty="0">
              <a:cs typeface="Arial"/>
            </a:endParaRPr>
          </a:p>
        </p:txBody>
      </p:sp>
      <p:sp>
        <p:nvSpPr>
          <p:cNvPr id="4" name="TextBox 3">
            <a:extLst>
              <a:ext uri="{FF2B5EF4-FFF2-40B4-BE49-F238E27FC236}">
                <a16:creationId xmlns:a16="http://schemas.microsoft.com/office/drawing/2014/main" id="{7CF9FA6F-F115-1EB0-C3E1-A68C8B46191B}"/>
              </a:ext>
            </a:extLst>
          </p:cNvPr>
          <p:cNvSpPr txBox="1"/>
          <p:nvPr/>
        </p:nvSpPr>
        <p:spPr>
          <a:xfrm>
            <a:off x="524064" y="1478318"/>
            <a:ext cx="8699989"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000" dirty="0">
                <a:cs typeface="Arial"/>
              </a:rPr>
              <a:t>But they should be done at Integration level (or even perhaps, Unit test level)</a:t>
            </a:r>
            <a:endParaRPr lang="en-US" sz="3000" i="1" dirty="0">
              <a:cs typeface="Arial"/>
            </a:endParaRPr>
          </a:p>
        </p:txBody>
      </p:sp>
      <p:sp>
        <p:nvSpPr>
          <p:cNvPr id="6" name="TextBox 5">
            <a:extLst>
              <a:ext uri="{FF2B5EF4-FFF2-40B4-BE49-F238E27FC236}">
                <a16:creationId xmlns:a16="http://schemas.microsoft.com/office/drawing/2014/main" id="{BD0F55E9-EC02-D737-D70D-68DB15EA1D15}"/>
              </a:ext>
            </a:extLst>
          </p:cNvPr>
          <p:cNvSpPr txBox="1"/>
          <p:nvPr/>
        </p:nvSpPr>
        <p:spPr>
          <a:xfrm>
            <a:off x="525824" y="2494499"/>
            <a:ext cx="8699989"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000">
                <a:cs typeface="Arial"/>
              </a:rPr>
              <a:t>Integration/Components "in browser" testing is available </a:t>
            </a:r>
            <a:r>
              <a:rPr lang="en-US" sz="3000" dirty="0">
                <a:cs typeface="Arial"/>
              </a:rPr>
              <a:t>in </a:t>
            </a:r>
            <a:r>
              <a:rPr lang="en-US" sz="3000" dirty="0">
                <a:cs typeface="Arial"/>
                <a:hlinkClick r:id="rId3"/>
              </a:rPr>
              <a:t>Cypress</a:t>
            </a:r>
            <a:r>
              <a:rPr lang="en-US" sz="3000" dirty="0">
                <a:cs typeface="Arial"/>
              </a:rPr>
              <a:t>, </a:t>
            </a:r>
            <a:r>
              <a:rPr lang="en-US" sz="3000" dirty="0">
                <a:cs typeface="Arial"/>
                <a:hlinkClick r:id="rId4"/>
              </a:rPr>
              <a:t>Playwright</a:t>
            </a:r>
            <a:r>
              <a:rPr lang="en-US" sz="3000" dirty="0">
                <a:cs typeface="Arial"/>
              </a:rPr>
              <a:t>, </a:t>
            </a:r>
            <a:r>
              <a:rPr lang="en-US" sz="3000" dirty="0">
                <a:cs typeface="Arial"/>
                <a:hlinkClick r:id="rId5"/>
              </a:rPr>
              <a:t>Webdriver.io</a:t>
            </a:r>
            <a:r>
              <a:rPr lang="en-US" sz="3000" dirty="0">
                <a:cs typeface="Arial"/>
              </a:rPr>
              <a:t>, </a:t>
            </a:r>
            <a:r>
              <a:rPr lang="en-US" sz="3000" dirty="0">
                <a:cs typeface="Arial"/>
                <a:hlinkClick r:id="rId6"/>
              </a:rPr>
              <a:t>Nightwatch.js</a:t>
            </a:r>
            <a:r>
              <a:rPr lang="en-US" sz="3000" dirty="0">
                <a:cs typeface="Arial"/>
              </a:rPr>
              <a:t>, etc.</a:t>
            </a:r>
            <a:endParaRPr lang="en-US" sz="3000" i="1" dirty="0">
              <a:cs typeface="Arial"/>
            </a:endParaRPr>
          </a:p>
        </p:txBody>
      </p:sp>
      <p:sp>
        <p:nvSpPr>
          <p:cNvPr id="9" name="TextBox 8">
            <a:extLst>
              <a:ext uri="{FF2B5EF4-FFF2-40B4-BE49-F238E27FC236}">
                <a16:creationId xmlns:a16="http://schemas.microsoft.com/office/drawing/2014/main" id="{0D0F0D34-47AE-78CA-8783-9168299F39E7}"/>
              </a:ext>
            </a:extLst>
          </p:cNvPr>
          <p:cNvSpPr txBox="1"/>
          <p:nvPr/>
        </p:nvSpPr>
        <p:spPr>
          <a:xfrm>
            <a:off x="538606" y="3969214"/>
            <a:ext cx="8699989"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000">
                <a:cs typeface="Arial"/>
              </a:rPr>
              <a:t>… but your favorite Developers might prefer to stick to </a:t>
            </a:r>
            <a:r>
              <a:rPr lang="en-US" sz="3000" dirty="0">
                <a:cs typeface="Arial"/>
                <a:hlinkClick r:id="rId7"/>
              </a:rPr>
              <a:t>React Testing Library</a:t>
            </a:r>
            <a:r>
              <a:rPr lang="en-US" sz="3000">
                <a:cs typeface="Arial"/>
              </a:rPr>
              <a:t> (and </a:t>
            </a:r>
            <a:r>
              <a:rPr lang="en-US" sz="3000" dirty="0">
                <a:cs typeface="Arial"/>
                <a:hlinkClick r:id="rId8"/>
              </a:rPr>
              <a:t>jsdom</a:t>
            </a:r>
            <a:r>
              <a:rPr lang="en-US" sz="3000">
                <a:cs typeface="Arial"/>
              </a:rPr>
              <a:t>) – and that's </a:t>
            </a:r>
            <a:r>
              <a:rPr lang="en-US" sz="3000" i="1">
                <a:cs typeface="Arial"/>
              </a:rPr>
              <a:t>fine</a:t>
            </a:r>
            <a:endParaRPr lang="en-US"/>
          </a:p>
        </p:txBody>
      </p:sp>
      <p:sp>
        <p:nvSpPr>
          <p:cNvPr id="5" name="PlaceHolder 4">
            <a:extLst>
              <a:ext uri="{FF2B5EF4-FFF2-40B4-BE49-F238E27FC236}">
                <a16:creationId xmlns:a16="http://schemas.microsoft.com/office/drawing/2014/main" id="{4312BF01-AF7D-0147-10EA-C643B5D8695E}"/>
              </a:ext>
            </a:extLst>
          </p:cNvPr>
          <p:cNvSpPr>
            <a:spLocks noGrp="1"/>
          </p:cNvSpPr>
          <p:nvPr>
            <p:ph type="sldNum" idx="3"/>
          </p:nvPr>
        </p:nvSpPr>
        <p:spPr>
          <a:xfrm>
            <a:off x="7200000" y="5400000"/>
            <a:ext cx="2340000" cy="270000"/>
          </a:xfrm>
        </p:spPr>
        <p:txBody>
          <a:bodyPr/>
          <a:lstStyle/>
          <a:p>
            <a:fld id="{FA5931A3-EE72-4CE5-9978-6B328659D7F6}" type="slidenum">
              <a:rPr lang="en-US"/>
              <a:t>31</a:t>
            </a:fld>
            <a:endParaRPr lang="en-US"/>
          </a:p>
        </p:txBody>
      </p:sp>
    </p:spTree>
    <p:extLst>
      <p:ext uri="{BB962C8B-B14F-4D97-AF65-F5344CB8AC3E}">
        <p14:creationId xmlns:p14="http://schemas.microsoft.com/office/powerpoint/2010/main" val="2967391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P spid="6" grpId="0"/>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33BDD2-6520-9E10-87FC-E042F39AB73E}"/>
            </a:ext>
          </a:extLst>
        </p:cNvPr>
        <p:cNvGrpSpPr/>
        <p:nvPr/>
      </p:nvGrpSpPr>
      <p:grpSpPr>
        <a:xfrm>
          <a:off x="0" y="0"/>
          <a:ext cx="0" cy="0"/>
          <a:chOff x="0" y="0"/>
          <a:chExt cx="0" cy="0"/>
        </a:xfrm>
      </p:grpSpPr>
      <p:sp>
        <p:nvSpPr>
          <p:cNvPr id="29" name="PlaceHolder 1">
            <a:extLst>
              <a:ext uri="{FF2B5EF4-FFF2-40B4-BE49-F238E27FC236}">
                <a16:creationId xmlns:a16="http://schemas.microsoft.com/office/drawing/2014/main" id="{66F5A24F-40CB-4803-261C-1DA9F78B67D4}"/>
              </a:ext>
            </a:extLst>
          </p:cNvPr>
          <p:cNvSpPr>
            <a:spLocks noGrp="1"/>
          </p:cNvSpPr>
          <p:nvPr>
            <p:ph type="title"/>
          </p:nvPr>
        </p:nvSpPr>
        <p:spPr>
          <a:xfrm>
            <a:off x="540000" y="273401"/>
            <a:ext cx="8280000" cy="443198"/>
          </a:xfrm>
          <a:prstGeom prst="rect">
            <a:avLst/>
          </a:prstGeom>
          <a:noFill/>
          <a:ln w="0">
            <a:noFill/>
          </a:ln>
        </p:spPr>
        <p:txBody>
          <a:bodyPr lIns="0" tIns="0" rIns="0" bIns="0" anchor="ctr">
            <a:spAutoFit/>
          </a:bodyPr>
          <a:lstStyle/>
          <a:p>
            <a:pPr algn="ctr"/>
            <a:r>
              <a:rPr lang="en-CA" sz="3200" b="1" dirty="0">
                <a:solidFill>
                  <a:srgbClr val="FF8000"/>
                </a:solidFill>
                <a:latin typeface="Arial"/>
              </a:rPr>
              <a:t>Component Testing with Webdriver.io</a:t>
            </a:r>
            <a:endParaRPr lang="en-US" dirty="0"/>
          </a:p>
        </p:txBody>
      </p:sp>
      <p:pic>
        <p:nvPicPr>
          <p:cNvPr id="2" name="Content Placeholder 1" descr="A screen shot of a computer program&#10;&#10;AI-generated content may be incorrect.">
            <a:extLst>
              <a:ext uri="{FF2B5EF4-FFF2-40B4-BE49-F238E27FC236}">
                <a16:creationId xmlns:a16="http://schemas.microsoft.com/office/drawing/2014/main" id="{3A397C66-A463-5132-BBBC-E02B3FE6D0F9}"/>
              </a:ext>
            </a:extLst>
          </p:cNvPr>
          <p:cNvPicPr>
            <a:picLocks noGrp="1" noChangeAspect="1"/>
          </p:cNvPicPr>
          <p:nvPr>
            <p:ph/>
          </p:nvPr>
        </p:nvPicPr>
        <p:blipFill>
          <a:blip r:embed="rId3"/>
          <a:stretch>
            <a:fillRect/>
          </a:stretch>
        </p:blipFill>
        <p:spPr>
          <a:xfrm>
            <a:off x="1478730" y="751610"/>
            <a:ext cx="7119895" cy="4835429"/>
          </a:xfrm>
          <a:prstGeom prst="rect">
            <a:avLst/>
          </a:prstGeom>
          <a:noFill/>
          <a:ln w="0">
            <a:noFill/>
          </a:ln>
        </p:spPr>
      </p:pic>
      <p:sp>
        <p:nvSpPr>
          <p:cNvPr id="5" name="PlaceHolder 4">
            <a:extLst>
              <a:ext uri="{FF2B5EF4-FFF2-40B4-BE49-F238E27FC236}">
                <a16:creationId xmlns:a16="http://schemas.microsoft.com/office/drawing/2014/main" id="{49A9E23A-CDE5-9D9D-8DF4-29319B8CAF0A}"/>
              </a:ext>
            </a:extLst>
          </p:cNvPr>
          <p:cNvSpPr>
            <a:spLocks noGrp="1"/>
          </p:cNvSpPr>
          <p:nvPr>
            <p:ph type="sldNum" idx="3"/>
          </p:nvPr>
        </p:nvSpPr>
        <p:spPr/>
        <p:txBody>
          <a:bodyPr/>
          <a:lstStyle/>
          <a:p>
            <a:fld id="{FA5931A3-EE72-4CE5-9978-6B328659D7F6}" type="slidenum">
              <a:t>32</a:t>
            </a:fld>
            <a:endParaRPr/>
          </a:p>
        </p:txBody>
      </p:sp>
    </p:spTree>
    <p:extLst>
      <p:ext uri="{BB962C8B-B14F-4D97-AF65-F5344CB8AC3E}">
        <p14:creationId xmlns:p14="http://schemas.microsoft.com/office/powerpoint/2010/main" val="6348742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1564C-E3C6-6E16-A9CF-B0A0D59CCA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8EE5D9-3A3E-6BFF-BF02-CD5DC7A85DC0}"/>
              </a:ext>
            </a:extLst>
          </p:cNvPr>
          <p:cNvSpPr>
            <a:spLocks noGrp="1"/>
          </p:cNvSpPr>
          <p:nvPr>
            <p:ph type="title"/>
          </p:nvPr>
        </p:nvSpPr>
        <p:spPr>
          <a:xfrm>
            <a:off x="540000" y="273401"/>
            <a:ext cx="8280000" cy="443198"/>
          </a:xfrm>
        </p:spPr>
        <p:txBody>
          <a:bodyPr/>
          <a:lstStyle/>
          <a:p>
            <a:pPr algn="ctr"/>
            <a:r>
              <a:rPr lang="en-CA" sz="3200" b="1" dirty="0">
                <a:solidFill>
                  <a:srgbClr val="FF8000"/>
                </a:solidFill>
                <a:cs typeface="Arial"/>
              </a:rPr>
              <a:t>Which Tests Go Where?</a:t>
            </a:r>
          </a:p>
        </p:txBody>
      </p:sp>
      <p:sp>
        <p:nvSpPr>
          <p:cNvPr id="8" name="TextBox 7">
            <a:extLst>
              <a:ext uri="{FF2B5EF4-FFF2-40B4-BE49-F238E27FC236}">
                <a16:creationId xmlns:a16="http://schemas.microsoft.com/office/drawing/2014/main" id="{B157C68C-96C3-EA71-D6D6-9F320C3E8FFD}"/>
              </a:ext>
            </a:extLst>
          </p:cNvPr>
          <p:cNvSpPr txBox="1"/>
          <p:nvPr/>
        </p:nvSpPr>
        <p:spPr>
          <a:xfrm>
            <a:off x="538913" y="715792"/>
            <a:ext cx="8699989" cy="215443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cs typeface="Arial"/>
              </a:rPr>
              <a:t>Unit Tests</a:t>
            </a:r>
          </a:p>
          <a:p>
            <a:pPr marL="457200" indent="-457200">
              <a:buFont typeface="Arial"/>
              <a:buChar char="•"/>
            </a:pPr>
            <a:r>
              <a:rPr lang="en-US" sz="2600" dirty="0">
                <a:cs typeface="Arial"/>
              </a:rPr>
              <a:t>Conversion of date fields (if any) from UI to API (request) and vice-versa in API response</a:t>
            </a:r>
          </a:p>
          <a:p>
            <a:pPr marL="457200" indent="-457200">
              <a:buFont typeface="Arial"/>
              <a:buChar char="•"/>
            </a:pPr>
            <a:r>
              <a:rPr lang="en-US" sz="2600" dirty="0">
                <a:cs typeface="Arial"/>
              </a:rPr>
              <a:t>Conversion/formatting - colors for negative/positive, changing a Boolean or a value to an icon, etc.</a:t>
            </a:r>
          </a:p>
        </p:txBody>
      </p:sp>
      <p:sp>
        <p:nvSpPr>
          <p:cNvPr id="5" name="TextBox 4">
            <a:extLst>
              <a:ext uri="{FF2B5EF4-FFF2-40B4-BE49-F238E27FC236}">
                <a16:creationId xmlns:a16="http://schemas.microsoft.com/office/drawing/2014/main" id="{D31C34A0-4975-AB66-DCBF-F173E8325968}"/>
              </a:ext>
            </a:extLst>
          </p:cNvPr>
          <p:cNvSpPr txBox="1"/>
          <p:nvPr/>
        </p:nvSpPr>
        <p:spPr>
          <a:xfrm>
            <a:off x="538816" y="2868896"/>
            <a:ext cx="8699989"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dirty="0">
                <a:cs typeface="Arial"/>
              </a:rPr>
              <a:t>Integration Tests</a:t>
            </a:r>
          </a:p>
          <a:p>
            <a:pPr marL="457200" indent="-457200">
              <a:buFont typeface="Arial"/>
              <a:buChar char="•"/>
            </a:pPr>
            <a:r>
              <a:rPr lang="en-US" sz="2600" dirty="0">
                <a:cs typeface="Arial"/>
              </a:rPr>
              <a:t>Sorting by API</a:t>
            </a:r>
            <a:endParaRPr lang="en-US" dirty="0">
              <a:cs typeface="Arial"/>
            </a:endParaRPr>
          </a:p>
          <a:p>
            <a:pPr marL="457200" indent="-457200">
              <a:buFont typeface="Arial"/>
              <a:buChar char="•"/>
            </a:pPr>
            <a:r>
              <a:rPr lang="en-US" sz="2600">
                <a:cs typeface="Arial"/>
              </a:rPr>
              <a:t>Request parameters validation (positive and negative)</a:t>
            </a:r>
            <a:endParaRPr lang="en-US" sz="2600" dirty="0">
              <a:cs typeface="Arial"/>
            </a:endParaRPr>
          </a:p>
          <a:p>
            <a:pPr marL="457200" indent="-457200">
              <a:buFont typeface="Arial"/>
              <a:buChar char="•"/>
            </a:pPr>
            <a:r>
              <a:rPr lang="en-US" sz="2600">
                <a:cs typeface="Arial"/>
              </a:rPr>
              <a:t>Mapping JSON response fields to proper columns</a:t>
            </a:r>
            <a:endParaRPr lang="en-US" sz="2600" dirty="0">
              <a:cs typeface="Arial"/>
            </a:endParaRPr>
          </a:p>
          <a:p>
            <a:pPr marL="457200" indent="-457200">
              <a:buFont typeface="Arial"/>
              <a:buChar char="•"/>
            </a:pPr>
            <a:r>
              <a:rPr lang="en-US" sz="2600">
                <a:cs typeface="Arial"/>
              </a:rPr>
              <a:t>UI updates following actions (send the right API call, add sorting indicators, etc.)</a:t>
            </a:r>
            <a:endParaRPr lang="en-US" sz="2600" dirty="0">
              <a:cs typeface="Arial"/>
            </a:endParaRPr>
          </a:p>
        </p:txBody>
      </p:sp>
      <p:sp>
        <p:nvSpPr>
          <p:cNvPr id="4" name="PlaceHolder 4">
            <a:extLst>
              <a:ext uri="{FF2B5EF4-FFF2-40B4-BE49-F238E27FC236}">
                <a16:creationId xmlns:a16="http://schemas.microsoft.com/office/drawing/2014/main" id="{059AC5BA-C336-3432-8DC9-662E615D5F3F}"/>
              </a:ext>
            </a:extLst>
          </p:cNvPr>
          <p:cNvSpPr>
            <a:spLocks noGrp="1"/>
          </p:cNvSpPr>
          <p:nvPr>
            <p:ph type="sldNum" idx="3"/>
          </p:nvPr>
        </p:nvSpPr>
        <p:spPr>
          <a:xfrm>
            <a:off x="7200000" y="5400000"/>
            <a:ext cx="2340000" cy="270000"/>
          </a:xfrm>
        </p:spPr>
        <p:txBody>
          <a:bodyPr/>
          <a:lstStyle/>
          <a:p>
            <a:fld id="{FA5931A3-EE72-4CE5-9978-6B328659D7F6}" type="slidenum">
              <a:rPr lang="en-US"/>
              <a:t>33</a:t>
            </a:fld>
            <a:endParaRPr lang="en-US"/>
          </a:p>
        </p:txBody>
      </p:sp>
    </p:spTree>
    <p:extLst>
      <p:ext uri="{BB962C8B-B14F-4D97-AF65-F5344CB8AC3E}">
        <p14:creationId xmlns:p14="http://schemas.microsoft.com/office/powerpoint/2010/main" val="2041078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22E364-42FC-3535-765E-2E045B805B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C8A5D9-799B-4D71-21A0-09225A473EF7}"/>
              </a:ext>
            </a:extLst>
          </p:cNvPr>
          <p:cNvSpPr>
            <a:spLocks noGrp="1"/>
          </p:cNvSpPr>
          <p:nvPr>
            <p:ph type="title"/>
          </p:nvPr>
        </p:nvSpPr>
        <p:spPr>
          <a:xfrm>
            <a:off x="540000" y="273401"/>
            <a:ext cx="8280000" cy="443198"/>
          </a:xfrm>
        </p:spPr>
        <p:txBody>
          <a:bodyPr/>
          <a:lstStyle/>
          <a:p>
            <a:pPr algn="ctr"/>
            <a:r>
              <a:rPr lang="en-CA" sz="3200" b="1" dirty="0">
                <a:solidFill>
                  <a:srgbClr val="FF8000"/>
                </a:solidFill>
                <a:cs typeface="Arial"/>
              </a:rPr>
              <a:t>End to End tests</a:t>
            </a:r>
            <a:endParaRPr lang="en-US" dirty="0"/>
          </a:p>
        </p:txBody>
      </p:sp>
      <p:sp>
        <p:nvSpPr>
          <p:cNvPr id="8" name="TextBox 7">
            <a:extLst>
              <a:ext uri="{FF2B5EF4-FFF2-40B4-BE49-F238E27FC236}">
                <a16:creationId xmlns:a16="http://schemas.microsoft.com/office/drawing/2014/main" id="{84FFA37A-E267-59CC-5282-5205C3C989C0}"/>
              </a:ext>
            </a:extLst>
          </p:cNvPr>
          <p:cNvSpPr txBox="1"/>
          <p:nvPr/>
        </p:nvSpPr>
        <p:spPr>
          <a:xfrm>
            <a:off x="543534" y="1538252"/>
            <a:ext cx="8699989" cy="5539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b="1">
                <a:cs typeface="Arial"/>
              </a:rPr>
              <a:t>Uh... what is left? Did we miss anything?</a:t>
            </a:r>
          </a:p>
        </p:txBody>
      </p:sp>
      <p:sp>
        <p:nvSpPr>
          <p:cNvPr id="4" name="TextBox 3">
            <a:extLst>
              <a:ext uri="{FF2B5EF4-FFF2-40B4-BE49-F238E27FC236}">
                <a16:creationId xmlns:a16="http://schemas.microsoft.com/office/drawing/2014/main" id="{C719EC88-1890-AE04-27FF-7BEB99511EB7}"/>
              </a:ext>
            </a:extLst>
          </p:cNvPr>
          <p:cNvSpPr txBox="1"/>
          <p:nvPr/>
        </p:nvSpPr>
        <p:spPr>
          <a:xfrm>
            <a:off x="541778" y="2483125"/>
            <a:ext cx="8699989"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dirty="0">
                <a:cs typeface="Arial"/>
              </a:rPr>
              <a:t>Still need some basic End to End tests to make sure everything is "connected" properly.</a:t>
            </a:r>
          </a:p>
          <a:p>
            <a:endParaRPr lang="en-US" sz="3000" dirty="0">
              <a:cs typeface="Arial"/>
            </a:endParaRPr>
          </a:p>
          <a:p>
            <a:r>
              <a:rPr lang="en-US" sz="3000" dirty="0">
                <a:cs typeface="Arial"/>
              </a:rPr>
              <a:t>If the Front End is calling the wrong Back End, this won't be found in unit/integration tests using mocks!</a:t>
            </a:r>
          </a:p>
        </p:txBody>
      </p:sp>
      <p:sp>
        <p:nvSpPr>
          <p:cNvPr id="5" name="PlaceHolder 4">
            <a:extLst>
              <a:ext uri="{FF2B5EF4-FFF2-40B4-BE49-F238E27FC236}">
                <a16:creationId xmlns:a16="http://schemas.microsoft.com/office/drawing/2014/main" id="{DFD76E62-2A7B-D616-B723-4E6AF8955D23}"/>
              </a:ext>
            </a:extLst>
          </p:cNvPr>
          <p:cNvSpPr>
            <a:spLocks noGrp="1"/>
          </p:cNvSpPr>
          <p:nvPr>
            <p:ph type="sldNum" idx="3"/>
          </p:nvPr>
        </p:nvSpPr>
        <p:spPr>
          <a:xfrm>
            <a:off x="7200000" y="5400000"/>
            <a:ext cx="2340000" cy="270000"/>
          </a:xfrm>
        </p:spPr>
        <p:txBody>
          <a:bodyPr/>
          <a:lstStyle/>
          <a:p>
            <a:fld id="{FA5931A3-EE72-4CE5-9978-6B328659D7F6}" type="slidenum">
              <a:rPr lang="en-US"/>
              <a:t>34</a:t>
            </a:fld>
            <a:endParaRPr lang="en-US"/>
          </a:p>
        </p:txBody>
      </p:sp>
    </p:spTree>
    <p:extLst>
      <p:ext uri="{BB962C8B-B14F-4D97-AF65-F5344CB8AC3E}">
        <p14:creationId xmlns:p14="http://schemas.microsoft.com/office/powerpoint/2010/main" val="1782284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85B8A-BCFE-2FA0-F253-7A43C16B5F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786DC6-0776-D21D-C2B2-1EC4A1BA2C76}"/>
              </a:ext>
            </a:extLst>
          </p:cNvPr>
          <p:cNvSpPr>
            <a:spLocks noGrp="1"/>
          </p:cNvSpPr>
          <p:nvPr>
            <p:ph type="title"/>
          </p:nvPr>
        </p:nvSpPr>
        <p:spPr>
          <a:xfrm>
            <a:off x="540000" y="273401"/>
            <a:ext cx="8280000" cy="443198"/>
          </a:xfrm>
        </p:spPr>
        <p:txBody>
          <a:bodyPr/>
          <a:lstStyle/>
          <a:p>
            <a:pPr algn="ctr"/>
            <a:r>
              <a:rPr lang="en-CA" sz="3200" b="1" dirty="0">
                <a:solidFill>
                  <a:srgbClr val="FF8000"/>
                </a:solidFill>
                <a:cs typeface="Arial"/>
              </a:rPr>
              <a:t>Summary</a:t>
            </a:r>
            <a:endParaRPr lang="en-US" dirty="0"/>
          </a:p>
        </p:txBody>
      </p:sp>
      <p:sp>
        <p:nvSpPr>
          <p:cNvPr id="8" name="TextBox 7">
            <a:extLst>
              <a:ext uri="{FF2B5EF4-FFF2-40B4-BE49-F238E27FC236}">
                <a16:creationId xmlns:a16="http://schemas.microsoft.com/office/drawing/2014/main" id="{480A1CB6-3B97-E8AF-C045-046C0A05382D}"/>
              </a:ext>
            </a:extLst>
          </p:cNvPr>
          <p:cNvSpPr txBox="1"/>
          <p:nvPr/>
        </p:nvSpPr>
        <p:spPr>
          <a:xfrm>
            <a:off x="329959" y="885272"/>
            <a:ext cx="8699989"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2800" dirty="0">
                <a:cs typeface="Arial"/>
              </a:rPr>
              <a:t>"End to End" testing is attractive because "it's what the customer will do" - but it's not efficient in terms of how and when it's done</a:t>
            </a:r>
          </a:p>
        </p:txBody>
      </p:sp>
      <p:sp>
        <p:nvSpPr>
          <p:cNvPr id="4" name="TextBox 3">
            <a:extLst>
              <a:ext uri="{FF2B5EF4-FFF2-40B4-BE49-F238E27FC236}">
                <a16:creationId xmlns:a16="http://schemas.microsoft.com/office/drawing/2014/main" id="{3602C850-2795-BE44-DF3E-7FEA1B27FB21}"/>
              </a:ext>
            </a:extLst>
          </p:cNvPr>
          <p:cNvSpPr txBox="1"/>
          <p:nvPr/>
        </p:nvSpPr>
        <p:spPr>
          <a:xfrm>
            <a:off x="332310" y="2269572"/>
            <a:ext cx="8699989"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2800" dirty="0">
                <a:cs typeface="Arial"/>
              </a:rPr>
              <a:t>So test as early as possible, using the right types of tests – remember the Test Pyramid!</a:t>
            </a:r>
          </a:p>
        </p:txBody>
      </p:sp>
      <p:sp>
        <p:nvSpPr>
          <p:cNvPr id="5" name="PlaceHolder 4">
            <a:extLst>
              <a:ext uri="{FF2B5EF4-FFF2-40B4-BE49-F238E27FC236}">
                <a16:creationId xmlns:a16="http://schemas.microsoft.com/office/drawing/2014/main" id="{B47F82BE-133F-C502-097B-783880C0FFC0}"/>
              </a:ext>
            </a:extLst>
          </p:cNvPr>
          <p:cNvSpPr>
            <a:spLocks noGrp="1"/>
          </p:cNvSpPr>
          <p:nvPr>
            <p:ph type="sldNum" idx="3"/>
          </p:nvPr>
        </p:nvSpPr>
        <p:spPr>
          <a:xfrm>
            <a:off x="7200000" y="5400000"/>
            <a:ext cx="2340000" cy="270000"/>
          </a:xfrm>
        </p:spPr>
        <p:txBody>
          <a:bodyPr/>
          <a:lstStyle/>
          <a:p>
            <a:fld id="{FA5931A3-EE72-4CE5-9978-6B328659D7F6}" type="slidenum">
              <a:rPr lang="en-US"/>
              <a:t>35</a:t>
            </a:fld>
            <a:endParaRPr lang="en-US"/>
          </a:p>
        </p:txBody>
      </p:sp>
      <p:sp>
        <p:nvSpPr>
          <p:cNvPr id="9" name="TextBox 8">
            <a:extLst>
              <a:ext uri="{FF2B5EF4-FFF2-40B4-BE49-F238E27FC236}">
                <a16:creationId xmlns:a16="http://schemas.microsoft.com/office/drawing/2014/main" id="{7C6634B4-E693-6E5E-F03A-E1F126C69990}"/>
              </a:ext>
            </a:extLst>
          </p:cNvPr>
          <p:cNvSpPr txBox="1"/>
          <p:nvPr/>
        </p:nvSpPr>
        <p:spPr>
          <a:xfrm>
            <a:off x="332743" y="3226904"/>
            <a:ext cx="8699989"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2800" dirty="0">
                <a:cs typeface="Arial"/>
              </a:rPr>
              <a:t>Doesn't matter who tests (Devs or QAs) – but please collaborate. Tear down the invisible wall!</a:t>
            </a:r>
          </a:p>
        </p:txBody>
      </p:sp>
      <p:sp>
        <p:nvSpPr>
          <p:cNvPr id="11" name="TextBox 10">
            <a:extLst>
              <a:ext uri="{FF2B5EF4-FFF2-40B4-BE49-F238E27FC236}">
                <a16:creationId xmlns:a16="http://schemas.microsoft.com/office/drawing/2014/main" id="{F4179F59-4B2B-F067-86C0-CD9A605FBAFE}"/>
              </a:ext>
            </a:extLst>
          </p:cNvPr>
          <p:cNvSpPr txBox="1"/>
          <p:nvPr/>
        </p:nvSpPr>
        <p:spPr>
          <a:xfrm>
            <a:off x="329069" y="4184235"/>
            <a:ext cx="8699989"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2800" dirty="0">
                <a:cs typeface="Arial"/>
              </a:rPr>
              <a:t>AI can help. But it doesn't know the product architecture... </a:t>
            </a:r>
            <a:r>
              <a:rPr lang="en-US" sz="2800" b="1" dirty="0">
                <a:cs typeface="Arial"/>
              </a:rPr>
              <a:t>You</a:t>
            </a:r>
            <a:r>
              <a:rPr lang="en-US" sz="2800" dirty="0">
                <a:cs typeface="Arial"/>
              </a:rPr>
              <a:t> must fill that gap!</a:t>
            </a:r>
          </a:p>
        </p:txBody>
      </p:sp>
    </p:spTree>
    <p:extLst>
      <p:ext uri="{BB962C8B-B14F-4D97-AF65-F5344CB8AC3E}">
        <p14:creationId xmlns:p14="http://schemas.microsoft.com/office/powerpoint/2010/main" val="1444525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4" grpId="0"/>
      <p:bldP spid="9" grpId="0"/>
      <p:bldP spid="1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C1304-5E21-AF77-DF15-5E1CF285CD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321BB0-E346-A921-6E5A-EF2E6783B171}"/>
              </a:ext>
            </a:extLst>
          </p:cNvPr>
          <p:cNvSpPr>
            <a:spLocks noGrp="1"/>
          </p:cNvSpPr>
          <p:nvPr>
            <p:ph type="title"/>
          </p:nvPr>
        </p:nvSpPr>
        <p:spPr>
          <a:xfrm>
            <a:off x="540000" y="273401"/>
            <a:ext cx="8280000" cy="443198"/>
          </a:xfrm>
        </p:spPr>
        <p:txBody>
          <a:bodyPr/>
          <a:lstStyle/>
          <a:p>
            <a:pPr algn="ctr"/>
            <a:r>
              <a:rPr lang="en-CA" sz="3200" b="1" dirty="0">
                <a:solidFill>
                  <a:srgbClr val="FF8000"/>
                </a:solidFill>
                <a:cs typeface="Arial"/>
              </a:rPr>
              <a:t>Thank you!</a:t>
            </a:r>
            <a:endParaRPr lang="en-US" dirty="0"/>
          </a:p>
        </p:txBody>
      </p:sp>
      <p:sp>
        <p:nvSpPr>
          <p:cNvPr id="4" name="TextBox 3">
            <a:extLst>
              <a:ext uri="{FF2B5EF4-FFF2-40B4-BE49-F238E27FC236}">
                <a16:creationId xmlns:a16="http://schemas.microsoft.com/office/drawing/2014/main" id="{7F352890-DB8E-0A32-7E88-B102556B2604}"/>
              </a:ext>
            </a:extLst>
          </p:cNvPr>
          <p:cNvSpPr txBox="1"/>
          <p:nvPr/>
        </p:nvSpPr>
        <p:spPr>
          <a:xfrm>
            <a:off x="690051" y="960882"/>
            <a:ext cx="8699989" cy="432426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000" dirty="0">
                <a:cs typeface="Arial"/>
              </a:rPr>
              <a:t>Questions or want to discuss about QA or any testing related topic? Reach out!</a:t>
            </a:r>
          </a:p>
          <a:p>
            <a:endParaRPr lang="en-US" sz="3000" dirty="0">
              <a:cs typeface="Arial"/>
            </a:endParaRPr>
          </a:p>
          <a:p>
            <a:pPr marL="457200" indent="-457200">
              <a:spcAft>
                <a:spcPts val="200"/>
              </a:spcAft>
              <a:buFont typeface="Arial"/>
              <a:buChar char="•"/>
            </a:pPr>
            <a:r>
              <a:rPr lang="en-US" sz="3000" dirty="0">
                <a:cs typeface="Arial"/>
                <a:hlinkClick r:id="rId3"/>
              </a:rPr>
              <a:t>ian@qaclique.com</a:t>
            </a:r>
            <a:endParaRPr lang="en-US" sz="3000" dirty="0">
              <a:cs typeface="Arial"/>
            </a:endParaRPr>
          </a:p>
          <a:p>
            <a:pPr marL="457200" indent="-457200">
              <a:spcAft>
                <a:spcPts val="200"/>
              </a:spcAft>
              <a:buFont typeface="Arial"/>
              <a:buChar char="•"/>
            </a:pPr>
            <a:r>
              <a:rPr lang="en-US" sz="3000" dirty="0">
                <a:cs typeface="Arial"/>
                <a:hlinkClick r:id="rId4"/>
              </a:rPr>
              <a:t>www.qaclique.com</a:t>
            </a:r>
            <a:endParaRPr lang="en-US" sz="3000" dirty="0">
              <a:cs typeface="Arial"/>
            </a:endParaRPr>
          </a:p>
          <a:p>
            <a:pPr marL="457200" indent="-457200">
              <a:spcAft>
                <a:spcPts val="200"/>
              </a:spcAft>
              <a:buFont typeface="Arial"/>
              <a:buChar char="•"/>
            </a:pPr>
            <a:r>
              <a:rPr lang="en-US" sz="3000" dirty="0">
                <a:cs typeface="Arial"/>
                <a:hlinkClick r:id="rId5"/>
              </a:rPr>
              <a:t>QA Clique on LinkedIn</a:t>
            </a:r>
            <a:r>
              <a:rPr lang="en-US" sz="3000" dirty="0">
                <a:cs typeface="Arial"/>
              </a:rPr>
              <a:t> – </a:t>
            </a:r>
            <a:r>
              <a:rPr lang="en-US" sz="3000" dirty="0">
                <a:cs typeface="Arial"/>
                <a:hlinkClick r:id="rId6"/>
              </a:rPr>
              <a:t>Ian's LinkedIn page</a:t>
            </a:r>
          </a:p>
          <a:p>
            <a:pPr marL="457200" indent="-457200">
              <a:buFont typeface="Arial"/>
              <a:buChar char="•"/>
            </a:pPr>
            <a:endParaRPr lang="en-US" sz="3000" dirty="0">
              <a:cs typeface="Arial"/>
            </a:endParaRPr>
          </a:p>
          <a:p>
            <a:pPr marL="457200" indent="-457200">
              <a:buFont typeface="Arial"/>
              <a:buChar char="•"/>
            </a:pPr>
            <a:r>
              <a:rPr lang="en-US" sz="3000" dirty="0">
                <a:cs typeface="Arial"/>
              </a:rPr>
              <a:t>All code used in this presentation is on GitHub: </a:t>
            </a:r>
            <a:r>
              <a:rPr lang="en-US" sz="3000" dirty="0">
                <a:ea typeface="+mn-lt"/>
                <a:cs typeface="+mn-lt"/>
                <a:hlinkClick r:id="rId7"/>
              </a:rPr>
              <a:t>https://github.com/QAClique</a:t>
            </a:r>
          </a:p>
        </p:txBody>
      </p:sp>
      <p:sp>
        <p:nvSpPr>
          <p:cNvPr id="5" name="PlaceHolder 4">
            <a:extLst>
              <a:ext uri="{FF2B5EF4-FFF2-40B4-BE49-F238E27FC236}">
                <a16:creationId xmlns:a16="http://schemas.microsoft.com/office/drawing/2014/main" id="{30C3BCBC-BC78-D01B-6BAB-53DA35FB8F8E}"/>
              </a:ext>
            </a:extLst>
          </p:cNvPr>
          <p:cNvSpPr>
            <a:spLocks noGrp="1"/>
          </p:cNvSpPr>
          <p:nvPr>
            <p:ph type="sldNum" idx="3"/>
          </p:nvPr>
        </p:nvSpPr>
        <p:spPr>
          <a:xfrm>
            <a:off x="7200000" y="5400000"/>
            <a:ext cx="2340000" cy="270000"/>
          </a:xfrm>
        </p:spPr>
        <p:txBody>
          <a:bodyPr/>
          <a:lstStyle/>
          <a:p>
            <a:fld id="{FA5931A3-EE72-4CE5-9978-6B328659D7F6}" type="slidenum">
              <a:rPr lang="en-US"/>
              <a:t>36</a:t>
            </a:fld>
            <a:endParaRPr lang="en-US"/>
          </a:p>
        </p:txBody>
      </p:sp>
    </p:spTree>
    <p:extLst>
      <p:ext uri="{BB962C8B-B14F-4D97-AF65-F5344CB8AC3E}">
        <p14:creationId xmlns:p14="http://schemas.microsoft.com/office/powerpoint/2010/main" val="2487878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3.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Custom</PresentationFormat>
  <Slides>36</Slides>
  <Notes>34</Notes>
  <HiddenSlides>0</HiddenSlides>
  <ScaleCrop>false</ScaleCrop>
  <HeadingPairs>
    <vt:vector size="4" baseType="variant">
      <vt:variant>
        <vt:lpstr>Theme</vt:lpstr>
      </vt:variant>
      <vt:variant>
        <vt:i4>2</vt:i4>
      </vt:variant>
      <vt:variant>
        <vt:lpstr>Slide Titles</vt:lpstr>
      </vt:variant>
      <vt:variant>
        <vt:i4>36</vt:i4>
      </vt:variant>
    </vt:vector>
  </HeadingPairs>
  <TitlesOfParts>
    <vt:vector size="38" baseType="lpstr">
      <vt:lpstr>Office</vt:lpstr>
      <vt:lpstr>Office</vt:lpstr>
      <vt:lpstr>Dr. StrangeTestingProcess</vt:lpstr>
      <vt:lpstr>Who am I?</vt:lpstr>
      <vt:lpstr>Tables... Why did it have to be tables?</vt:lpstr>
      <vt:lpstr>Test Pyramid Overview</vt:lpstr>
      <vt:lpstr>Setup Browser Dev Tools</vt:lpstr>
      <vt:lpstr>The Magic is done through API Calls...</vt:lpstr>
      <vt:lpstr>The API Request Payload</vt:lpstr>
      <vt:lpstr>The API Response</vt:lpstr>
      <vt:lpstr>Let's do an action! Sorting columns</vt:lpstr>
      <vt:lpstr>But what if the sorting was done in the UI?</vt:lpstr>
      <vt:lpstr>Sorting by Front End</vt:lpstr>
      <vt:lpstr>Let's start API tests, then!</vt:lpstr>
      <vt:lpstr>Number of rows and fields returned</vt:lpstr>
      <vt:lpstr>Fields returned</vt:lpstr>
      <vt:lpstr>Remember to validate the UI request!</vt:lpstr>
      <vt:lpstr>Sorting test</vt:lpstr>
      <vt:lpstr>Ok, that's enough API tests, right?</vt:lpstr>
      <vt:lpstr>Missing Parameter in Request</vt:lpstr>
      <vt:lpstr>Go APIs! But we still need to test UI, right?</vt:lpstr>
      <vt:lpstr>Wait, capturing APIs?</vt:lpstr>
      <vt:lpstr>Front End test – Sorting (by API)</vt:lpstr>
      <vt:lpstr>Front End test – Test Result</vt:lpstr>
      <vt:lpstr>Sorting by Front End test</vt:lpstr>
      <vt:lpstr>Other "UI" Tests</vt:lpstr>
      <vt:lpstr>Ok, other "Front End" Tests, then...</vt:lpstr>
      <vt:lpstr>Mapping tests</vt:lpstr>
      <vt:lpstr>Number of Rows tests</vt:lpstr>
      <vt:lpstr>Formatting tests</vt:lpstr>
      <vt:lpstr>"UI", "Front End" or "End to End" tests?</vt:lpstr>
      <vt:lpstr>Mocking API calls</vt:lpstr>
      <vt:lpstr>Let's go back to the Test Pyramid</vt:lpstr>
      <vt:lpstr>Component Testing with Webdriver.io</vt:lpstr>
      <vt:lpstr>Which Tests Go Where?</vt:lpstr>
      <vt:lpstr>End to End tests</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Pencil</dc:title>
  <dc:subject/>
  <dc:creator/>
  <dc:description>This work is licensed under a Creative Commons 0 License.
It makes use of the works of kka_libo_design@ashisuto.co.jp.</dc:description>
  <cp:revision>1816</cp:revision>
  <dcterms:created xsi:type="dcterms:W3CDTF">2025-08-31T14:31:30Z</dcterms:created>
  <dcterms:modified xsi:type="dcterms:W3CDTF">2025-09-21T18:22:39Z</dcterms:modified>
  <dc:language>en-CA</dc:language>
</cp:coreProperties>
</file>